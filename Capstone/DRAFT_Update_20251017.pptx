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ti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6" r:id="rId5"/>
  </p:sldMasterIdLst>
  <p:notesMasterIdLst>
    <p:notesMasterId r:id="rId22"/>
  </p:notesMasterIdLst>
  <p:handoutMasterIdLst>
    <p:handoutMasterId r:id="rId23"/>
  </p:handoutMasterIdLst>
  <p:sldIdLst>
    <p:sldId id="277" r:id="rId6"/>
    <p:sldId id="6935" r:id="rId7"/>
    <p:sldId id="6936" r:id="rId8"/>
    <p:sldId id="6937" r:id="rId9"/>
    <p:sldId id="6945" r:id="rId10"/>
    <p:sldId id="6954" r:id="rId11"/>
    <p:sldId id="6952" r:id="rId12"/>
    <p:sldId id="6950" r:id="rId13"/>
    <p:sldId id="6946" r:id="rId14"/>
    <p:sldId id="6947" r:id="rId15"/>
    <p:sldId id="6951" r:id="rId16"/>
    <p:sldId id="6953" r:id="rId17"/>
    <p:sldId id="6955" r:id="rId18"/>
    <p:sldId id="6956" r:id="rId19"/>
    <p:sldId id="301" r:id="rId20"/>
    <p:sldId id="694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A3FA"/>
    <a:srgbClr val="FFCD05"/>
    <a:srgbClr val="E917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autoAdjust="0"/>
  </p:normalViewPr>
  <p:slideViewPr>
    <p:cSldViewPr snapToGrid="0">
      <p:cViewPr varScale="1">
        <p:scale>
          <a:sx n="149" d="100"/>
          <a:sy n="149" d="100"/>
        </p:scale>
        <p:origin x="100" y="35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852"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64C9B9-6305-3BDC-76B1-A05B4725F1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390923C-2E96-CAB2-4184-35EB02E861E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D7ED47-154E-4126-9886-7D70BBAF520F}" type="datetimeFigureOut">
              <a:rPr lang="en-US" smtClean="0"/>
              <a:t>10/16/2025</a:t>
            </a:fld>
            <a:endParaRPr lang="en-US"/>
          </a:p>
        </p:txBody>
      </p:sp>
      <p:sp>
        <p:nvSpPr>
          <p:cNvPr id="4" name="Footer Placeholder 3">
            <a:extLst>
              <a:ext uri="{FF2B5EF4-FFF2-40B4-BE49-F238E27FC236}">
                <a16:creationId xmlns:a16="http://schemas.microsoft.com/office/drawing/2014/main" id="{9B53B0DD-2F82-7C8B-B132-F29F5EE81F8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EC04DEB-8334-5B8B-B834-6237CB36C8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4E9D1E-F66B-44B2-AC4C-1BCBC2D3FBBF}" type="slidenum">
              <a:rPr lang="en-US" smtClean="0"/>
              <a:t>‹#›</a:t>
            </a:fld>
            <a:endParaRPr lang="en-US"/>
          </a:p>
        </p:txBody>
      </p:sp>
    </p:spTree>
    <p:extLst>
      <p:ext uri="{BB962C8B-B14F-4D97-AF65-F5344CB8AC3E}">
        <p14:creationId xmlns:p14="http://schemas.microsoft.com/office/powerpoint/2010/main" val="3702198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E9DA03-85A1-4BE6-BDAF-42297BB8E9CE}" type="datetimeFigureOut">
              <a:rPr lang="en-US" smtClean="0"/>
              <a:t>10/16/2025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8ACEF6-E6F4-4C88-A908-4F21089E5C33}" type="slidenum">
              <a:rPr lang="en-US" smtClean="0"/>
              <a:t>‹#›</a:t>
            </a:fld>
            <a:endParaRPr lang="en-US"/>
          </a:p>
        </p:txBody>
      </p:sp>
    </p:spTree>
    <p:extLst>
      <p:ext uri="{BB962C8B-B14F-4D97-AF65-F5344CB8AC3E}">
        <p14:creationId xmlns:p14="http://schemas.microsoft.com/office/powerpoint/2010/main" val="3540241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gradFill rotWithShape="1">
          <a:gsLst>
            <a:gs pos="0">
              <a:schemeClr val="bg1">
                <a:tint val="93000"/>
                <a:satMod val="150000"/>
                <a:shade val="98000"/>
                <a:lumMod val="102000"/>
                <a:alpha val="0"/>
              </a:schemeClr>
            </a:gs>
            <a:gs pos="3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pic>
        <p:nvPicPr>
          <p:cNvPr id="6" name="Picture 5" descr="A close up of a keyboard&#10;&#10;Description automatically generated with medium confidence">
            <a:extLst>
              <a:ext uri="{FF2B5EF4-FFF2-40B4-BE49-F238E27FC236}">
                <a16:creationId xmlns:a16="http://schemas.microsoft.com/office/drawing/2014/main" id="{E0DEDC28-A92A-E2BD-A0EE-E799F51FB46A}"/>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sharpenSoften amount="33000"/>
                    </a14:imgEffect>
                    <a14:imgEffect>
                      <a14:brightnessContrast bright="33000" contrast="-3000"/>
                    </a14:imgEffect>
                  </a14:imgLayer>
                </a14:imgProps>
              </a:ext>
              <a:ext uri="{28A0092B-C50C-407E-A947-70E740481C1C}">
                <a14:useLocalDpi xmlns:a14="http://schemas.microsoft.com/office/drawing/2010/main"/>
              </a:ext>
            </a:extLst>
          </a:blip>
          <a:stretch>
            <a:fillRect/>
          </a:stretch>
        </p:blipFill>
        <p:spPr>
          <a:xfrm>
            <a:off x="0" y="1"/>
            <a:ext cx="12192000" cy="6887552"/>
          </a:xfrm>
          <a:prstGeom prst="rect">
            <a:avLst/>
          </a:prstGeom>
          <a:effectLst>
            <a:outerShdw dir="5400000" sx="1000" sy="1000" algn="ctr" rotWithShape="0">
              <a:srgbClr val="000000"/>
            </a:outerShdw>
          </a:effectLst>
        </p:spPr>
      </p:pic>
      <p:pic>
        <p:nvPicPr>
          <p:cNvPr id="5" name="Picture 4">
            <a:extLst>
              <a:ext uri="{FF2B5EF4-FFF2-40B4-BE49-F238E27FC236}">
                <a16:creationId xmlns:a16="http://schemas.microsoft.com/office/drawing/2014/main" id="{9B9AE7DA-79D8-F0CD-B2E9-097F12967E9F}"/>
              </a:ext>
              <a:ext uri="{C183D7F6-B498-43B3-948B-1728B52AA6E4}">
                <adec:decorative xmlns:adec="http://schemas.microsoft.com/office/drawing/2017/decorative" val="1"/>
              </a:ext>
            </a:extLst>
          </p:cNvPr>
          <p:cNvPicPr>
            <a:picLocks noChangeAspect="1"/>
          </p:cNvPicPr>
          <p:nvPr userDrawn="1"/>
        </p:nvPicPr>
        <p:blipFill>
          <a:blip r:embed="rId4" cstate="screen">
            <a:alphaModFix/>
            <a:extLst>
              <a:ext uri="{28A0092B-C50C-407E-A947-70E740481C1C}">
                <a14:useLocalDpi xmlns:a14="http://schemas.microsoft.com/office/drawing/2010/main"/>
              </a:ext>
            </a:extLst>
          </a:blip>
          <a:stretch>
            <a:fillRect/>
          </a:stretch>
        </p:blipFill>
        <p:spPr>
          <a:xfrm>
            <a:off x="74500" y="124438"/>
            <a:ext cx="2612312" cy="2441603"/>
          </a:xfrm>
          <a:prstGeom prst="rect">
            <a:avLst/>
          </a:prstGeom>
          <a:ln>
            <a:noFill/>
          </a:ln>
          <a:effectLst>
            <a:outerShdw blurRad="50800" dist="38100" dir="18900000" algn="bl" rotWithShape="0">
              <a:prstClr val="black">
                <a:alpha val="40000"/>
              </a:prstClr>
            </a:outerShdw>
            <a:reflection stA="45000" endPos="7000" dist="50800" dir="5400000" sy="-100000" algn="bl" rotWithShape="0"/>
          </a:effectLst>
          <a:scene3d>
            <a:camera prst="orthographicFront"/>
            <a:lightRig rig="threePt" dir="t"/>
          </a:scene3d>
          <a:sp3d prstMaterial="matte"/>
        </p:spPr>
      </p:pic>
      <p:pic>
        <p:nvPicPr>
          <p:cNvPr id="13" name="Picture 12" descr="A picture containing qr code&#10;&#10;Description automatically generated">
            <a:extLst>
              <a:ext uri="{FF2B5EF4-FFF2-40B4-BE49-F238E27FC236}">
                <a16:creationId xmlns:a16="http://schemas.microsoft.com/office/drawing/2014/main" id="{377EE1F3-4BB5-F481-0C7A-B030D0BD435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08155" y="5784204"/>
            <a:ext cx="2139512" cy="949358"/>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6BA707A5-77F7-520C-48BB-E4C323B0C6F8}"/>
              </a:ext>
            </a:extLst>
          </p:cNvPr>
          <p:cNvSpPr>
            <a:spLocks noGrp="1"/>
          </p:cNvSpPr>
          <p:nvPr>
            <p:ph type="title"/>
          </p:nvPr>
        </p:nvSpPr>
        <p:spPr>
          <a:xfrm>
            <a:off x="2693124" y="907244"/>
            <a:ext cx="8921934" cy="1098225"/>
          </a:xfrm>
          <a:prstGeom prst="rect">
            <a:avLst/>
          </a:prstGeom>
        </p:spPr>
        <p:txBody>
          <a:bodyPr/>
          <a:lstStyle>
            <a:lvl1pPr algn="ctr">
              <a:defRPr b="1" cap="all" spc="-30" baseline="0">
                <a:solidFill>
                  <a:srgbClr val="FFCD05"/>
                </a:solidFill>
                <a:effectLst>
                  <a:outerShdw blurRad="50800" dist="63500" dir="2700000" algn="tl" rotWithShape="0">
                    <a:prstClr val="black">
                      <a:alpha val="75000"/>
                    </a:prstClr>
                  </a:outerShdw>
                </a:effectLst>
                <a:latin typeface="Arial" panose="020B0604020202020204" pitchFamily="34" charset="0"/>
                <a:cs typeface="Arial" panose="020B0604020202020204" pitchFamily="34" charset="0"/>
              </a:defRPr>
            </a:lvl1pPr>
          </a:lstStyle>
          <a:p>
            <a:r>
              <a:rPr lang="en-US" dirty="0"/>
              <a:t>Click to edit Master title style</a:t>
            </a:r>
          </a:p>
        </p:txBody>
      </p:sp>
      <p:pic>
        <p:nvPicPr>
          <p:cNvPr id="7" name="Picture 6">
            <a:extLst>
              <a:ext uri="{FF2B5EF4-FFF2-40B4-BE49-F238E27FC236}">
                <a16:creationId xmlns:a16="http://schemas.microsoft.com/office/drawing/2014/main" id="{5C3867F8-CDC2-633D-3465-F2E2F28B1685}"/>
              </a:ext>
            </a:extLst>
          </p:cNvPr>
          <p:cNvPicPr>
            <a:picLocks noChangeAspect="1"/>
          </p:cNvPicPr>
          <p:nvPr userDrawn="1"/>
        </p:nvPicPr>
        <p:blipFill>
          <a:blip r:embed="rId6"/>
          <a:stretch>
            <a:fillRect/>
          </a:stretch>
        </p:blipFill>
        <p:spPr>
          <a:xfrm>
            <a:off x="8797506" y="2486061"/>
            <a:ext cx="2554445" cy="3346994"/>
          </a:xfrm>
          <a:prstGeom prst="rect">
            <a:avLst/>
          </a:prstGeom>
        </p:spPr>
      </p:pic>
      <p:sp>
        <p:nvSpPr>
          <p:cNvPr id="9" name="Content Placeholder 2">
            <a:extLst>
              <a:ext uri="{FF2B5EF4-FFF2-40B4-BE49-F238E27FC236}">
                <a16:creationId xmlns:a16="http://schemas.microsoft.com/office/drawing/2014/main" id="{D2A315AE-58F8-FC6E-726E-E7FFA7A4CF48}"/>
              </a:ext>
            </a:extLst>
          </p:cNvPr>
          <p:cNvSpPr>
            <a:spLocks noGrp="1"/>
          </p:cNvSpPr>
          <p:nvPr>
            <p:ph sz="half" idx="1" hasCustomPrompt="1"/>
          </p:nvPr>
        </p:nvSpPr>
        <p:spPr>
          <a:xfrm>
            <a:off x="2699403" y="2486061"/>
            <a:ext cx="5258055" cy="3308350"/>
          </a:xfrm>
          <a:prstGeom prst="rect">
            <a:avLst/>
          </a:prstGeom>
          <a:ln w="12700">
            <a:solidFill>
              <a:schemeClr val="tx1">
                <a:alpha val="99000"/>
              </a:schemeClr>
            </a:solidFill>
            <a:miter lim="800000"/>
          </a:ln>
        </p:spPr>
        <p:txBody>
          <a:bodyPr/>
          <a:lstStyle>
            <a:lvl1pPr marL="0" indent="0">
              <a:buNone/>
              <a:defRPr b="1" i="0" cap="none" baseline="0">
                <a:solidFill>
                  <a:srgbClr val="FFCD05"/>
                </a:solidFill>
                <a:latin typeface="Arial" panose="020B0604020202020204" pitchFamily="34" charset="0"/>
                <a:cs typeface="Arial" panose="020B0604020202020204" pitchFamily="34" charset="0"/>
              </a:defRPr>
            </a:lvl1pPr>
            <a:lvl2pPr>
              <a:defRPr>
                <a:solidFill>
                  <a:srgbClr val="FFCD05"/>
                </a:solidFill>
                <a:latin typeface="Arial" panose="020B0604020202020204" pitchFamily="34" charset="0"/>
                <a:cs typeface="Arial" panose="020B0604020202020204" pitchFamily="34" charset="0"/>
              </a:defRPr>
            </a:lvl2pPr>
            <a:lvl3pPr>
              <a:defRPr>
                <a:solidFill>
                  <a:srgbClr val="FFCD05"/>
                </a:solidFill>
                <a:latin typeface="Arial" panose="020B0604020202020204" pitchFamily="34" charset="0"/>
                <a:cs typeface="Arial" panose="020B0604020202020204" pitchFamily="34" charset="0"/>
              </a:defRPr>
            </a:lvl3pPr>
            <a:lvl4pPr>
              <a:defRPr>
                <a:solidFill>
                  <a:srgbClr val="FFCD05"/>
                </a:solidFill>
                <a:latin typeface="Arial" panose="020B0604020202020204" pitchFamily="34" charset="0"/>
                <a:cs typeface="Arial" panose="020B0604020202020204" pitchFamily="34" charset="0"/>
              </a:defRPr>
            </a:lvl4pPr>
            <a:lvl5pPr>
              <a:defRPr>
                <a:solidFill>
                  <a:srgbClr val="FFCD05"/>
                </a:solidFill>
                <a:latin typeface="Arial" panose="020B0604020202020204" pitchFamily="34" charset="0"/>
                <a:cs typeface="Arial" panose="020B0604020202020204" pitchFamily="34" charset="0"/>
              </a:defRPr>
            </a:lvl5pPr>
          </a:lstStyle>
          <a:p>
            <a:pPr lvl="0"/>
            <a:r>
              <a:rPr lang="en-US" dirty="0"/>
              <a:t>Presenter:</a:t>
            </a:r>
          </a:p>
          <a:p>
            <a:pPr lvl="0"/>
            <a:endParaRPr lang="en-US" dirty="0"/>
          </a:p>
          <a:p>
            <a:pPr lvl="0"/>
            <a:r>
              <a:rPr lang="en-US" dirty="0"/>
              <a:t>Date:</a:t>
            </a:r>
          </a:p>
        </p:txBody>
      </p:sp>
    </p:spTree>
    <p:extLst>
      <p:ext uri="{BB962C8B-B14F-4D97-AF65-F5344CB8AC3E}">
        <p14:creationId xmlns:p14="http://schemas.microsoft.com/office/powerpoint/2010/main" val="222778096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B9E0-09F1-8544-6BCD-438C4A63CD79}"/>
              </a:ext>
            </a:extLst>
          </p:cNvPr>
          <p:cNvSpPr>
            <a:spLocks noGrp="1"/>
          </p:cNvSpPr>
          <p:nvPr>
            <p:ph type="title"/>
          </p:nvPr>
        </p:nvSpPr>
        <p:spPr>
          <a:xfrm>
            <a:off x="1979034" y="640621"/>
            <a:ext cx="10099760" cy="1311331"/>
          </a:xfrm>
          <a:prstGeom prst="rect">
            <a:avLst/>
          </a:prstGeom>
        </p:spPr>
        <p:txBody>
          <a:bodyPr/>
          <a:lstStyle>
            <a:lvl1pPr>
              <a:defRPr b="1">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CEB0F648-F94C-5A83-3DCE-F95BAD8AE5E3}"/>
              </a:ext>
            </a:extLst>
          </p:cNvPr>
          <p:cNvSpPr>
            <a:spLocks noGrp="1"/>
          </p:cNvSpPr>
          <p:nvPr>
            <p:ph idx="1"/>
          </p:nvPr>
        </p:nvSpPr>
        <p:spPr>
          <a:xfrm>
            <a:off x="1979034" y="2046517"/>
            <a:ext cx="10099760" cy="4032066"/>
          </a:xfrm>
          <a:prstGeom prst="rect">
            <a:avLst/>
          </a:prstGeom>
        </p:spPr>
        <p:txBody>
          <a:bodyPr/>
          <a:lstStyle>
            <a:lvl3pPr>
              <a:defRPr>
                <a:latin typeface="Arial" panose="020B0604020202020204" pitchFamily="34" charset="0"/>
                <a:cs typeface="Arial" panose="020B0604020202020204" pitchFamily="34" charset="0"/>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4B23386-C866-CEB6-12F2-6BE5F1286F26}"/>
              </a:ext>
            </a:extLst>
          </p:cNvPr>
          <p:cNvSpPr>
            <a:spLocks noGrp="1"/>
          </p:cNvSpPr>
          <p:nvPr>
            <p:ph type="sldNum" sz="quarter" idx="12"/>
          </p:nvPr>
        </p:nvSpPr>
        <p:spPr>
          <a:xfrm>
            <a:off x="8610600" y="6356350"/>
            <a:ext cx="2743200" cy="365125"/>
          </a:xfrm>
          <a:prstGeom prst="rect">
            <a:avLst/>
          </a:prstGeom>
        </p:spPr>
        <p:txBody>
          <a:bodyPr/>
          <a:lstStyle/>
          <a:p>
            <a:fld id="{C9A37824-BB8D-4799-9845-F5B47B5E45C7}" type="slidenum">
              <a:rPr lang="en-US" smtClean="0"/>
              <a:t>‹#›</a:t>
            </a:fld>
            <a:endParaRPr lang="en-US"/>
          </a:p>
        </p:txBody>
      </p:sp>
    </p:spTree>
    <p:extLst>
      <p:ext uri="{BB962C8B-B14F-4D97-AF65-F5344CB8AC3E}">
        <p14:creationId xmlns:p14="http://schemas.microsoft.com/office/powerpoint/2010/main" val="1463152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4C367-32F0-B2D4-D5D4-AC8FB6D3EB94}"/>
              </a:ext>
            </a:extLst>
          </p:cNvPr>
          <p:cNvSpPr>
            <a:spLocks noGrp="1"/>
          </p:cNvSpPr>
          <p:nvPr>
            <p:ph type="title"/>
          </p:nvPr>
        </p:nvSpPr>
        <p:spPr>
          <a:xfrm>
            <a:off x="1952892" y="548013"/>
            <a:ext cx="9368241" cy="1098225"/>
          </a:xfrm>
          <a:prstGeom prst="rect">
            <a:avLst/>
          </a:prstGeom>
        </p:spPr>
        <p:txBody>
          <a:bodyPr/>
          <a:lstStyle>
            <a:lvl1pPr>
              <a:defRPr b="1">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D1D2F617-67B1-C689-3FC6-DBCC717C39F9}"/>
              </a:ext>
            </a:extLst>
          </p:cNvPr>
          <p:cNvSpPr>
            <a:spLocks noGrp="1"/>
          </p:cNvSpPr>
          <p:nvPr>
            <p:ph sz="half" idx="1"/>
          </p:nvPr>
        </p:nvSpPr>
        <p:spPr>
          <a:xfrm>
            <a:off x="1952892" y="1825625"/>
            <a:ext cx="4937769" cy="435133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7619F59-46F7-7FA3-BF81-DA26BF009864}"/>
              </a:ext>
            </a:extLst>
          </p:cNvPr>
          <p:cNvSpPr>
            <a:spLocks noGrp="1"/>
          </p:cNvSpPr>
          <p:nvPr>
            <p:ph sz="half" idx="2"/>
          </p:nvPr>
        </p:nvSpPr>
        <p:spPr>
          <a:xfrm>
            <a:off x="7043061" y="1825625"/>
            <a:ext cx="4937769" cy="435133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42CDFE2A-7E54-C2A1-F5D0-F2F72329C839}"/>
              </a:ext>
            </a:extLst>
          </p:cNvPr>
          <p:cNvSpPr>
            <a:spLocks noGrp="1"/>
          </p:cNvSpPr>
          <p:nvPr>
            <p:ph type="sldNum" sz="quarter" idx="12"/>
          </p:nvPr>
        </p:nvSpPr>
        <p:spPr>
          <a:xfrm>
            <a:off x="8610600" y="6356350"/>
            <a:ext cx="2743200" cy="365125"/>
          </a:xfrm>
          <a:prstGeom prst="rect">
            <a:avLst/>
          </a:prstGeom>
        </p:spPr>
        <p:txBody>
          <a:bodyPr/>
          <a:lstStyle/>
          <a:p>
            <a:fld id="{C9A37824-BB8D-4799-9845-F5B47B5E45C7}" type="slidenum">
              <a:rPr lang="en-US" smtClean="0"/>
              <a:t>‹#›</a:t>
            </a:fld>
            <a:endParaRPr lang="en-US"/>
          </a:p>
        </p:txBody>
      </p:sp>
    </p:spTree>
    <p:extLst>
      <p:ext uri="{BB962C8B-B14F-4D97-AF65-F5344CB8AC3E}">
        <p14:creationId xmlns:p14="http://schemas.microsoft.com/office/powerpoint/2010/main" val="1554300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31882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AEDBE4B2-ED26-DF20-EB88-9102132A1C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17843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74074E2E-ED81-F3EC-B678-0FDCBC6420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6323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
        <p:nvSpPr>
          <p:cNvPr id="5" name="Title 4">
            <a:extLst>
              <a:ext uri="{FF2B5EF4-FFF2-40B4-BE49-F238E27FC236}">
                <a16:creationId xmlns:a16="http://schemas.microsoft.com/office/drawing/2014/main" id="{AB808ED8-8426-A0C0-9763-B7D4C153D1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0055024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62C6ABDE-E95A-0F3C-098E-3AB6CD8A71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7766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DFDE0C51-EABF-8EEF-D372-6195FADF38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25652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1FA45842-A577-D012-E0A0-40AA7BE0D2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42373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B93C48AD-9F55-0046-00A1-CC510D30C60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48964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
        <p:nvSpPr>
          <p:cNvPr id="5" name="Title 4">
            <a:extLst>
              <a:ext uri="{FF2B5EF4-FFF2-40B4-BE49-F238E27FC236}">
                <a16:creationId xmlns:a16="http://schemas.microsoft.com/office/drawing/2014/main" id="{44FB5578-DA9B-BD0B-5613-AEFB9E68B6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905652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
        <p:nvSpPr>
          <p:cNvPr id="7" name="Title 6">
            <a:extLst>
              <a:ext uri="{FF2B5EF4-FFF2-40B4-BE49-F238E27FC236}">
                <a16:creationId xmlns:a16="http://schemas.microsoft.com/office/drawing/2014/main" id="{929DC40A-BB92-C526-3CD0-189C3429C4D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22034939"/>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481C1557-2F36-FF70-9AEB-DF21DD5067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2666227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F2E409FF-5585-8E4A-14AA-59DBC4EAF9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2445530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B02F4169-3E26-AB53-54FC-47BE477B90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663055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0669437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DACA2C3D-12FE-63E8-E6E7-2094824214F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204641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1706696799"/>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3640007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3848393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1913703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2143672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4849652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913866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243954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3834439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5486360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1235389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165507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26" Type="http://schemas.openxmlformats.org/officeDocument/2006/relationships/slideLayout" Target="../slideLayouts/slideLayout29.xml"/><Relationship Id="rId3" Type="http://schemas.openxmlformats.org/officeDocument/2006/relationships/slideLayout" Target="../slideLayouts/slideLayout6.xml"/><Relationship Id="rId21" Type="http://schemas.openxmlformats.org/officeDocument/2006/relationships/slideLayout" Target="../slideLayouts/slideLayout24.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29"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5" Type="http://schemas.openxmlformats.org/officeDocument/2006/relationships/slideLayout" Target="../slideLayouts/slideLayout8.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theme" Target="../theme/theme2.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31" Type="http://schemas.openxmlformats.org/officeDocument/2006/relationships/image" Target="../media/image9.png"/><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slideLayout" Target="../slideLayouts/slideLayout30.xml"/><Relationship Id="rId30"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0F1B85-CA10-5B17-91A7-21B2064C15F6}"/>
              </a:ext>
            </a:extLst>
          </p:cNvPr>
          <p:cNvPicPr>
            <a:picLocks noChangeAspect="1"/>
          </p:cNvPicPr>
          <p:nvPr userDrawn="1"/>
        </p:nvPicPr>
        <p:blipFill>
          <a:blip r:embed="rId5"/>
          <a:stretch>
            <a:fillRect/>
          </a:stretch>
        </p:blipFill>
        <p:spPr>
          <a:xfrm>
            <a:off x="0" y="0"/>
            <a:ext cx="12192000" cy="6857999"/>
          </a:xfrm>
          <a:prstGeom prst="rect">
            <a:avLst/>
          </a:prstGeom>
        </p:spPr>
      </p:pic>
      <p:pic>
        <p:nvPicPr>
          <p:cNvPr id="10" name="Picture 9">
            <a:extLst>
              <a:ext uri="{FF2B5EF4-FFF2-40B4-BE49-F238E27FC236}">
                <a16:creationId xmlns:a16="http://schemas.microsoft.com/office/drawing/2014/main" id="{F2CBBAF8-AA03-519A-A04C-7AB4E65A23B5}"/>
              </a:ext>
              <a:ext uri="{C183D7F6-B498-43B3-948B-1728B52AA6E4}">
                <adec:decorative xmlns:adec="http://schemas.microsoft.com/office/drawing/2017/decorative" val="1"/>
              </a:ext>
            </a:extLst>
          </p:cNvPr>
          <p:cNvPicPr>
            <a:picLocks noChangeAspect="1"/>
          </p:cNvPicPr>
          <p:nvPr userDrawn="1"/>
        </p:nvPicPr>
        <p:blipFill>
          <a:blip r:embed="rId6" cstate="screen">
            <a:alphaModFix/>
            <a:extLst>
              <a:ext uri="{28A0092B-C50C-407E-A947-70E740481C1C}">
                <a14:useLocalDpi xmlns:a14="http://schemas.microsoft.com/office/drawing/2010/main"/>
              </a:ext>
            </a:extLst>
          </a:blip>
          <a:stretch>
            <a:fillRect/>
          </a:stretch>
        </p:blipFill>
        <p:spPr>
          <a:xfrm>
            <a:off x="115243" y="182714"/>
            <a:ext cx="1770489" cy="1654792"/>
          </a:xfrm>
          <a:prstGeom prst="rect">
            <a:avLst/>
          </a:prstGeom>
          <a:ln>
            <a:noFill/>
          </a:ln>
          <a:effectLst>
            <a:outerShdw blurRad="50800" dist="38100" dir="8100000" algn="tr" rotWithShape="0">
              <a:prstClr val="black">
                <a:alpha val="40000"/>
              </a:prstClr>
            </a:outerShdw>
            <a:reflection stA="45000" endPos="7000" dist="50800" dir="5400000" sy="-100000" algn="bl" rotWithShape="0"/>
          </a:effectLst>
          <a:scene3d>
            <a:camera prst="orthographicFront"/>
            <a:lightRig rig="threePt" dir="t"/>
          </a:scene3d>
          <a:sp3d prstMaterial="matte"/>
        </p:spPr>
      </p:pic>
      <p:pic>
        <p:nvPicPr>
          <p:cNvPr id="11" name="Picture 10">
            <a:extLst>
              <a:ext uri="{FF2B5EF4-FFF2-40B4-BE49-F238E27FC236}">
                <a16:creationId xmlns:a16="http://schemas.microsoft.com/office/drawing/2014/main" id="{659E95A8-3758-DF9C-D007-7B97123ABBD6}"/>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115243" y="5813015"/>
            <a:ext cx="2139510" cy="949358"/>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4213773761"/>
      </p:ext>
    </p:extLst>
  </p:cSld>
  <p:clrMap bg1="lt1" tx1="dk1" bg2="lt2" tx2="dk2" accent1="accent1" accent2="accent2" accent3="accent3" accent4="accent4" accent5="accent5" accent6="accent6" hlink="hlink" folHlink="folHlink"/>
  <p:sldLayoutIdLst>
    <p:sldLayoutId id="2147483695" r:id="rId1"/>
    <p:sldLayoutId id="2147483650" r:id="rId2"/>
    <p:sldLayoutId id="214748365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0813491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tif"/><Relationship Id="rId2" Type="http://schemas.openxmlformats.org/officeDocument/2006/relationships/image" Target="../media/image17.tif"/><Relationship Id="rId1" Type="http://schemas.openxmlformats.org/officeDocument/2006/relationships/slideLayout" Target="../slideLayouts/slideLayout2.xml"/><Relationship Id="rId5" Type="http://schemas.openxmlformats.org/officeDocument/2006/relationships/image" Target="../media/image20.tif"/><Relationship Id="rId4" Type="http://schemas.openxmlformats.org/officeDocument/2006/relationships/image" Target="../media/image19.t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tif"/><Relationship Id="rId2" Type="http://schemas.openxmlformats.org/officeDocument/2006/relationships/image" Target="../media/image17.tif"/><Relationship Id="rId1" Type="http://schemas.openxmlformats.org/officeDocument/2006/relationships/slideLayout" Target="../slideLayouts/slideLayout2.xml"/><Relationship Id="rId4" Type="http://schemas.openxmlformats.org/officeDocument/2006/relationships/image" Target="../media/image20.tif"/></Relationships>
</file>

<file path=ppt/slides/_rels/slide12.xml.rels><?xml version="1.0" encoding="UTF-8" standalone="yes"?>
<Relationships xmlns="http://schemas.openxmlformats.org/package/2006/relationships"><Relationship Id="rId3" Type="http://schemas.openxmlformats.org/officeDocument/2006/relationships/image" Target="../media/image18.tif"/><Relationship Id="rId2" Type="http://schemas.openxmlformats.org/officeDocument/2006/relationships/image" Target="../media/image17.tif"/><Relationship Id="rId1" Type="http://schemas.openxmlformats.org/officeDocument/2006/relationships/slideLayout" Target="../slideLayouts/slideLayout2.xml"/><Relationship Id="rId4" Type="http://schemas.openxmlformats.org/officeDocument/2006/relationships/image" Target="../media/image20.t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BF1BC-08D2-5AD1-866E-6ADA67546B13}"/>
              </a:ext>
            </a:extLst>
          </p:cNvPr>
          <p:cNvSpPr>
            <a:spLocks noGrp="1"/>
          </p:cNvSpPr>
          <p:nvPr>
            <p:ph type="title"/>
          </p:nvPr>
        </p:nvSpPr>
        <p:spPr/>
        <p:txBody>
          <a:bodyPr/>
          <a:lstStyle/>
          <a:p>
            <a:pPr algn="l"/>
            <a:r>
              <a:rPr lang="en-US" sz="4000" dirty="0">
                <a:effectLst>
                  <a:outerShdw blurRad="50800" dist="63500" dir="5400000" algn="tl" rotWithShape="0">
                    <a:schemeClr val="bg1"/>
                  </a:outerShdw>
                </a:effectLst>
              </a:rPr>
              <a:t>DRAFT Update </a:t>
            </a:r>
            <a:endParaRPr lang="en-US" sz="4000" dirty="0"/>
          </a:p>
        </p:txBody>
      </p:sp>
      <p:sp>
        <p:nvSpPr>
          <p:cNvPr id="4" name="Content Placeholder 3">
            <a:extLst>
              <a:ext uri="{FF2B5EF4-FFF2-40B4-BE49-F238E27FC236}">
                <a16:creationId xmlns:a16="http://schemas.microsoft.com/office/drawing/2014/main" id="{49B89F5C-EFF9-613A-7D80-BD0FC1CBF875}"/>
              </a:ext>
            </a:extLst>
          </p:cNvPr>
          <p:cNvSpPr>
            <a:spLocks noGrp="1"/>
          </p:cNvSpPr>
          <p:nvPr>
            <p:ph sz="half" idx="1"/>
          </p:nvPr>
        </p:nvSpPr>
        <p:spPr>
          <a:xfrm>
            <a:off x="-31055" y="2909003"/>
            <a:ext cx="4611769" cy="1360864"/>
          </a:xfrm>
          <a:ln>
            <a:noFill/>
          </a:ln>
        </p:spPr>
        <p:txBody>
          <a:bodyPr/>
          <a:lstStyle/>
          <a:p>
            <a:r>
              <a:rPr lang="en-US" dirty="0"/>
              <a:t>Barrie Chileen Martinez</a:t>
            </a:r>
          </a:p>
        </p:txBody>
      </p:sp>
    </p:spTree>
    <p:extLst>
      <p:ext uri="{BB962C8B-B14F-4D97-AF65-F5344CB8AC3E}">
        <p14:creationId xmlns:p14="http://schemas.microsoft.com/office/powerpoint/2010/main" val="134852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4B45F8-2BCB-B7CD-9CB5-F1AE0F65AE0D}"/>
              </a:ext>
            </a:extLst>
          </p:cNvPr>
          <p:cNvSpPr>
            <a:spLocks noGrp="1"/>
          </p:cNvSpPr>
          <p:nvPr>
            <p:ph type="title"/>
          </p:nvPr>
        </p:nvSpPr>
        <p:spPr/>
        <p:txBody>
          <a:bodyPr/>
          <a:lstStyle/>
          <a:p>
            <a:r>
              <a:rPr lang="en-US" dirty="0"/>
              <a:t>Agenda</a:t>
            </a:r>
          </a:p>
        </p:txBody>
      </p:sp>
      <p:sp>
        <p:nvSpPr>
          <p:cNvPr id="6" name="Content Placeholder 5">
            <a:extLst>
              <a:ext uri="{FF2B5EF4-FFF2-40B4-BE49-F238E27FC236}">
                <a16:creationId xmlns:a16="http://schemas.microsoft.com/office/drawing/2014/main" id="{78BBC6F9-9FB5-3DA9-03DE-EE2088177A3F}"/>
              </a:ext>
            </a:extLst>
          </p:cNvPr>
          <p:cNvSpPr>
            <a:spLocks noGrp="1"/>
          </p:cNvSpPr>
          <p:nvPr>
            <p:ph idx="1"/>
          </p:nvPr>
        </p:nvSpPr>
        <p:spPr/>
        <p:txBody>
          <a:bodyPr/>
          <a:lstStyle/>
          <a:p>
            <a:r>
              <a:rPr lang="en-US" dirty="0"/>
              <a:t>Overview of project</a:t>
            </a:r>
          </a:p>
          <a:p>
            <a:r>
              <a:rPr lang="en-US" dirty="0"/>
              <a:t>CSAT Data Wrangling </a:t>
            </a:r>
          </a:p>
          <a:p>
            <a:r>
              <a:rPr lang="en-US" dirty="0"/>
              <a:t>CSAT Product</a:t>
            </a:r>
          </a:p>
          <a:p>
            <a:r>
              <a:rPr lang="en-US" dirty="0"/>
              <a:t>LSTM</a:t>
            </a:r>
          </a:p>
          <a:p>
            <a:r>
              <a:rPr lang="en-US" dirty="0"/>
              <a:t>CNN</a:t>
            </a:r>
          </a:p>
          <a:p>
            <a:r>
              <a:rPr lang="en-US" dirty="0"/>
              <a:t>Project Timeline</a:t>
            </a:r>
          </a:p>
        </p:txBody>
      </p:sp>
    </p:spTree>
    <p:extLst>
      <p:ext uri="{BB962C8B-B14F-4D97-AF65-F5344CB8AC3E}">
        <p14:creationId xmlns:p14="http://schemas.microsoft.com/office/powerpoint/2010/main" val="1318300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6817C-16A1-AA27-C8FC-29F112B55A60}"/>
              </a:ext>
            </a:extLst>
          </p:cNvPr>
          <p:cNvSpPr>
            <a:spLocks noGrp="1"/>
          </p:cNvSpPr>
          <p:nvPr>
            <p:ph type="title"/>
          </p:nvPr>
        </p:nvSpPr>
        <p:spPr/>
        <p:txBody>
          <a:bodyPr/>
          <a:lstStyle/>
          <a:p>
            <a:r>
              <a:rPr lang="en-US" dirty="0"/>
              <a:t>Where we left off…</a:t>
            </a:r>
          </a:p>
        </p:txBody>
      </p:sp>
      <p:sp>
        <p:nvSpPr>
          <p:cNvPr id="3" name="Content Placeholder 2">
            <a:extLst>
              <a:ext uri="{FF2B5EF4-FFF2-40B4-BE49-F238E27FC236}">
                <a16:creationId xmlns:a16="http://schemas.microsoft.com/office/drawing/2014/main" id="{4C969E6E-12F0-4E0E-1C6D-064AE2DEC19F}"/>
              </a:ext>
            </a:extLst>
          </p:cNvPr>
          <p:cNvSpPr>
            <a:spLocks noGrp="1"/>
          </p:cNvSpPr>
          <p:nvPr>
            <p:ph idx="1"/>
          </p:nvPr>
        </p:nvSpPr>
        <p:spPr/>
        <p:txBody>
          <a:bodyPr/>
          <a:lstStyle/>
          <a:p>
            <a:r>
              <a:rPr lang="en-US" dirty="0"/>
              <a:t>Started experimenting with CSAT</a:t>
            </a:r>
          </a:p>
          <a:p>
            <a:r>
              <a:rPr lang="en-US" dirty="0"/>
              <a:t>Massive QA effort</a:t>
            </a:r>
          </a:p>
          <a:p>
            <a:endParaRPr lang="en-US" dirty="0"/>
          </a:p>
        </p:txBody>
      </p:sp>
    </p:spTree>
    <p:extLst>
      <p:ext uri="{BB962C8B-B14F-4D97-AF65-F5344CB8AC3E}">
        <p14:creationId xmlns:p14="http://schemas.microsoft.com/office/powerpoint/2010/main" val="3789731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8F9AE-24F6-A84E-2398-2D502A09DCDD}"/>
              </a:ext>
            </a:extLst>
          </p:cNvPr>
          <p:cNvSpPr>
            <a:spLocks noGrp="1"/>
          </p:cNvSpPr>
          <p:nvPr>
            <p:ph type="title"/>
          </p:nvPr>
        </p:nvSpPr>
        <p:spPr>
          <a:xfrm>
            <a:off x="1795549" y="640621"/>
            <a:ext cx="10362216" cy="1311331"/>
          </a:xfrm>
        </p:spPr>
        <p:txBody>
          <a:bodyPr/>
          <a:lstStyle/>
          <a:p>
            <a:r>
              <a:rPr lang="en-US" dirty="0"/>
              <a:t>CSAT – Corps Shoaling Analysis Tool</a:t>
            </a:r>
          </a:p>
        </p:txBody>
      </p:sp>
      <p:sp>
        <p:nvSpPr>
          <p:cNvPr id="3" name="Content Placeholder 2">
            <a:extLst>
              <a:ext uri="{FF2B5EF4-FFF2-40B4-BE49-F238E27FC236}">
                <a16:creationId xmlns:a16="http://schemas.microsoft.com/office/drawing/2014/main" id="{AC4FC5AE-FD3A-FFE4-266E-8F81EE9825D8}"/>
              </a:ext>
            </a:extLst>
          </p:cNvPr>
          <p:cNvSpPr>
            <a:spLocks noGrp="1"/>
          </p:cNvSpPr>
          <p:nvPr>
            <p:ph idx="1"/>
          </p:nvPr>
        </p:nvSpPr>
        <p:spPr>
          <a:xfrm>
            <a:off x="1161310" y="1804826"/>
            <a:ext cx="10099760" cy="4032066"/>
          </a:xfrm>
        </p:spPr>
        <p:txBody>
          <a:bodyPr/>
          <a:lstStyle/>
          <a:p>
            <a:r>
              <a:rPr lang="en-US" dirty="0"/>
              <a:t>Leverages surveys in </a:t>
            </a:r>
            <a:r>
              <a:rPr lang="en-US" dirty="0" err="1"/>
              <a:t>eHydro</a:t>
            </a:r>
            <a:r>
              <a:rPr lang="en-US" dirty="0"/>
              <a:t> to calculate shoaling rates and volume changes</a:t>
            </a:r>
          </a:p>
          <a:p>
            <a:r>
              <a:rPr lang="en-US" dirty="0"/>
              <a:t>Surveys associated with dredge events are omitted from CSAT shoaling rate calcs</a:t>
            </a:r>
          </a:p>
          <a:p>
            <a:r>
              <a:rPr lang="en-US" dirty="0"/>
              <a:t>Uses a hindcasting algorithm that incorporates new survey data over time</a:t>
            </a:r>
          </a:p>
          <a:p>
            <a:r>
              <a:rPr lang="en-US" dirty="0"/>
              <a:t>Estimates dredging events based on volume decreases outside of an adjustable threshold </a:t>
            </a:r>
          </a:p>
          <a:p>
            <a:pPr lvl="1"/>
            <a:r>
              <a:rPr lang="en-US" dirty="0"/>
              <a:t>Currently set to 2% variation</a:t>
            </a:r>
          </a:p>
          <a:p>
            <a:endParaRPr lang="en-US" dirty="0"/>
          </a:p>
          <a:p>
            <a:endParaRPr lang="en-US" dirty="0"/>
          </a:p>
        </p:txBody>
      </p:sp>
    </p:spTree>
    <p:extLst>
      <p:ext uri="{BB962C8B-B14F-4D97-AF65-F5344CB8AC3E}">
        <p14:creationId xmlns:p14="http://schemas.microsoft.com/office/powerpoint/2010/main" val="1619738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A99D45-81C6-4AB5-B325-20208B3A18BF}"/>
              </a:ext>
            </a:extLst>
          </p:cNvPr>
          <p:cNvSpPr>
            <a:spLocks noGrp="1"/>
          </p:cNvSpPr>
          <p:nvPr>
            <p:ph type="title"/>
          </p:nvPr>
        </p:nvSpPr>
        <p:spPr/>
        <p:txBody>
          <a:bodyPr/>
          <a:lstStyle/>
          <a:p>
            <a:r>
              <a:rPr lang="en-US" dirty="0"/>
              <a:t>Strategic Engagements</a:t>
            </a:r>
          </a:p>
        </p:txBody>
      </p:sp>
      <p:sp>
        <p:nvSpPr>
          <p:cNvPr id="6" name="TextBox 5">
            <a:extLst>
              <a:ext uri="{FF2B5EF4-FFF2-40B4-BE49-F238E27FC236}">
                <a16:creationId xmlns:a16="http://schemas.microsoft.com/office/drawing/2014/main" id="{5219AEEF-91C0-C1F1-2D06-FB4BCDE8D93C}"/>
              </a:ext>
            </a:extLst>
          </p:cNvPr>
          <p:cNvSpPr txBox="1"/>
          <p:nvPr/>
        </p:nvSpPr>
        <p:spPr>
          <a:xfrm>
            <a:off x="1317567" y="1951952"/>
            <a:ext cx="10274531" cy="3139321"/>
          </a:xfrm>
          <a:prstGeom prst="rect">
            <a:avLst/>
          </a:prstGeom>
          <a:noFill/>
        </p:spPr>
        <p:txBody>
          <a:bodyPr wrap="square" rtlCol="0">
            <a:spAutoFit/>
          </a:bodyPr>
          <a:lstStyle/>
          <a:p>
            <a:pPr marL="285750" indent="-285750">
              <a:buFont typeface="Arial" panose="020B0604020202020204" pitchFamily="34" charset="0"/>
              <a:buChar char="•"/>
            </a:pPr>
            <a:r>
              <a:rPr lang="en-US" sz="2000" dirty="0"/>
              <a:t>Met with Michael Hartman to discuss CSAT output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Determined bank to bank Channel Framework had impact on extraneous CSAT rates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Working with test level script to clip </a:t>
            </a:r>
            <a:r>
              <a:rPr lang="en-US" sz="2000" dirty="0" err="1"/>
              <a:t>Hydrosurvey</a:t>
            </a:r>
            <a:r>
              <a:rPr lang="en-US" sz="2000" dirty="0"/>
              <a:t> data to exclude </a:t>
            </a:r>
            <a:r>
              <a:rPr lang="en-US" sz="2000" dirty="0" err="1"/>
              <a:t>wingdams</a:t>
            </a:r>
            <a:r>
              <a:rPr lang="en-US" sz="2000" dirty="0"/>
              <a:t> and off channel areas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Path forward: Develop channel boundary constrained to navigable section and continue QA of surveys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703179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FC1AF-6BC0-DF5D-7752-F8C161759E26}"/>
              </a:ext>
            </a:extLst>
          </p:cNvPr>
          <p:cNvSpPr>
            <a:spLocks noGrp="1"/>
          </p:cNvSpPr>
          <p:nvPr>
            <p:ph type="title"/>
          </p:nvPr>
        </p:nvSpPr>
        <p:spPr/>
        <p:txBody>
          <a:bodyPr/>
          <a:lstStyle/>
          <a:p>
            <a:r>
              <a:rPr lang="en-US" dirty="0"/>
              <a:t>Developing a workable channel framework</a:t>
            </a:r>
          </a:p>
        </p:txBody>
      </p:sp>
      <p:sp>
        <p:nvSpPr>
          <p:cNvPr id="3" name="Content Placeholder 2">
            <a:extLst>
              <a:ext uri="{FF2B5EF4-FFF2-40B4-BE49-F238E27FC236}">
                <a16:creationId xmlns:a16="http://schemas.microsoft.com/office/drawing/2014/main" id="{3EF53708-E681-EEBA-19D2-E2A9F4E1BA52}"/>
              </a:ext>
            </a:extLst>
          </p:cNvPr>
          <p:cNvSpPr>
            <a:spLocks noGrp="1"/>
          </p:cNvSpPr>
          <p:nvPr>
            <p:ph idx="1"/>
          </p:nvPr>
        </p:nvSpPr>
        <p:spPr>
          <a:xfrm>
            <a:off x="713289" y="2185313"/>
            <a:ext cx="6705514" cy="4032066"/>
          </a:xfrm>
        </p:spPr>
        <p:txBody>
          <a:bodyPr/>
          <a:lstStyle/>
          <a:p>
            <a:r>
              <a:rPr lang="en-US" dirty="0"/>
              <a:t>Started with IENC Depth Layer</a:t>
            </a:r>
          </a:p>
          <a:p>
            <a:r>
              <a:rPr lang="en-US" dirty="0"/>
              <a:t>Manual editing based on AIS vessel tracks</a:t>
            </a:r>
          </a:p>
          <a:p>
            <a:pPr lvl="1"/>
            <a:r>
              <a:rPr lang="en-US" dirty="0"/>
              <a:t>Where are vessels physically in the channel</a:t>
            </a:r>
          </a:p>
          <a:p>
            <a:pPr lvl="1"/>
            <a:r>
              <a:rPr lang="en-US" dirty="0"/>
              <a:t>Targets modeling to navigable area</a:t>
            </a:r>
          </a:p>
          <a:p>
            <a:r>
              <a:rPr lang="en-US" dirty="0"/>
              <a:t>Clipped out any </a:t>
            </a:r>
            <a:r>
              <a:rPr lang="en-US" dirty="0" err="1"/>
              <a:t>wingdams</a:t>
            </a:r>
            <a:r>
              <a:rPr lang="en-US" dirty="0"/>
              <a:t> or river training structures from IENC and internal datasets</a:t>
            </a:r>
          </a:p>
          <a:p>
            <a:pPr lvl="1"/>
            <a:endParaRPr lang="en-US" dirty="0"/>
          </a:p>
        </p:txBody>
      </p:sp>
      <p:pic>
        <p:nvPicPr>
          <p:cNvPr id="4" name="Picture 3">
            <a:extLst>
              <a:ext uri="{FF2B5EF4-FFF2-40B4-BE49-F238E27FC236}">
                <a16:creationId xmlns:a16="http://schemas.microsoft.com/office/drawing/2014/main" id="{42C4A168-DB31-0C23-39D0-78D0BBAA9339}"/>
              </a:ext>
            </a:extLst>
          </p:cNvPr>
          <p:cNvPicPr>
            <a:picLocks noChangeAspect="1"/>
          </p:cNvPicPr>
          <p:nvPr/>
        </p:nvPicPr>
        <p:blipFill>
          <a:blip r:embed="rId2"/>
          <a:stretch>
            <a:fillRect/>
          </a:stretch>
        </p:blipFill>
        <p:spPr>
          <a:xfrm>
            <a:off x="7671276" y="2185313"/>
            <a:ext cx="4127154" cy="2989511"/>
          </a:xfrm>
          <a:prstGeom prst="rect">
            <a:avLst/>
          </a:prstGeom>
        </p:spPr>
      </p:pic>
    </p:spTree>
    <p:extLst>
      <p:ext uri="{BB962C8B-B14F-4D97-AF65-F5344CB8AC3E}">
        <p14:creationId xmlns:p14="http://schemas.microsoft.com/office/powerpoint/2010/main" val="2483459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95402-AD48-39CD-C668-AE64646BD3BB}"/>
              </a:ext>
            </a:extLst>
          </p:cNvPr>
          <p:cNvSpPr>
            <a:spLocks noGrp="1"/>
          </p:cNvSpPr>
          <p:nvPr>
            <p:ph type="title"/>
          </p:nvPr>
        </p:nvSpPr>
        <p:spPr/>
        <p:txBody>
          <a:bodyPr/>
          <a:lstStyle/>
          <a:p>
            <a:r>
              <a:rPr lang="en-US" dirty="0"/>
              <a:t>518 Reaches Clipped</a:t>
            </a:r>
          </a:p>
        </p:txBody>
      </p:sp>
      <p:pic>
        <p:nvPicPr>
          <p:cNvPr id="5" name="Content Placeholder 4">
            <a:extLst>
              <a:ext uri="{FF2B5EF4-FFF2-40B4-BE49-F238E27FC236}">
                <a16:creationId xmlns:a16="http://schemas.microsoft.com/office/drawing/2014/main" id="{0A021B0D-1BB1-BA11-01AB-8D06037EC1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206" y="1855828"/>
            <a:ext cx="5960287" cy="1904036"/>
          </a:xfrm>
        </p:spPr>
      </p:pic>
      <p:pic>
        <p:nvPicPr>
          <p:cNvPr id="7" name="Picture 6" descr="A graph of a curve&#10;&#10;AI-generated content may be incorrect.">
            <a:extLst>
              <a:ext uri="{FF2B5EF4-FFF2-40B4-BE49-F238E27FC236}">
                <a16:creationId xmlns:a16="http://schemas.microsoft.com/office/drawing/2014/main" id="{C64D24B7-70C9-60A3-CC30-649433BA90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4588" y="1247728"/>
            <a:ext cx="5422886" cy="2977271"/>
          </a:xfrm>
          <a:prstGeom prst="rect">
            <a:avLst/>
          </a:prstGeom>
        </p:spPr>
      </p:pic>
      <p:pic>
        <p:nvPicPr>
          <p:cNvPr id="9" name="Picture 8" descr="A blue and green graph&#10;&#10;AI-generated content may be incorrect.">
            <a:extLst>
              <a:ext uri="{FF2B5EF4-FFF2-40B4-BE49-F238E27FC236}">
                <a16:creationId xmlns:a16="http://schemas.microsoft.com/office/drawing/2014/main" id="{7F11C6A7-0FC6-AE11-F876-E9032E6421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1752" y="4479029"/>
            <a:ext cx="6647042" cy="2136761"/>
          </a:xfrm>
          <a:prstGeom prst="rect">
            <a:avLst/>
          </a:prstGeom>
        </p:spPr>
      </p:pic>
      <p:pic>
        <p:nvPicPr>
          <p:cNvPr id="11" name="Picture 10" descr="A blue and green lines&#10;&#10;AI-generated content may be incorrect.">
            <a:extLst>
              <a:ext uri="{FF2B5EF4-FFF2-40B4-BE49-F238E27FC236}">
                <a16:creationId xmlns:a16="http://schemas.microsoft.com/office/drawing/2014/main" id="{61582EE0-2496-C00E-5CB5-14B0A224E0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206" y="3937736"/>
            <a:ext cx="4571863" cy="2863711"/>
          </a:xfrm>
          <a:prstGeom prst="rect">
            <a:avLst/>
          </a:prstGeom>
        </p:spPr>
      </p:pic>
    </p:spTree>
    <p:extLst>
      <p:ext uri="{BB962C8B-B14F-4D97-AF65-F5344CB8AC3E}">
        <p14:creationId xmlns:p14="http://schemas.microsoft.com/office/powerpoint/2010/main" val="289294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D9B2C-89EF-FE9D-B400-DBB17A287F20}"/>
              </a:ext>
            </a:extLst>
          </p:cNvPr>
          <p:cNvSpPr>
            <a:spLocks noGrp="1"/>
          </p:cNvSpPr>
          <p:nvPr>
            <p:ph type="title"/>
          </p:nvPr>
        </p:nvSpPr>
        <p:spPr/>
        <p:txBody>
          <a:bodyPr/>
          <a:lstStyle/>
          <a:p>
            <a:r>
              <a:rPr lang="en-US" dirty="0"/>
              <a:t>Examples of CSAT Output</a:t>
            </a:r>
          </a:p>
        </p:txBody>
      </p:sp>
      <p:pic>
        <p:nvPicPr>
          <p:cNvPr id="11" name="Content Placeholder 10" descr="A close-up of a comet&#10;&#10;AI-generated content may be incorrect.">
            <a:extLst>
              <a:ext uri="{FF2B5EF4-FFF2-40B4-BE49-F238E27FC236}">
                <a16:creationId xmlns:a16="http://schemas.microsoft.com/office/drawing/2014/main" id="{D6DC5667-52F5-74CF-7DBC-8194438883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1573" y="1951952"/>
            <a:ext cx="4867275" cy="1447800"/>
          </a:xfrm>
        </p:spPr>
      </p:pic>
      <p:pic>
        <p:nvPicPr>
          <p:cNvPr id="13" name="Picture 12" descr="A white brush stroke on a black background&#10;&#10;AI-generated content may be incorrect.">
            <a:extLst>
              <a:ext uri="{FF2B5EF4-FFF2-40B4-BE49-F238E27FC236}">
                <a16:creationId xmlns:a16="http://schemas.microsoft.com/office/drawing/2014/main" id="{20BAB47B-BA5A-DEA4-0B35-15FED4176F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4660" y="1759497"/>
            <a:ext cx="3067050" cy="4095750"/>
          </a:xfrm>
          <a:prstGeom prst="rect">
            <a:avLst/>
          </a:prstGeom>
        </p:spPr>
      </p:pic>
      <p:sp>
        <p:nvSpPr>
          <p:cNvPr id="14" name="TextBox 13">
            <a:extLst>
              <a:ext uri="{FF2B5EF4-FFF2-40B4-BE49-F238E27FC236}">
                <a16:creationId xmlns:a16="http://schemas.microsoft.com/office/drawing/2014/main" id="{991919C2-9749-D87B-5C6D-B28764FFD98A}"/>
              </a:ext>
            </a:extLst>
          </p:cNvPr>
          <p:cNvSpPr txBox="1"/>
          <p:nvPr/>
        </p:nvSpPr>
        <p:spPr>
          <a:xfrm>
            <a:off x="9098956" y="5963870"/>
            <a:ext cx="2148614" cy="369332"/>
          </a:xfrm>
          <a:prstGeom prst="rect">
            <a:avLst/>
          </a:prstGeom>
          <a:noFill/>
        </p:spPr>
        <p:txBody>
          <a:bodyPr wrap="square" rtlCol="0">
            <a:spAutoFit/>
          </a:bodyPr>
          <a:lstStyle/>
          <a:p>
            <a:r>
              <a:rPr lang="en-US" dirty="0"/>
              <a:t>IL_LA_MVR_57</a:t>
            </a:r>
          </a:p>
        </p:txBody>
      </p:sp>
      <p:sp>
        <p:nvSpPr>
          <p:cNvPr id="16" name="TextBox 15">
            <a:extLst>
              <a:ext uri="{FF2B5EF4-FFF2-40B4-BE49-F238E27FC236}">
                <a16:creationId xmlns:a16="http://schemas.microsoft.com/office/drawing/2014/main" id="{2C814B96-C9BA-2163-E430-E66D95D7D8BD}"/>
              </a:ext>
            </a:extLst>
          </p:cNvPr>
          <p:cNvSpPr txBox="1"/>
          <p:nvPr/>
        </p:nvSpPr>
        <p:spPr>
          <a:xfrm>
            <a:off x="552272" y="3534267"/>
            <a:ext cx="6095288" cy="369332"/>
          </a:xfrm>
          <a:prstGeom prst="rect">
            <a:avLst/>
          </a:prstGeom>
          <a:noFill/>
        </p:spPr>
        <p:txBody>
          <a:bodyPr wrap="square">
            <a:spAutoFit/>
          </a:bodyPr>
          <a:lstStyle/>
          <a:p>
            <a:r>
              <a:rPr lang="en-US" dirty="0"/>
              <a:t>IL_LA_MVR_68</a:t>
            </a:r>
          </a:p>
        </p:txBody>
      </p:sp>
      <p:pic>
        <p:nvPicPr>
          <p:cNvPr id="18" name="Picture 17" descr="A close-up of a curved object&#10;&#10;AI-generated content may be incorrect.">
            <a:extLst>
              <a:ext uri="{FF2B5EF4-FFF2-40B4-BE49-F238E27FC236}">
                <a16:creationId xmlns:a16="http://schemas.microsoft.com/office/drawing/2014/main" id="{19376E80-E553-8047-DBBB-02CFD083B8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0004" y="1341690"/>
            <a:ext cx="1903939" cy="3629140"/>
          </a:xfrm>
          <a:prstGeom prst="rect">
            <a:avLst/>
          </a:prstGeom>
        </p:spPr>
      </p:pic>
      <p:sp>
        <p:nvSpPr>
          <p:cNvPr id="20" name="TextBox 19">
            <a:extLst>
              <a:ext uri="{FF2B5EF4-FFF2-40B4-BE49-F238E27FC236}">
                <a16:creationId xmlns:a16="http://schemas.microsoft.com/office/drawing/2014/main" id="{1EEDE688-0A61-C5AA-7C62-0E7CDB136C06}"/>
              </a:ext>
            </a:extLst>
          </p:cNvPr>
          <p:cNvSpPr txBox="1"/>
          <p:nvPr/>
        </p:nvSpPr>
        <p:spPr>
          <a:xfrm>
            <a:off x="5735296" y="4970830"/>
            <a:ext cx="1998647" cy="369332"/>
          </a:xfrm>
          <a:prstGeom prst="rect">
            <a:avLst/>
          </a:prstGeom>
          <a:noFill/>
        </p:spPr>
        <p:txBody>
          <a:bodyPr wrap="square">
            <a:spAutoFit/>
          </a:bodyPr>
          <a:lstStyle/>
          <a:p>
            <a:r>
              <a:rPr lang="en-US" dirty="0"/>
              <a:t>IL_PE_MVR_2</a:t>
            </a:r>
          </a:p>
        </p:txBody>
      </p:sp>
      <p:pic>
        <p:nvPicPr>
          <p:cNvPr id="26" name="Picture 25" descr="A tiger walking on a black background&#10;&#10;AI-generated content may be incorrect.">
            <a:extLst>
              <a:ext uri="{FF2B5EF4-FFF2-40B4-BE49-F238E27FC236}">
                <a16:creationId xmlns:a16="http://schemas.microsoft.com/office/drawing/2014/main" id="{309727C9-EF90-F297-CE1A-DD9613C68A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6134" y="4197947"/>
            <a:ext cx="3916513" cy="1227564"/>
          </a:xfrm>
          <a:prstGeom prst="rect">
            <a:avLst/>
          </a:prstGeom>
        </p:spPr>
      </p:pic>
      <p:sp>
        <p:nvSpPr>
          <p:cNvPr id="28" name="TextBox 27">
            <a:extLst>
              <a:ext uri="{FF2B5EF4-FFF2-40B4-BE49-F238E27FC236}">
                <a16:creationId xmlns:a16="http://schemas.microsoft.com/office/drawing/2014/main" id="{3624AC67-DCAC-F8E0-560F-4719216CA53D}"/>
              </a:ext>
            </a:extLst>
          </p:cNvPr>
          <p:cNvSpPr txBox="1"/>
          <p:nvPr/>
        </p:nvSpPr>
        <p:spPr>
          <a:xfrm>
            <a:off x="817191" y="5425511"/>
            <a:ext cx="6095288" cy="369332"/>
          </a:xfrm>
          <a:prstGeom prst="rect">
            <a:avLst/>
          </a:prstGeom>
          <a:noFill/>
        </p:spPr>
        <p:txBody>
          <a:bodyPr wrap="square">
            <a:spAutoFit/>
          </a:bodyPr>
          <a:lstStyle/>
          <a:p>
            <a:r>
              <a:rPr lang="en-US" dirty="0"/>
              <a:t>UM_16_MVR_25</a:t>
            </a:r>
          </a:p>
        </p:txBody>
      </p:sp>
    </p:spTree>
    <p:extLst>
      <p:ext uri="{BB962C8B-B14F-4D97-AF65-F5344CB8AC3E}">
        <p14:creationId xmlns:p14="http://schemas.microsoft.com/office/powerpoint/2010/main" val="1762898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71255-8C71-BE3A-B348-C82A4F15C7FB}"/>
              </a:ext>
            </a:extLst>
          </p:cNvPr>
          <p:cNvSpPr>
            <a:spLocks noGrp="1"/>
          </p:cNvSpPr>
          <p:nvPr>
            <p:ph type="title"/>
          </p:nvPr>
        </p:nvSpPr>
        <p:spPr>
          <a:xfrm>
            <a:off x="1820007" y="645018"/>
            <a:ext cx="9814775" cy="752960"/>
          </a:xfrm>
        </p:spPr>
        <p:txBody>
          <a:bodyPr/>
          <a:lstStyle/>
          <a:p>
            <a:r>
              <a:rPr lang="en-US" sz="3600" dirty="0"/>
              <a:t>Long Short-Term Memory Model (LSTM)</a:t>
            </a:r>
          </a:p>
        </p:txBody>
      </p:sp>
      <p:sp>
        <p:nvSpPr>
          <p:cNvPr id="3" name="Content Placeholder 2">
            <a:extLst>
              <a:ext uri="{FF2B5EF4-FFF2-40B4-BE49-F238E27FC236}">
                <a16:creationId xmlns:a16="http://schemas.microsoft.com/office/drawing/2014/main" id="{2A79F90A-5D85-DD7F-36A5-6B82637A5ED8}"/>
              </a:ext>
            </a:extLst>
          </p:cNvPr>
          <p:cNvSpPr>
            <a:spLocks noGrp="1"/>
          </p:cNvSpPr>
          <p:nvPr>
            <p:ph idx="1"/>
          </p:nvPr>
        </p:nvSpPr>
        <p:spPr>
          <a:xfrm>
            <a:off x="210832" y="1725655"/>
            <a:ext cx="11770336" cy="4032066"/>
          </a:xfrm>
        </p:spPr>
        <p:txBody>
          <a:bodyPr/>
          <a:lstStyle/>
          <a:p>
            <a:r>
              <a:rPr lang="en-US" dirty="0"/>
              <a:t>Can set “lookback” windows to determine how far model looks back in time to generate output</a:t>
            </a:r>
          </a:p>
          <a:p>
            <a:r>
              <a:rPr lang="en-US" dirty="0"/>
              <a:t>Can adjust forecasting range: next day, 14 days, 120 days….</a:t>
            </a:r>
          </a:p>
          <a:p>
            <a:endParaRPr lang="en-US" dirty="0"/>
          </a:p>
          <a:p>
            <a:r>
              <a:rPr lang="en-US" dirty="0"/>
              <a:t>Model is able to retain both short and long-term context</a:t>
            </a:r>
          </a:p>
          <a:p>
            <a:pPr lvl="1"/>
            <a:r>
              <a:rPr lang="en-US" dirty="0"/>
              <a:t> It remembers things and uses it to forecast</a:t>
            </a:r>
          </a:p>
          <a:p>
            <a:pPr lvl="1"/>
            <a:endParaRPr lang="en-US" dirty="0"/>
          </a:p>
          <a:p>
            <a:r>
              <a:rPr lang="en-US" dirty="0"/>
              <a:t>One of the best deep learning approaches for modeling tasks where context matters</a:t>
            </a:r>
          </a:p>
          <a:p>
            <a:endParaRPr lang="en-US" dirty="0"/>
          </a:p>
        </p:txBody>
      </p:sp>
    </p:spTree>
    <p:extLst>
      <p:ext uri="{BB962C8B-B14F-4D97-AF65-F5344CB8AC3E}">
        <p14:creationId xmlns:p14="http://schemas.microsoft.com/office/powerpoint/2010/main" val="3799834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No description has been provided for this image">
            <a:extLst>
              <a:ext uri="{FF2B5EF4-FFF2-40B4-BE49-F238E27FC236}">
                <a16:creationId xmlns:a16="http://schemas.microsoft.com/office/drawing/2014/main" id="{9ED773F7-40FC-8BDC-1F6E-FE377E456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003" y="1735184"/>
            <a:ext cx="6046304" cy="36021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AE6A8EB-247B-1F85-1DD8-9B6D3BD08BCE}"/>
              </a:ext>
            </a:extLst>
          </p:cNvPr>
          <p:cNvSpPr txBox="1"/>
          <p:nvPr/>
        </p:nvSpPr>
        <p:spPr>
          <a:xfrm>
            <a:off x="205884" y="1823009"/>
            <a:ext cx="5695420" cy="4524315"/>
          </a:xfrm>
          <a:prstGeom prst="rect">
            <a:avLst/>
          </a:prstGeom>
          <a:noFill/>
        </p:spPr>
        <p:txBody>
          <a:bodyPr wrap="square" rtlCol="0">
            <a:spAutoFit/>
          </a:bodyPr>
          <a:lstStyle/>
          <a:p>
            <a:pPr marL="285750" indent="-285750">
              <a:buFont typeface="Arial" panose="020B0604020202020204" pitchFamily="34" charset="0"/>
              <a:buChar char="•"/>
            </a:pPr>
            <a:r>
              <a:rPr lang="en-US" dirty="0"/>
              <a:t>Gate mechanisms control how much context is carried forward through the model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Forget Gate </a:t>
            </a:r>
            <a:r>
              <a:rPr lang="en-US" dirty="0"/>
              <a:t>– Tells the model to forget context from memory cell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Input Gate </a:t>
            </a:r>
            <a:r>
              <a:rPr lang="en-US" dirty="0"/>
              <a:t>– Controls how much context is passed into the memory cell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Output Gate </a:t>
            </a:r>
            <a:r>
              <a:rPr lang="en-US" dirty="0"/>
              <a:t>– Controls how much context is in output in the prediction</a:t>
            </a:r>
          </a:p>
          <a:p>
            <a:pPr marL="285750" indent="-285750">
              <a:buFont typeface="Arial" panose="020B0604020202020204" pitchFamily="34" charset="0"/>
              <a:buChar char="•"/>
            </a:pPr>
            <a:endParaRPr lang="en-US" dirty="0"/>
          </a:p>
          <a:p>
            <a:r>
              <a:rPr lang="en-US" dirty="0"/>
              <a:t>Think of each gate as Gandalf on the Moira Bridge when standing against the Balrog -  YOU SHALL NOT PASS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5B9E5549-ACFA-CBB3-309D-AB18152743DC}"/>
              </a:ext>
            </a:extLst>
          </p:cNvPr>
          <p:cNvSpPr txBox="1"/>
          <p:nvPr/>
        </p:nvSpPr>
        <p:spPr>
          <a:xfrm>
            <a:off x="2195501" y="683093"/>
            <a:ext cx="8299939" cy="584775"/>
          </a:xfrm>
          <a:prstGeom prst="rect">
            <a:avLst/>
          </a:prstGeom>
          <a:noFill/>
        </p:spPr>
        <p:txBody>
          <a:bodyPr wrap="square" rtlCol="0">
            <a:spAutoFit/>
          </a:bodyPr>
          <a:lstStyle/>
          <a:p>
            <a:r>
              <a:rPr lang="en-US" sz="3200" b="1" dirty="0"/>
              <a:t>Overview of LSTM Gating Mechanisms </a:t>
            </a:r>
          </a:p>
        </p:txBody>
      </p:sp>
      <p:pic>
        <p:nvPicPr>
          <p:cNvPr id="7" name="Picture 6">
            <a:extLst>
              <a:ext uri="{FF2B5EF4-FFF2-40B4-BE49-F238E27FC236}">
                <a16:creationId xmlns:a16="http://schemas.microsoft.com/office/drawing/2014/main" id="{656F0D38-E917-AF8E-8796-B2E5AE4A6939}"/>
              </a:ext>
            </a:extLst>
          </p:cNvPr>
          <p:cNvPicPr>
            <a:picLocks noChangeAspect="1"/>
          </p:cNvPicPr>
          <p:nvPr/>
        </p:nvPicPr>
        <p:blipFill>
          <a:blip r:embed="rId3"/>
          <a:stretch>
            <a:fillRect/>
          </a:stretch>
        </p:blipFill>
        <p:spPr>
          <a:xfrm>
            <a:off x="8876337" y="4962915"/>
            <a:ext cx="3238206" cy="1822177"/>
          </a:xfrm>
          <a:prstGeom prst="rect">
            <a:avLst/>
          </a:prstGeom>
        </p:spPr>
      </p:pic>
    </p:spTree>
    <p:extLst>
      <p:ext uri="{BB962C8B-B14F-4D97-AF65-F5344CB8AC3E}">
        <p14:creationId xmlns:p14="http://schemas.microsoft.com/office/powerpoint/2010/main" val="3907226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BB51C-8859-1534-873B-54B6526CD95F}"/>
              </a:ext>
            </a:extLst>
          </p:cNvPr>
          <p:cNvSpPr>
            <a:spLocks noGrp="1"/>
          </p:cNvSpPr>
          <p:nvPr>
            <p:ph type="title"/>
          </p:nvPr>
        </p:nvSpPr>
        <p:spPr/>
        <p:txBody>
          <a:bodyPr/>
          <a:lstStyle/>
          <a:p>
            <a:r>
              <a:rPr lang="en-US" dirty="0"/>
              <a:t>Convolutional Neural Network</a:t>
            </a:r>
          </a:p>
        </p:txBody>
      </p:sp>
      <p:sp>
        <p:nvSpPr>
          <p:cNvPr id="3" name="Content Placeholder 2">
            <a:extLst>
              <a:ext uri="{FF2B5EF4-FFF2-40B4-BE49-F238E27FC236}">
                <a16:creationId xmlns:a16="http://schemas.microsoft.com/office/drawing/2014/main" id="{13C0E202-7F4F-ADCE-605C-ECE0CEC3E39F}"/>
              </a:ext>
            </a:extLst>
          </p:cNvPr>
          <p:cNvSpPr>
            <a:spLocks noGrp="1"/>
          </p:cNvSpPr>
          <p:nvPr>
            <p:ph idx="1"/>
          </p:nvPr>
        </p:nvSpPr>
        <p:spPr>
          <a:xfrm>
            <a:off x="1687662" y="1237475"/>
            <a:ext cx="8525304" cy="2102185"/>
          </a:xfrm>
        </p:spPr>
        <p:txBody>
          <a:bodyPr/>
          <a:lstStyle/>
          <a:p>
            <a:r>
              <a:rPr lang="en-US" dirty="0"/>
              <a:t>Type of deep learning that works well with image data</a:t>
            </a:r>
          </a:p>
          <a:p>
            <a:r>
              <a:rPr lang="en-US" dirty="0"/>
              <a:t>Ideal for spatial pattern recognition</a:t>
            </a:r>
          </a:p>
          <a:p>
            <a:r>
              <a:rPr lang="en-US" dirty="0"/>
              <a:t>Feature segmentation</a:t>
            </a:r>
          </a:p>
          <a:p>
            <a:r>
              <a:rPr lang="en-US" dirty="0"/>
              <a:t>Edge detection </a:t>
            </a:r>
          </a:p>
        </p:txBody>
      </p:sp>
      <p:pic>
        <p:nvPicPr>
          <p:cNvPr id="9" name="Content Placeholder 10" descr="A close-up of a comet&#10;&#10;AI-generated content may be incorrect.">
            <a:extLst>
              <a:ext uri="{FF2B5EF4-FFF2-40B4-BE49-F238E27FC236}">
                <a16:creationId xmlns:a16="http://schemas.microsoft.com/office/drawing/2014/main" id="{9C0DB31E-2474-8623-2512-DCDAC68532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399" y="3748654"/>
            <a:ext cx="2053972" cy="610966"/>
          </a:xfrm>
          <a:prstGeom prst="rect">
            <a:avLst/>
          </a:prstGeom>
        </p:spPr>
      </p:pic>
      <p:pic>
        <p:nvPicPr>
          <p:cNvPr id="10" name="Picture 9" descr="A white brush stroke on a black background&#10;&#10;AI-generated content may be incorrect.">
            <a:extLst>
              <a:ext uri="{FF2B5EF4-FFF2-40B4-BE49-F238E27FC236}">
                <a16:creationId xmlns:a16="http://schemas.microsoft.com/office/drawing/2014/main" id="{B1480B7A-D52F-3FBE-1B29-DA317B5D59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3850" y="4400279"/>
            <a:ext cx="1092494" cy="1458920"/>
          </a:xfrm>
          <a:prstGeom prst="rect">
            <a:avLst/>
          </a:prstGeom>
        </p:spPr>
      </p:pic>
      <p:pic>
        <p:nvPicPr>
          <p:cNvPr id="11" name="Picture 10" descr="A tiger walking on a black background&#10;&#10;AI-generated content may be incorrect.">
            <a:extLst>
              <a:ext uri="{FF2B5EF4-FFF2-40B4-BE49-F238E27FC236}">
                <a16:creationId xmlns:a16="http://schemas.microsoft.com/office/drawing/2014/main" id="{454C49C7-1DB5-C514-50B4-FEDA64EB12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236" y="4683152"/>
            <a:ext cx="1842307" cy="577440"/>
          </a:xfrm>
          <a:prstGeom prst="rect">
            <a:avLst/>
          </a:prstGeom>
        </p:spPr>
      </p:pic>
      <p:grpSp>
        <p:nvGrpSpPr>
          <p:cNvPr id="20" name="Group 19">
            <a:extLst>
              <a:ext uri="{FF2B5EF4-FFF2-40B4-BE49-F238E27FC236}">
                <a16:creationId xmlns:a16="http://schemas.microsoft.com/office/drawing/2014/main" id="{E626345C-BFFB-1568-2A3F-F99A76F733B8}"/>
              </a:ext>
            </a:extLst>
          </p:cNvPr>
          <p:cNvGrpSpPr/>
          <p:nvPr/>
        </p:nvGrpSpPr>
        <p:grpSpPr>
          <a:xfrm>
            <a:off x="4170679" y="3973577"/>
            <a:ext cx="1191560" cy="1127551"/>
            <a:chOff x="5739785" y="3912338"/>
            <a:chExt cx="1191560" cy="1127551"/>
          </a:xfrm>
        </p:grpSpPr>
        <p:sp>
          <p:nvSpPr>
            <p:cNvPr id="12" name="Rectangle 11">
              <a:extLst>
                <a:ext uri="{FF2B5EF4-FFF2-40B4-BE49-F238E27FC236}">
                  <a16:creationId xmlns:a16="http://schemas.microsoft.com/office/drawing/2014/main" id="{2E5D9FD5-0579-4A90-81A5-DA6DF46E15F4}"/>
                </a:ext>
              </a:extLst>
            </p:cNvPr>
            <p:cNvSpPr/>
            <p:nvPr/>
          </p:nvSpPr>
          <p:spPr>
            <a:xfrm>
              <a:off x="5739785" y="3912338"/>
              <a:ext cx="648639" cy="6109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B268BBC-9015-5C86-3459-D0A1FEF14700}"/>
                </a:ext>
              </a:extLst>
            </p:cNvPr>
            <p:cNvSpPr/>
            <p:nvPr/>
          </p:nvSpPr>
          <p:spPr>
            <a:xfrm>
              <a:off x="5815985" y="3988538"/>
              <a:ext cx="648639" cy="6109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C97BB8C-3DC1-D192-5D20-6939EA51AF92}"/>
                </a:ext>
              </a:extLst>
            </p:cNvPr>
            <p:cNvSpPr/>
            <p:nvPr/>
          </p:nvSpPr>
          <p:spPr>
            <a:xfrm>
              <a:off x="5930285" y="4102838"/>
              <a:ext cx="648639" cy="6109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E7A1CAB-C942-1C70-0FA4-49B826B76EEC}"/>
                </a:ext>
              </a:extLst>
            </p:cNvPr>
            <p:cNvSpPr/>
            <p:nvPr/>
          </p:nvSpPr>
          <p:spPr>
            <a:xfrm>
              <a:off x="6044585" y="4193618"/>
              <a:ext cx="648639" cy="6109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2525499-A46D-83F4-34D2-BE025046D221}"/>
                </a:ext>
              </a:extLst>
            </p:cNvPr>
            <p:cNvSpPr/>
            <p:nvPr/>
          </p:nvSpPr>
          <p:spPr>
            <a:xfrm>
              <a:off x="6161399" y="4308601"/>
              <a:ext cx="648639" cy="6109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A700286-D62D-05FD-793B-FF6579D43DC0}"/>
                </a:ext>
              </a:extLst>
            </p:cNvPr>
            <p:cNvSpPr/>
            <p:nvPr/>
          </p:nvSpPr>
          <p:spPr>
            <a:xfrm>
              <a:off x="6282706" y="4428923"/>
              <a:ext cx="648639" cy="6109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32EF624D-40A0-2232-1CCE-EDB6848E24A9}"/>
              </a:ext>
            </a:extLst>
          </p:cNvPr>
          <p:cNvSpPr txBox="1"/>
          <p:nvPr/>
        </p:nvSpPr>
        <p:spPr>
          <a:xfrm>
            <a:off x="482837" y="3290838"/>
            <a:ext cx="1424869" cy="369332"/>
          </a:xfrm>
          <a:prstGeom prst="rect">
            <a:avLst/>
          </a:prstGeom>
          <a:noFill/>
        </p:spPr>
        <p:txBody>
          <a:bodyPr wrap="square" rtlCol="0">
            <a:spAutoFit/>
          </a:bodyPr>
          <a:lstStyle/>
          <a:p>
            <a:r>
              <a:rPr lang="en-US" dirty="0"/>
              <a:t>Input</a:t>
            </a:r>
          </a:p>
        </p:txBody>
      </p:sp>
      <p:sp>
        <p:nvSpPr>
          <p:cNvPr id="19" name="TextBox 18">
            <a:extLst>
              <a:ext uri="{FF2B5EF4-FFF2-40B4-BE49-F238E27FC236}">
                <a16:creationId xmlns:a16="http://schemas.microsoft.com/office/drawing/2014/main" id="{181F73B3-18ED-7F78-BB3D-03A844E101F6}"/>
              </a:ext>
            </a:extLst>
          </p:cNvPr>
          <p:cNvSpPr txBox="1"/>
          <p:nvPr/>
        </p:nvSpPr>
        <p:spPr>
          <a:xfrm>
            <a:off x="3879858" y="3350021"/>
            <a:ext cx="1424869" cy="369332"/>
          </a:xfrm>
          <a:prstGeom prst="rect">
            <a:avLst/>
          </a:prstGeom>
          <a:noFill/>
        </p:spPr>
        <p:txBody>
          <a:bodyPr wrap="square" rtlCol="0">
            <a:spAutoFit/>
          </a:bodyPr>
          <a:lstStyle/>
          <a:p>
            <a:r>
              <a:rPr lang="en-US" dirty="0"/>
              <a:t>Convolution</a:t>
            </a:r>
          </a:p>
        </p:txBody>
      </p:sp>
      <p:grpSp>
        <p:nvGrpSpPr>
          <p:cNvPr id="21" name="Group 20">
            <a:extLst>
              <a:ext uri="{FF2B5EF4-FFF2-40B4-BE49-F238E27FC236}">
                <a16:creationId xmlns:a16="http://schemas.microsoft.com/office/drawing/2014/main" id="{33E3E756-E2A4-7530-D55A-93F46961F4EE}"/>
              </a:ext>
            </a:extLst>
          </p:cNvPr>
          <p:cNvGrpSpPr/>
          <p:nvPr/>
        </p:nvGrpSpPr>
        <p:grpSpPr>
          <a:xfrm>
            <a:off x="5850627" y="3926386"/>
            <a:ext cx="1191560" cy="1127551"/>
            <a:chOff x="5739785" y="3912338"/>
            <a:chExt cx="1191560" cy="1127551"/>
          </a:xfrm>
          <a:solidFill>
            <a:schemeClr val="accent6">
              <a:lumMod val="60000"/>
              <a:lumOff val="40000"/>
            </a:schemeClr>
          </a:solidFill>
        </p:grpSpPr>
        <p:sp>
          <p:nvSpPr>
            <p:cNvPr id="22" name="Rectangle 21">
              <a:extLst>
                <a:ext uri="{FF2B5EF4-FFF2-40B4-BE49-F238E27FC236}">
                  <a16:creationId xmlns:a16="http://schemas.microsoft.com/office/drawing/2014/main" id="{8C1E36A6-3ACD-57CB-02E3-9C4CBAD34CE0}"/>
                </a:ext>
              </a:extLst>
            </p:cNvPr>
            <p:cNvSpPr/>
            <p:nvPr/>
          </p:nvSpPr>
          <p:spPr>
            <a:xfrm>
              <a:off x="5739785" y="3912338"/>
              <a:ext cx="648639" cy="61096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022399D-01D2-EA50-8D35-FE2105780E5F}"/>
                </a:ext>
              </a:extLst>
            </p:cNvPr>
            <p:cNvSpPr/>
            <p:nvPr/>
          </p:nvSpPr>
          <p:spPr>
            <a:xfrm>
              <a:off x="5815985" y="3988538"/>
              <a:ext cx="648639" cy="61096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99E5025-CFF8-0012-3FC9-C424CC1CC281}"/>
                </a:ext>
              </a:extLst>
            </p:cNvPr>
            <p:cNvSpPr/>
            <p:nvPr/>
          </p:nvSpPr>
          <p:spPr>
            <a:xfrm>
              <a:off x="5930285" y="4102838"/>
              <a:ext cx="648639" cy="61096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6DC3695-9965-956D-6841-0DF62E3DFD59}"/>
                </a:ext>
              </a:extLst>
            </p:cNvPr>
            <p:cNvSpPr/>
            <p:nvPr/>
          </p:nvSpPr>
          <p:spPr>
            <a:xfrm>
              <a:off x="6044585" y="4193618"/>
              <a:ext cx="648639" cy="61096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0AECAA6-D5FD-EB66-1749-5B7DB332F55C}"/>
                </a:ext>
              </a:extLst>
            </p:cNvPr>
            <p:cNvSpPr/>
            <p:nvPr/>
          </p:nvSpPr>
          <p:spPr>
            <a:xfrm>
              <a:off x="6161399" y="4308601"/>
              <a:ext cx="648639" cy="61096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2302021-584D-E6F6-9D81-211EF3ED90F5}"/>
                </a:ext>
              </a:extLst>
            </p:cNvPr>
            <p:cNvSpPr/>
            <p:nvPr/>
          </p:nvSpPr>
          <p:spPr>
            <a:xfrm>
              <a:off x="6282706" y="4428923"/>
              <a:ext cx="648639" cy="61096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87A754F1-D040-3BA9-5D1D-4B2F33D88CA1}"/>
              </a:ext>
            </a:extLst>
          </p:cNvPr>
          <p:cNvSpPr txBox="1"/>
          <p:nvPr/>
        </p:nvSpPr>
        <p:spPr>
          <a:xfrm>
            <a:off x="5822754" y="3312297"/>
            <a:ext cx="1424869" cy="369332"/>
          </a:xfrm>
          <a:prstGeom prst="rect">
            <a:avLst/>
          </a:prstGeom>
          <a:noFill/>
        </p:spPr>
        <p:txBody>
          <a:bodyPr wrap="square" rtlCol="0">
            <a:spAutoFit/>
          </a:bodyPr>
          <a:lstStyle/>
          <a:p>
            <a:r>
              <a:rPr lang="en-US" dirty="0"/>
              <a:t>Pooling</a:t>
            </a:r>
          </a:p>
        </p:txBody>
      </p:sp>
      <p:grpSp>
        <p:nvGrpSpPr>
          <p:cNvPr id="34" name="Group 33">
            <a:extLst>
              <a:ext uri="{FF2B5EF4-FFF2-40B4-BE49-F238E27FC236}">
                <a16:creationId xmlns:a16="http://schemas.microsoft.com/office/drawing/2014/main" id="{9D669C19-6E3F-9902-86AF-D54A10973A86}"/>
              </a:ext>
            </a:extLst>
          </p:cNvPr>
          <p:cNvGrpSpPr/>
          <p:nvPr/>
        </p:nvGrpSpPr>
        <p:grpSpPr>
          <a:xfrm>
            <a:off x="7896170" y="3829221"/>
            <a:ext cx="354651" cy="2303169"/>
            <a:chOff x="7883495" y="3506440"/>
            <a:chExt cx="354651" cy="2303169"/>
          </a:xfrm>
          <a:solidFill>
            <a:schemeClr val="accent2">
              <a:lumMod val="75000"/>
            </a:schemeClr>
          </a:solidFill>
        </p:grpSpPr>
        <p:sp>
          <p:nvSpPr>
            <p:cNvPr id="29" name="Oval 28">
              <a:extLst>
                <a:ext uri="{FF2B5EF4-FFF2-40B4-BE49-F238E27FC236}">
                  <a16:creationId xmlns:a16="http://schemas.microsoft.com/office/drawing/2014/main" id="{8570E0F7-38CC-BF36-5DCC-21AC3EEF9F40}"/>
                </a:ext>
              </a:extLst>
            </p:cNvPr>
            <p:cNvSpPr/>
            <p:nvPr/>
          </p:nvSpPr>
          <p:spPr>
            <a:xfrm>
              <a:off x="7883495" y="3506440"/>
              <a:ext cx="350378" cy="35037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16B53D21-1473-251D-FDF6-D0469B1FF963}"/>
                </a:ext>
              </a:extLst>
            </p:cNvPr>
            <p:cNvSpPr/>
            <p:nvPr/>
          </p:nvSpPr>
          <p:spPr>
            <a:xfrm>
              <a:off x="7883495" y="3963640"/>
              <a:ext cx="350378" cy="35037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8A4F928-FDCD-C227-A705-240F48B94CCE}"/>
                </a:ext>
              </a:extLst>
            </p:cNvPr>
            <p:cNvSpPr/>
            <p:nvPr/>
          </p:nvSpPr>
          <p:spPr>
            <a:xfrm>
              <a:off x="7883495" y="4442971"/>
              <a:ext cx="350378" cy="35037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6D88B8B-4EF4-1EA3-0F6F-E3CBE74E4AAD}"/>
                </a:ext>
              </a:extLst>
            </p:cNvPr>
            <p:cNvSpPr/>
            <p:nvPr/>
          </p:nvSpPr>
          <p:spPr>
            <a:xfrm>
              <a:off x="7883495" y="5459231"/>
              <a:ext cx="350378" cy="35037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DB1BB7A-6003-0355-4E69-ABC380618EA3}"/>
                </a:ext>
              </a:extLst>
            </p:cNvPr>
            <p:cNvSpPr/>
            <p:nvPr/>
          </p:nvSpPr>
          <p:spPr>
            <a:xfrm>
              <a:off x="7887768" y="4922302"/>
              <a:ext cx="350378" cy="35037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TextBox 34">
            <a:extLst>
              <a:ext uri="{FF2B5EF4-FFF2-40B4-BE49-F238E27FC236}">
                <a16:creationId xmlns:a16="http://schemas.microsoft.com/office/drawing/2014/main" id="{10BCF410-C2DC-6900-2B8D-F97BB9CF3519}"/>
              </a:ext>
            </a:extLst>
          </p:cNvPr>
          <p:cNvSpPr txBox="1"/>
          <p:nvPr/>
        </p:nvSpPr>
        <p:spPr>
          <a:xfrm>
            <a:off x="7247623" y="3290838"/>
            <a:ext cx="2267113" cy="369332"/>
          </a:xfrm>
          <a:prstGeom prst="rect">
            <a:avLst/>
          </a:prstGeom>
          <a:noFill/>
        </p:spPr>
        <p:txBody>
          <a:bodyPr wrap="square" rtlCol="0">
            <a:spAutoFit/>
          </a:bodyPr>
          <a:lstStyle/>
          <a:p>
            <a:r>
              <a:rPr lang="en-US" dirty="0"/>
              <a:t>Fully Connected Layer</a:t>
            </a:r>
          </a:p>
        </p:txBody>
      </p:sp>
      <p:sp>
        <p:nvSpPr>
          <p:cNvPr id="36" name="Oval 35">
            <a:extLst>
              <a:ext uri="{FF2B5EF4-FFF2-40B4-BE49-F238E27FC236}">
                <a16:creationId xmlns:a16="http://schemas.microsoft.com/office/drawing/2014/main" id="{5684A81D-5EC9-D8E0-2DFF-91E6B269E2D3}"/>
              </a:ext>
            </a:extLst>
          </p:cNvPr>
          <p:cNvSpPr/>
          <p:nvPr/>
        </p:nvSpPr>
        <p:spPr>
          <a:xfrm>
            <a:off x="11463088" y="4971872"/>
            <a:ext cx="350378" cy="350378"/>
          </a:xfrm>
          <a:prstGeom prst="ellips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F597C55-367A-4149-BF65-B40259CE2307}"/>
              </a:ext>
            </a:extLst>
          </p:cNvPr>
          <p:cNvSpPr/>
          <p:nvPr/>
        </p:nvSpPr>
        <p:spPr>
          <a:xfrm>
            <a:off x="11474009" y="4163760"/>
            <a:ext cx="350378" cy="350378"/>
          </a:xfrm>
          <a:prstGeom prst="ellips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5A5A1C44-F932-C065-A808-167734F292EE}"/>
              </a:ext>
            </a:extLst>
          </p:cNvPr>
          <p:cNvCxnSpPr>
            <a:cxnSpLocks/>
            <a:stCxn id="29" idx="6"/>
            <a:endCxn id="36" idx="2"/>
          </p:cNvCxnSpPr>
          <p:nvPr/>
        </p:nvCxnSpPr>
        <p:spPr>
          <a:xfrm>
            <a:off x="8246548" y="4004410"/>
            <a:ext cx="3216540" cy="1142651"/>
          </a:xfrm>
          <a:prstGeom prst="line">
            <a:avLst/>
          </a:prstGeom>
          <a:ln w="28575">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432866C-A921-7897-D8FB-DD163BE4D25F}"/>
              </a:ext>
            </a:extLst>
          </p:cNvPr>
          <p:cNvCxnSpPr>
            <a:cxnSpLocks/>
            <a:stCxn id="30" idx="6"/>
            <a:endCxn id="36" idx="2"/>
          </p:cNvCxnSpPr>
          <p:nvPr/>
        </p:nvCxnSpPr>
        <p:spPr>
          <a:xfrm>
            <a:off x="8246548" y="4461610"/>
            <a:ext cx="3216540" cy="685451"/>
          </a:xfrm>
          <a:prstGeom prst="line">
            <a:avLst/>
          </a:prstGeom>
          <a:ln w="28575">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C844FB3-432A-BEF6-BBA0-FC22DC47AAF7}"/>
              </a:ext>
            </a:extLst>
          </p:cNvPr>
          <p:cNvCxnSpPr>
            <a:cxnSpLocks/>
            <a:stCxn id="33" idx="6"/>
            <a:endCxn id="36" idx="2"/>
          </p:cNvCxnSpPr>
          <p:nvPr/>
        </p:nvCxnSpPr>
        <p:spPr>
          <a:xfrm flipV="1">
            <a:off x="8250821" y="5147061"/>
            <a:ext cx="3212267" cy="273211"/>
          </a:xfrm>
          <a:prstGeom prst="line">
            <a:avLst/>
          </a:prstGeom>
          <a:ln w="28575">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58B1A6B-99BD-09B0-3418-3F92E50F98DB}"/>
              </a:ext>
            </a:extLst>
          </p:cNvPr>
          <p:cNvCxnSpPr>
            <a:cxnSpLocks/>
            <a:stCxn id="31" idx="6"/>
            <a:endCxn id="36" idx="2"/>
          </p:cNvCxnSpPr>
          <p:nvPr/>
        </p:nvCxnSpPr>
        <p:spPr>
          <a:xfrm>
            <a:off x="8246548" y="4940941"/>
            <a:ext cx="3216540" cy="206120"/>
          </a:xfrm>
          <a:prstGeom prst="line">
            <a:avLst/>
          </a:prstGeom>
          <a:ln w="28575">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DA609D9-96E9-450E-A1BB-7AC573B6FFAC}"/>
              </a:ext>
            </a:extLst>
          </p:cNvPr>
          <p:cNvCxnSpPr>
            <a:cxnSpLocks/>
            <a:stCxn id="32" idx="6"/>
            <a:endCxn id="36" idx="2"/>
          </p:cNvCxnSpPr>
          <p:nvPr/>
        </p:nvCxnSpPr>
        <p:spPr>
          <a:xfrm flipV="1">
            <a:off x="8246548" y="5147061"/>
            <a:ext cx="3216540" cy="810140"/>
          </a:xfrm>
          <a:prstGeom prst="line">
            <a:avLst/>
          </a:prstGeom>
          <a:ln w="28575">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2655DF3-1636-4118-6167-F10382667BE4}"/>
              </a:ext>
            </a:extLst>
          </p:cNvPr>
          <p:cNvCxnSpPr>
            <a:cxnSpLocks/>
            <a:stCxn id="33" idx="6"/>
            <a:endCxn id="37" idx="2"/>
          </p:cNvCxnSpPr>
          <p:nvPr/>
        </p:nvCxnSpPr>
        <p:spPr>
          <a:xfrm flipV="1">
            <a:off x="8250821" y="4338949"/>
            <a:ext cx="3223188" cy="1081323"/>
          </a:xfrm>
          <a:prstGeom prst="line">
            <a:avLst/>
          </a:prstGeom>
          <a:ln w="28575">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F1B1157C-6C3C-3D63-781B-131F7F2E4787}"/>
              </a:ext>
            </a:extLst>
          </p:cNvPr>
          <p:cNvCxnSpPr>
            <a:cxnSpLocks/>
            <a:stCxn id="30" idx="6"/>
            <a:endCxn id="37" idx="2"/>
          </p:cNvCxnSpPr>
          <p:nvPr/>
        </p:nvCxnSpPr>
        <p:spPr>
          <a:xfrm flipV="1">
            <a:off x="8246548" y="4338949"/>
            <a:ext cx="3227461" cy="122661"/>
          </a:xfrm>
          <a:prstGeom prst="line">
            <a:avLst/>
          </a:prstGeom>
          <a:ln w="28575">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24529F7-06CF-6314-3813-3E0DC9878A66}"/>
              </a:ext>
            </a:extLst>
          </p:cNvPr>
          <p:cNvCxnSpPr>
            <a:cxnSpLocks/>
            <a:stCxn id="32" idx="6"/>
            <a:endCxn id="37" idx="2"/>
          </p:cNvCxnSpPr>
          <p:nvPr/>
        </p:nvCxnSpPr>
        <p:spPr>
          <a:xfrm flipV="1">
            <a:off x="8246548" y="4338949"/>
            <a:ext cx="3227461" cy="1618252"/>
          </a:xfrm>
          <a:prstGeom prst="line">
            <a:avLst/>
          </a:prstGeom>
          <a:ln w="28575">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6DC186F-3B72-BF3E-981C-A4B0D5B2F08A}"/>
              </a:ext>
            </a:extLst>
          </p:cNvPr>
          <p:cNvCxnSpPr>
            <a:cxnSpLocks/>
            <a:stCxn id="31" idx="6"/>
            <a:endCxn id="37" idx="2"/>
          </p:cNvCxnSpPr>
          <p:nvPr/>
        </p:nvCxnSpPr>
        <p:spPr>
          <a:xfrm flipV="1">
            <a:off x="8246548" y="4338949"/>
            <a:ext cx="3227461" cy="601992"/>
          </a:xfrm>
          <a:prstGeom prst="line">
            <a:avLst/>
          </a:prstGeom>
          <a:ln w="28575">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CE66B3E-1184-6004-57BE-069D1651105A}"/>
              </a:ext>
            </a:extLst>
          </p:cNvPr>
          <p:cNvCxnSpPr>
            <a:cxnSpLocks/>
            <a:stCxn id="29" idx="6"/>
            <a:endCxn id="37" idx="2"/>
          </p:cNvCxnSpPr>
          <p:nvPr/>
        </p:nvCxnSpPr>
        <p:spPr>
          <a:xfrm>
            <a:off x="8246548" y="4004410"/>
            <a:ext cx="3227461" cy="334539"/>
          </a:xfrm>
          <a:prstGeom prst="line">
            <a:avLst/>
          </a:prstGeom>
          <a:ln w="28575">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CE4EDD30-6282-6CA2-39B5-52BA3E417328}"/>
              </a:ext>
            </a:extLst>
          </p:cNvPr>
          <p:cNvSpPr txBox="1"/>
          <p:nvPr/>
        </p:nvSpPr>
        <p:spPr>
          <a:xfrm>
            <a:off x="11086703" y="3273338"/>
            <a:ext cx="1000493" cy="369332"/>
          </a:xfrm>
          <a:prstGeom prst="rect">
            <a:avLst/>
          </a:prstGeom>
          <a:noFill/>
        </p:spPr>
        <p:txBody>
          <a:bodyPr wrap="square" rtlCol="0">
            <a:spAutoFit/>
          </a:bodyPr>
          <a:lstStyle/>
          <a:p>
            <a:r>
              <a:rPr lang="en-US" dirty="0"/>
              <a:t>Output</a:t>
            </a:r>
          </a:p>
        </p:txBody>
      </p:sp>
      <p:sp>
        <p:nvSpPr>
          <p:cNvPr id="99" name="Left Bracket 98">
            <a:extLst>
              <a:ext uri="{FF2B5EF4-FFF2-40B4-BE49-F238E27FC236}">
                <a16:creationId xmlns:a16="http://schemas.microsoft.com/office/drawing/2014/main" id="{A1CF07D2-2ACC-0E37-235E-56FD13900A10}"/>
              </a:ext>
            </a:extLst>
          </p:cNvPr>
          <p:cNvSpPr/>
          <p:nvPr/>
        </p:nvSpPr>
        <p:spPr>
          <a:xfrm rot="16200000">
            <a:off x="4254573" y="3823757"/>
            <a:ext cx="304040" cy="4689176"/>
          </a:xfrm>
          <a:prstGeom prst="leftBracket">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0" name="Left Bracket 99">
            <a:extLst>
              <a:ext uri="{FF2B5EF4-FFF2-40B4-BE49-F238E27FC236}">
                <a16:creationId xmlns:a16="http://schemas.microsoft.com/office/drawing/2014/main" id="{029D937E-332D-94FB-7FDF-09568799CFDC}"/>
              </a:ext>
            </a:extLst>
          </p:cNvPr>
          <p:cNvSpPr/>
          <p:nvPr/>
        </p:nvSpPr>
        <p:spPr>
          <a:xfrm rot="16200000">
            <a:off x="9565284" y="3817161"/>
            <a:ext cx="304040" cy="4689176"/>
          </a:xfrm>
          <a:prstGeom prst="leftBracket">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TextBox 100">
            <a:extLst>
              <a:ext uri="{FF2B5EF4-FFF2-40B4-BE49-F238E27FC236}">
                <a16:creationId xmlns:a16="http://schemas.microsoft.com/office/drawing/2014/main" id="{996EAAB3-A0B0-43FB-68A5-182D17D451CB}"/>
              </a:ext>
            </a:extLst>
          </p:cNvPr>
          <p:cNvSpPr txBox="1"/>
          <p:nvPr/>
        </p:nvSpPr>
        <p:spPr>
          <a:xfrm>
            <a:off x="3584949" y="6412587"/>
            <a:ext cx="2307376" cy="369332"/>
          </a:xfrm>
          <a:prstGeom prst="rect">
            <a:avLst/>
          </a:prstGeom>
          <a:noFill/>
        </p:spPr>
        <p:txBody>
          <a:bodyPr wrap="square" rtlCol="0">
            <a:spAutoFit/>
          </a:bodyPr>
          <a:lstStyle/>
          <a:p>
            <a:r>
              <a:rPr lang="en-US" dirty="0"/>
              <a:t>Feature Extraction</a:t>
            </a:r>
          </a:p>
        </p:txBody>
      </p:sp>
      <p:sp>
        <p:nvSpPr>
          <p:cNvPr id="102" name="TextBox 101">
            <a:extLst>
              <a:ext uri="{FF2B5EF4-FFF2-40B4-BE49-F238E27FC236}">
                <a16:creationId xmlns:a16="http://schemas.microsoft.com/office/drawing/2014/main" id="{1EEB4562-94B7-E12D-D408-1BACA86D3414}"/>
              </a:ext>
            </a:extLst>
          </p:cNvPr>
          <p:cNvSpPr txBox="1"/>
          <p:nvPr/>
        </p:nvSpPr>
        <p:spPr>
          <a:xfrm>
            <a:off x="9059278" y="6356821"/>
            <a:ext cx="2307376" cy="369332"/>
          </a:xfrm>
          <a:prstGeom prst="rect">
            <a:avLst/>
          </a:prstGeom>
          <a:noFill/>
        </p:spPr>
        <p:txBody>
          <a:bodyPr wrap="square" rtlCol="0">
            <a:spAutoFit/>
          </a:bodyPr>
          <a:lstStyle/>
          <a:p>
            <a:r>
              <a:rPr lang="en-US" dirty="0"/>
              <a:t>Classification</a:t>
            </a:r>
          </a:p>
        </p:txBody>
      </p:sp>
    </p:spTree>
    <p:extLst>
      <p:ext uri="{BB962C8B-B14F-4D97-AF65-F5344CB8AC3E}">
        <p14:creationId xmlns:p14="http://schemas.microsoft.com/office/powerpoint/2010/main" val="3224048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1037C-9E8C-C69F-50B8-864FB7E1FBD6}"/>
              </a:ext>
            </a:extLst>
          </p:cNvPr>
          <p:cNvSpPr>
            <a:spLocks noGrp="1"/>
          </p:cNvSpPr>
          <p:nvPr>
            <p:ph type="title"/>
          </p:nvPr>
        </p:nvSpPr>
        <p:spPr/>
        <p:txBody>
          <a:bodyPr/>
          <a:lstStyle/>
          <a:p>
            <a:r>
              <a:rPr lang="en-US" dirty="0"/>
              <a:t>Another way to think about it…</a:t>
            </a:r>
          </a:p>
        </p:txBody>
      </p:sp>
      <p:pic>
        <p:nvPicPr>
          <p:cNvPr id="4" name="Content Placeholder 10" descr="A close-up of a comet&#10;&#10;AI-generated content may be incorrect.">
            <a:extLst>
              <a:ext uri="{FF2B5EF4-FFF2-40B4-BE49-F238E27FC236}">
                <a16:creationId xmlns:a16="http://schemas.microsoft.com/office/drawing/2014/main" id="{61DDF2B8-DB45-AFF9-8F4F-3D54D0180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7869" y="1951952"/>
            <a:ext cx="3577828" cy="1064246"/>
          </a:xfrm>
          <a:prstGeom prst="rect">
            <a:avLst/>
          </a:prstGeom>
        </p:spPr>
      </p:pic>
      <p:pic>
        <p:nvPicPr>
          <p:cNvPr id="5" name="Picture 4" descr="A white brush stroke on a black background&#10;&#10;AI-generated content may be incorrect.">
            <a:extLst>
              <a:ext uri="{FF2B5EF4-FFF2-40B4-BE49-F238E27FC236}">
                <a16:creationId xmlns:a16="http://schemas.microsoft.com/office/drawing/2014/main" id="{BE2B2A27-7DCB-B77D-6B29-0A8B034085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3253" y="1651495"/>
            <a:ext cx="2859713" cy="3818870"/>
          </a:xfrm>
          <a:prstGeom prst="rect">
            <a:avLst/>
          </a:prstGeom>
        </p:spPr>
      </p:pic>
      <p:pic>
        <p:nvPicPr>
          <p:cNvPr id="6" name="Picture 5" descr="A tiger walking on a black background&#10;&#10;AI-generated content may be incorrect.">
            <a:extLst>
              <a:ext uri="{FF2B5EF4-FFF2-40B4-BE49-F238E27FC236}">
                <a16:creationId xmlns:a16="http://schemas.microsoft.com/office/drawing/2014/main" id="{DA9034CA-2A6A-0493-F752-1DC3A1CC5E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3020" y="4033673"/>
            <a:ext cx="5221089" cy="1636462"/>
          </a:xfrm>
          <a:prstGeom prst="rect">
            <a:avLst/>
          </a:prstGeom>
        </p:spPr>
      </p:pic>
      <p:sp>
        <p:nvSpPr>
          <p:cNvPr id="7" name="Freeform: Shape 6">
            <a:extLst>
              <a:ext uri="{FF2B5EF4-FFF2-40B4-BE49-F238E27FC236}">
                <a16:creationId xmlns:a16="http://schemas.microsoft.com/office/drawing/2014/main" id="{8445F70D-6505-AF86-3162-5268ABC0BDD9}"/>
              </a:ext>
            </a:extLst>
          </p:cNvPr>
          <p:cNvSpPr/>
          <p:nvPr/>
        </p:nvSpPr>
        <p:spPr>
          <a:xfrm>
            <a:off x="4456553" y="2444097"/>
            <a:ext cx="1209309" cy="414471"/>
          </a:xfrm>
          <a:custGeom>
            <a:avLst/>
            <a:gdLst>
              <a:gd name="connsiteX0" fmla="*/ 4352 w 1209309"/>
              <a:gd name="connsiteY0" fmla="*/ 0 h 414471"/>
              <a:gd name="connsiteX1" fmla="*/ 4352 w 1209309"/>
              <a:gd name="connsiteY1" fmla="*/ 0 h 414471"/>
              <a:gd name="connsiteX2" fmla="*/ 8625 w 1209309"/>
              <a:gd name="connsiteY2" fmla="*/ 94004 h 414471"/>
              <a:gd name="connsiteX3" fmla="*/ 21443 w 1209309"/>
              <a:gd name="connsiteY3" fmla="*/ 111096 h 414471"/>
              <a:gd name="connsiteX4" fmla="*/ 55626 w 1209309"/>
              <a:gd name="connsiteY4" fmla="*/ 170916 h 414471"/>
              <a:gd name="connsiteX5" fmla="*/ 72718 w 1209309"/>
              <a:gd name="connsiteY5" fmla="*/ 183735 h 414471"/>
              <a:gd name="connsiteX6" fmla="*/ 136811 w 1209309"/>
              <a:gd name="connsiteY6" fmla="*/ 243555 h 414471"/>
              <a:gd name="connsiteX7" fmla="*/ 141084 w 1209309"/>
              <a:gd name="connsiteY7" fmla="*/ 222191 h 414471"/>
              <a:gd name="connsiteX8" fmla="*/ 166722 w 1209309"/>
              <a:gd name="connsiteY8" fmla="*/ 226464 h 414471"/>
              <a:gd name="connsiteX9" fmla="*/ 205178 w 1209309"/>
              <a:gd name="connsiteY9" fmla="*/ 235010 h 414471"/>
              <a:gd name="connsiteX10" fmla="*/ 256453 w 1209309"/>
              <a:gd name="connsiteY10" fmla="*/ 243555 h 414471"/>
              <a:gd name="connsiteX11" fmla="*/ 299182 w 1209309"/>
              <a:gd name="connsiteY11" fmla="*/ 256374 h 414471"/>
              <a:gd name="connsiteX12" fmla="*/ 324819 w 1209309"/>
              <a:gd name="connsiteY12" fmla="*/ 264920 h 414471"/>
              <a:gd name="connsiteX13" fmla="*/ 376094 w 1209309"/>
              <a:gd name="connsiteY13" fmla="*/ 290557 h 414471"/>
              <a:gd name="connsiteX14" fmla="*/ 474370 w 1209309"/>
              <a:gd name="connsiteY14" fmla="*/ 320467 h 414471"/>
              <a:gd name="connsiteX15" fmla="*/ 504281 w 1209309"/>
              <a:gd name="connsiteY15" fmla="*/ 324740 h 414471"/>
              <a:gd name="connsiteX16" fmla="*/ 547010 w 1209309"/>
              <a:gd name="connsiteY16" fmla="*/ 329013 h 414471"/>
              <a:gd name="connsiteX17" fmla="*/ 632468 w 1209309"/>
              <a:gd name="connsiteY17" fmla="*/ 346105 h 414471"/>
              <a:gd name="connsiteX18" fmla="*/ 679469 w 1209309"/>
              <a:gd name="connsiteY18" fmla="*/ 354651 h 414471"/>
              <a:gd name="connsiteX19" fmla="*/ 735017 w 1209309"/>
              <a:gd name="connsiteY19" fmla="*/ 363196 h 414471"/>
              <a:gd name="connsiteX20" fmla="*/ 888841 w 1209309"/>
              <a:gd name="connsiteY20" fmla="*/ 405925 h 414471"/>
              <a:gd name="connsiteX21" fmla="*/ 961481 w 1209309"/>
              <a:gd name="connsiteY21" fmla="*/ 414471 h 414471"/>
              <a:gd name="connsiteX22" fmla="*/ 1046939 w 1209309"/>
              <a:gd name="connsiteY22" fmla="*/ 401653 h 414471"/>
              <a:gd name="connsiteX23" fmla="*/ 1081122 w 1209309"/>
              <a:gd name="connsiteY23" fmla="*/ 393107 h 414471"/>
              <a:gd name="connsiteX24" fmla="*/ 1115305 w 1209309"/>
              <a:gd name="connsiteY24" fmla="*/ 376015 h 414471"/>
              <a:gd name="connsiteX25" fmla="*/ 1145215 w 1209309"/>
              <a:gd name="connsiteY25" fmla="*/ 358924 h 414471"/>
              <a:gd name="connsiteX26" fmla="*/ 1179398 w 1209309"/>
              <a:gd name="connsiteY26" fmla="*/ 350378 h 414471"/>
              <a:gd name="connsiteX27" fmla="*/ 1196490 w 1209309"/>
              <a:gd name="connsiteY27" fmla="*/ 333286 h 414471"/>
              <a:gd name="connsiteX28" fmla="*/ 1209309 w 1209309"/>
              <a:gd name="connsiteY28" fmla="*/ 269193 h 414471"/>
              <a:gd name="connsiteX29" fmla="*/ 1205036 w 1209309"/>
              <a:gd name="connsiteY29" fmla="*/ 188008 h 414471"/>
              <a:gd name="connsiteX30" fmla="*/ 1153761 w 1209309"/>
              <a:gd name="connsiteY30" fmla="*/ 158097 h 414471"/>
              <a:gd name="connsiteX31" fmla="*/ 1017028 w 1209309"/>
              <a:gd name="connsiteY31" fmla="*/ 136733 h 414471"/>
              <a:gd name="connsiteX32" fmla="*/ 961481 w 1209309"/>
              <a:gd name="connsiteY32" fmla="*/ 128187 h 414471"/>
              <a:gd name="connsiteX33" fmla="*/ 794838 w 1209309"/>
              <a:gd name="connsiteY33" fmla="*/ 106823 h 414471"/>
              <a:gd name="connsiteX34" fmla="*/ 653832 w 1209309"/>
              <a:gd name="connsiteY34" fmla="*/ 85458 h 414471"/>
              <a:gd name="connsiteX35" fmla="*/ 534191 w 1209309"/>
              <a:gd name="connsiteY35" fmla="*/ 76912 h 414471"/>
              <a:gd name="connsiteX36" fmla="*/ 401731 w 1209309"/>
              <a:gd name="connsiteY36" fmla="*/ 59821 h 414471"/>
              <a:gd name="connsiteX37" fmla="*/ 324819 w 1209309"/>
              <a:gd name="connsiteY37" fmla="*/ 38456 h 414471"/>
              <a:gd name="connsiteX38" fmla="*/ 286363 w 1209309"/>
              <a:gd name="connsiteY38" fmla="*/ 25638 h 414471"/>
              <a:gd name="connsiteX39" fmla="*/ 170995 w 1209309"/>
              <a:gd name="connsiteY39" fmla="*/ 0 h 414471"/>
              <a:gd name="connsiteX40" fmla="*/ 4352 w 1209309"/>
              <a:gd name="connsiteY40" fmla="*/ 0 h 41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209309" h="414471">
                <a:moveTo>
                  <a:pt x="4352" y="0"/>
                </a:moveTo>
                <a:lnTo>
                  <a:pt x="4352" y="0"/>
                </a:lnTo>
                <a:cubicBezTo>
                  <a:pt x="1238" y="40487"/>
                  <a:pt x="-5481" y="57327"/>
                  <a:pt x="8625" y="94004"/>
                </a:cubicBezTo>
                <a:cubicBezTo>
                  <a:pt x="11181" y="100651"/>
                  <a:pt x="17779" y="104989"/>
                  <a:pt x="21443" y="111096"/>
                </a:cubicBezTo>
                <a:cubicBezTo>
                  <a:pt x="38414" y="139381"/>
                  <a:pt x="31810" y="141808"/>
                  <a:pt x="55626" y="170916"/>
                </a:cubicBezTo>
                <a:cubicBezTo>
                  <a:pt x="60136" y="176428"/>
                  <a:pt x="67485" y="178905"/>
                  <a:pt x="72718" y="183735"/>
                </a:cubicBezTo>
                <a:cubicBezTo>
                  <a:pt x="158743" y="263142"/>
                  <a:pt x="72885" y="190284"/>
                  <a:pt x="136811" y="243555"/>
                </a:cubicBezTo>
                <a:cubicBezTo>
                  <a:pt x="138235" y="236434"/>
                  <a:pt x="134778" y="225794"/>
                  <a:pt x="141084" y="222191"/>
                </a:cubicBezTo>
                <a:cubicBezTo>
                  <a:pt x="148606" y="217893"/>
                  <a:pt x="158226" y="224765"/>
                  <a:pt x="166722" y="226464"/>
                </a:cubicBezTo>
                <a:cubicBezTo>
                  <a:pt x="179598" y="229039"/>
                  <a:pt x="192279" y="232553"/>
                  <a:pt x="205178" y="235010"/>
                </a:cubicBezTo>
                <a:cubicBezTo>
                  <a:pt x="222199" y="238252"/>
                  <a:pt x="239556" y="239715"/>
                  <a:pt x="256453" y="243555"/>
                </a:cubicBezTo>
                <a:cubicBezTo>
                  <a:pt x="270953" y="246850"/>
                  <a:pt x="284989" y="251938"/>
                  <a:pt x="299182" y="256374"/>
                </a:cubicBezTo>
                <a:cubicBezTo>
                  <a:pt x="307780" y="259061"/>
                  <a:pt x="316587" y="261262"/>
                  <a:pt x="324819" y="264920"/>
                </a:cubicBezTo>
                <a:cubicBezTo>
                  <a:pt x="342281" y="272681"/>
                  <a:pt x="358181" y="283904"/>
                  <a:pt x="376094" y="290557"/>
                </a:cubicBezTo>
                <a:cubicBezTo>
                  <a:pt x="408194" y="302480"/>
                  <a:pt x="440472" y="315624"/>
                  <a:pt x="474370" y="320467"/>
                </a:cubicBezTo>
                <a:cubicBezTo>
                  <a:pt x="484340" y="321891"/>
                  <a:pt x="494278" y="323563"/>
                  <a:pt x="504281" y="324740"/>
                </a:cubicBezTo>
                <a:cubicBezTo>
                  <a:pt x="518497" y="326412"/>
                  <a:pt x="532891" y="326660"/>
                  <a:pt x="547010" y="329013"/>
                </a:cubicBezTo>
                <a:cubicBezTo>
                  <a:pt x="575665" y="333789"/>
                  <a:pt x="603947" y="340585"/>
                  <a:pt x="632468" y="346105"/>
                </a:cubicBezTo>
                <a:cubicBezTo>
                  <a:pt x="648102" y="349131"/>
                  <a:pt x="663705" y="352399"/>
                  <a:pt x="679469" y="354651"/>
                </a:cubicBezTo>
                <a:cubicBezTo>
                  <a:pt x="717956" y="360149"/>
                  <a:pt x="699445" y="357269"/>
                  <a:pt x="735017" y="363196"/>
                </a:cubicBezTo>
                <a:cubicBezTo>
                  <a:pt x="778635" y="377736"/>
                  <a:pt x="844980" y="401938"/>
                  <a:pt x="888841" y="405925"/>
                </a:cubicBezTo>
                <a:cubicBezTo>
                  <a:pt x="944471" y="410982"/>
                  <a:pt x="920325" y="407612"/>
                  <a:pt x="961481" y="414471"/>
                </a:cubicBezTo>
                <a:cubicBezTo>
                  <a:pt x="1035945" y="408743"/>
                  <a:pt x="994382" y="415668"/>
                  <a:pt x="1046939" y="401653"/>
                </a:cubicBezTo>
                <a:cubicBezTo>
                  <a:pt x="1058287" y="398627"/>
                  <a:pt x="1070125" y="397231"/>
                  <a:pt x="1081122" y="393107"/>
                </a:cubicBezTo>
                <a:cubicBezTo>
                  <a:pt x="1093050" y="388634"/>
                  <a:pt x="1104064" y="382010"/>
                  <a:pt x="1115305" y="376015"/>
                </a:cubicBezTo>
                <a:cubicBezTo>
                  <a:pt x="1125437" y="370611"/>
                  <a:pt x="1134553" y="363189"/>
                  <a:pt x="1145215" y="358924"/>
                </a:cubicBezTo>
                <a:cubicBezTo>
                  <a:pt x="1156120" y="354562"/>
                  <a:pt x="1168004" y="353227"/>
                  <a:pt x="1179398" y="350378"/>
                </a:cubicBezTo>
                <a:cubicBezTo>
                  <a:pt x="1185095" y="344681"/>
                  <a:pt x="1192887" y="340493"/>
                  <a:pt x="1196490" y="333286"/>
                </a:cubicBezTo>
                <a:cubicBezTo>
                  <a:pt x="1203083" y="320100"/>
                  <a:pt x="1207144" y="284347"/>
                  <a:pt x="1209309" y="269193"/>
                </a:cubicBezTo>
                <a:cubicBezTo>
                  <a:pt x="1207885" y="242131"/>
                  <a:pt x="1210793" y="214489"/>
                  <a:pt x="1205036" y="188008"/>
                </a:cubicBezTo>
                <a:cubicBezTo>
                  <a:pt x="1201463" y="171571"/>
                  <a:pt x="1162074" y="159760"/>
                  <a:pt x="1153761" y="158097"/>
                </a:cubicBezTo>
                <a:cubicBezTo>
                  <a:pt x="1108526" y="149050"/>
                  <a:pt x="1062610" y="143824"/>
                  <a:pt x="1017028" y="136733"/>
                </a:cubicBezTo>
                <a:cubicBezTo>
                  <a:pt x="998517" y="133854"/>
                  <a:pt x="980100" y="130256"/>
                  <a:pt x="961481" y="128187"/>
                </a:cubicBezTo>
                <a:cubicBezTo>
                  <a:pt x="892510" y="120523"/>
                  <a:pt x="865630" y="118347"/>
                  <a:pt x="794838" y="106823"/>
                </a:cubicBezTo>
                <a:cubicBezTo>
                  <a:pt x="687046" y="89276"/>
                  <a:pt x="731716" y="91449"/>
                  <a:pt x="653832" y="85458"/>
                </a:cubicBezTo>
                <a:cubicBezTo>
                  <a:pt x="613968" y="82391"/>
                  <a:pt x="573844" y="82028"/>
                  <a:pt x="534191" y="76912"/>
                </a:cubicBezTo>
                <a:lnTo>
                  <a:pt x="401731" y="59821"/>
                </a:lnTo>
                <a:cubicBezTo>
                  <a:pt x="304153" y="20789"/>
                  <a:pt x="407301" y="57863"/>
                  <a:pt x="324819" y="38456"/>
                </a:cubicBezTo>
                <a:cubicBezTo>
                  <a:pt x="311666" y="35361"/>
                  <a:pt x="299388" y="29231"/>
                  <a:pt x="286363" y="25638"/>
                </a:cubicBezTo>
                <a:cubicBezTo>
                  <a:pt x="209647" y="4475"/>
                  <a:pt x="223623" y="7519"/>
                  <a:pt x="170995" y="0"/>
                </a:cubicBezTo>
                <a:lnTo>
                  <a:pt x="4352" y="0"/>
                </a:lnTo>
                <a:close/>
              </a:path>
            </a:pathLst>
          </a:cu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02E974CA-A490-9815-F9AB-F997359877CA}"/>
              </a:ext>
            </a:extLst>
          </p:cNvPr>
          <p:cNvSpPr/>
          <p:nvPr/>
        </p:nvSpPr>
        <p:spPr>
          <a:xfrm>
            <a:off x="2905203" y="2213361"/>
            <a:ext cx="265287" cy="82984"/>
          </a:xfrm>
          <a:custGeom>
            <a:avLst/>
            <a:gdLst>
              <a:gd name="connsiteX0" fmla="*/ 252468 w 265287"/>
              <a:gd name="connsiteY0" fmla="*/ 25637 h 82984"/>
              <a:gd name="connsiteX1" fmla="*/ 252468 w 265287"/>
              <a:gd name="connsiteY1" fmla="*/ 25637 h 82984"/>
              <a:gd name="connsiteX2" fmla="*/ 201193 w 265287"/>
              <a:gd name="connsiteY2" fmla="*/ 8546 h 82984"/>
              <a:gd name="connsiteX3" fmla="*/ 120008 w 265287"/>
              <a:gd name="connsiteY3" fmla="*/ 4273 h 82984"/>
              <a:gd name="connsiteX4" fmla="*/ 51642 w 265287"/>
              <a:gd name="connsiteY4" fmla="*/ 0 h 82984"/>
              <a:gd name="connsiteX5" fmla="*/ 4640 w 265287"/>
              <a:gd name="connsiteY5" fmla="*/ 4273 h 82984"/>
              <a:gd name="connsiteX6" fmla="*/ 367 w 265287"/>
              <a:gd name="connsiteY6" fmla="*/ 25637 h 82984"/>
              <a:gd name="connsiteX7" fmla="*/ 4640 w 265287"/>
              <a:gd name="connsiteY7" fmla="*/ 47002 h 82984"/>
              <a:gd name="connsiteX8" fmla="*/ 8913 w 265287"/>
              <a:gd name="connsiteY8" fmla="*/ 59820 h 82984"/>
              <a:gd name="connsiteX9" fmla="*/ 64461 w 265287"/>
              <a:gd name="connsiteY9" fmla="*/ 72639 h 82984"/>
              <a:gd name="connsiteX10" fmla="*/ 239649 w 265287"/>
              <a:gd name="connsiteY10" fmla="*/ 68366 h 82984"/>
              <a:gd name="connsiteX11" fmla="*/ 256741 w 265287"/>
              <a:gd name="connsiteY11" fmla="*/ 42729 h 82984"/>
              <a:gd name="connsiteX12" fmla="*/ 265287 w 265287"/>
              <a:gd name="connsiteY12" fmla="*/ 29910 h 82984"/>
              <a:gd name="connsiteX13" fmla="*/ 252468 w 265287"/>
              <a:gd name="connsiteY13" fmla="*/ 25637 h 82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5287" h="82984">
                <a:moveTo>
                  <a:pt x="252468" y="25637"/>
                </a:moveTo>
                <a:lnTo>
                  <a:pt x="252468" y="25637"/>
                </a:lnTo>
                <a:cubicBezTo>
                  <a:pt x="235376" y="19940"/>
                  <a:pt x="218979" y="11415"/>
                  <a:pt x="201193" y="8546"/>
                </a:cubicBezTo>
                <a:cubicBezTo>
                  <a:pt x="174440" y="4231"/>
                  <a:pt x="147063" y="5819"/>
                  <a:pt x="120008" y="4273"/>
                </a:cubicBezTo>
                <a:lnTo>
                  <a:pt x="51642" y="0"/>
                </a:lnTo>
                <a:lnTo>
                  <a:pt x="4640" y="4273"/>
                </a:lnTo>
                <a:cubicBezTo>
                  <a:pt x="-1856" y="7521"/>
                  <a:pt x="367" y="18375"/>
                  <a:pt x="367" y="25637"/>
                </a:cubicBezTo>
                <a:cubicBezTo>
                  <a:pt x="367" y="32900"/>
                  <a:pt x="2878" y="39956"/>
                  <a:pt x="4640" y="47002"/>
                </a:cubicBezTo>
                <a:cubicBezTo>
                  <a:pt x="5732" y="51371"/>
                  <a:pt x="6099" y="56303"/>
                  <a:pt x="8913" y="59820"/>
                </a:cubicBezTo>
                <a:cubicBezTo>
                  <a:pt x="21099" y="75052"/>
                  <a:pt x="51583" y="71351"/>
                  <a:pt x="64461" y="72639"/>
                </a:cubicBezTo>
                <a:cubicBezTo>
                  <a:pt x="127956" y="85339"/>
                  <a:pt x="136738" y="88948"/>
                  <a:pt x="239649" y="68366"/>
                </a:cubicBezTo>
                <a:cubicBezTo>
                  <a:pt x="249720" y="66352"/>
                  <a:pt x="251044" y="51275"/>
                  <a:pt x="256741" y="42729"/>
                </a:cubicBezTo>
                <a:cubicBezTo>
                  <a:pt x="259590" y="38456"/>
                  <a:pt x="265287" y="35046"/>
                  <a:pt x="265287" y="29910"/>
                </a:cubicBezTo>
                <a:lnTo>
                  <a:pt x="252468" y="25637"/>
                </a:lnTo>
                <a:close/>
              </a:path>
            </a:pathLst>
          </a:custGeom>
          <a:noFill/>
          <a:ln w="19050">
            <a:solidFill>
              <a:srgbClr val="E917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F430A2B7-B5E1-20F3-3887-2D6F3E71F138}"/>
              </a:ext>
            </a:extLst>
          </p:cNvPr>
          <p:cNvSpPr/>
          <p:nvPr/>
        </p:nvSpPr>
        <p:spPr>
          <a:xfrm>
            <a:off x="3144852" y="4539459"/>
            <a:ext cx="2811567" cy="882974"/>
          </a:xfrm>
          <a:custGeom>
            <a:avLst/>
            <a:gdLst>
              <a:gd name="connsiteX0" fmla="*/ 2773111 w 2811567"/>
              <a:gd name="connsiteY0" fmla="*/ 293188 h 882974"/>
              <a:gd name="connsiteX1" fmla="*/ 2773111 w 2811567"/>
              <a:gd name="connsiteY1" fmla="*/ 293188 h 882974"/>
              <a:gd name="connsiteX2" fmla="*/ 2743200 w 2811567"/>
              <a:gd name="connsiteY2" fmla="*/ 344462 h 882974"/>
              <a:gd name="connsiteX3" fmla="*/ 2704744 w 2811567"/>
              <a:gd name="connsiteY3" fmla="*/ 387191 h 882974"/>
              <a:gd name="connsiteX4" fmla="*/ 2691926 w 2811567"/>
              <a:gd name="connsiteY4" fmla="*/ 400010 h 882974"/>
              <a:gd name="connsiteX5" fmla="*/ 2657742 w 2811567"/>
              <a:gd name="connsiteY5" fmla="*/ 417102 h 882974"/>
              <a:gd name="connsiteX6" fmla="*/ 2593649 w 2811567"/>
              <a:gd name="connsiteY6" fmla="*/ 391464 h 882974"/>
              <a:gd name="connsiteX7" fmla="*/ 2533828 w 2811567"/>
              <a:gd name="connsiteY7" fmla="*/ 378646 h 882974"/>
              <a:gd name="connsiteX8" fmla="*/ 2503918 w 2811567"/>
              <a:gd name="connsiteY8" fmla="*/ 370100 h 882974"/>
              <a:gd name="connsiteX9" fmla="*/ 2478281 w 2811567"/>
              <a:gd name="connsiteY9" fmla="*/ 361554 h 882974"/>
              <a:gd name="connsiteX10" fmla="*/ 2427006 w 2811567"/>
              <a:gd name="connsiteY10" fmla="*/ 357281 h 882974"/>
              <a:gd name="connsiteX11" fmla="*/ 2354367 w 2811567"/>
              <a:gd name="connsiteY11" fmla="*/ 361554 h 882974"/>
              <a:gd name="connsiteX12" fmla="*/ 2333002 w 2811567"/>
              <a:gd name="connsiteY12" fmla="*/ 374373 h 882974"/>
              <a:gd name="connsiteX13" fmla="*/ 2294546 w 2811567"/>
              <a:gd name="connsiteY13" fmla="*/ 408556 h 882974"/>
              <a:gd name="connsiteX14" fmla="*/ 2281727 w 2811567"/>
              <a:gd name="connsiteY14" fmla="*/ 417102 h 882974"/>
              <a:gd name="connsiteX15" fmla="*/ 2277455 w 2811567"/>
              <a:gd name="connsiteY15" fmla="*/ 429920 h 882974"/>
              <a:gd name="connsiteX16" fmla="*/ 2234726 w 2811567"/>
              <a:gd name="connsiteY16" fmla="*/ 451285 h 882974"/>
              <a:gd name="connsiteX17" fmla="*/ 2221907 w 2811567"/>
              <a:gd name="connsiteY17" fmla="*/ 459831 h 882974"/>
              <a:gd name="connsiteX18" fmla="*/ 2059537 w 2811567"/>
              <a:gd name="connsiteY18" fmla="*/ 455558 h 882974"/>
              <a:gd name="connsiteX19" fmla="*/ 2046718 w 2811567"/>
              <a:gd name="connsiteY19" fmla="*/ 464104 h 882974"/>
              <a:gd name="connsiteX20" fmla="*/ 2042445 w 2811567"/>
              <a:gd name="connsiteY20" fmla="*/ 476922 h 882974"/>
              <a:gd name="connsiteX21" fmla="*/ 2106539 w 2811567"/>
              <a:gd name="connsiteY21" fmla="*/ 515378 h 882974"/>
              <a:gd name="connsiteX22" fmla="*/ 2132176 w 2811567"/>
              <a:gd name="connsiteY22" fmla="*/ 541016 h 882974"/>
              <a:gd name="connsiteX23" fmla="*/ 2187724 w 2811567"/>
              <a:gd name="connsiteY23" fmla="*/ 592291 h 882974"/>
              <a:gd name="connsiteX24" fmla="*/ 2085174 w 2811567"/>
              <a:gd name="connsiteY24" fmla="*/ 588018 h 882974"/>
              <a:gd name="connsiteX25" fmla="*/ 2050991 w 2811567"/>
              <a:gd name="connsiteY25" fmla="*/ 575199 h 882974"/>
              <a:gd name="connsiteX26" fmla="*/ 1995443 w 2811567"/>
              <a:gd name="connsiteY26" fmla="*/ 558107 h 882974"/>
              <a:gd name="connsiteX27" fmla="*/ 1961260 w 2811567"/>
              <a:gd name="connsiteY27" fmla="*/ 532470 h 882974"/>
              <a:gd name="connsiteX28" fmla="*/ 1948441 w 2811567"/>
              <a:gd name="connsiteY28" fmla="*/ 519651 h 882974"/>
              <a:gd name="connsiteX29" fmla="*/ 1944169 w 2811567"/>
              <a:gd name="connsiteY29" fmla="*/ 498287 h 882974"/>
              <a:gd name="connsiteX30" fmla="*/ 1952714 w 2811567"/>
              <a:gd name="connsiteY30" fmla="*/ 421375 h 882974"/>
              <a:gd name="connsiteX31" fmla="*/ 1956987 w 2811567"/>
              <a:gd name="connsiteY31" fmla="*/ 408556 h 882974"/>
              <a:gd name="connsiteX32" fmla="*/ 1948441 w 2811567"/>
              <a:gd name="connsiteY32" fmla="*/ 395737 h 882974"/>
              <a:gd name="connsiteX33" fmla="*/ 1841619 w 2811567"/>
              <a:gd name="connsiteY33" fmla="*/ 400010 h 882974"/>
              <a:gd name="connsiteX34" fmla="*/ 1811709 w 2811567"/>
              <a:gd name="connsiteY34" fmla="*/ 447012 h 882974"/>
              <a:gd name="connsiteX35" fmla="*/ 1798890 w 2811567"/>
              <a:gd name="connsiteY35" fmla="*/ 476922 h 882974"/>
              <a:gd name="connsiteX36" fmla="*/ 1794617 w 2811567"/>
              <a:gd name="connsiteY36" fmla="*/ 494014 h 882974"/>
              <a:gd name="connsiteX37" fmla="*/ 1790344 w 2811567"/>
              <a:gd name="connsiteY37" fmla="*/ 506833 h 882974"/>
              <a:gd name="connsiteX38" fmla="*/ 1786071 w 2811567"/>
              <a:gd name="connsiteY38" fmla="*/ 528197 h 882974"/>
              <a:gd name="connsiteX39" fmla="*/ 1751888 w 2811567"/>
              <a:gd name="connsiteY39" fmla="*/ 553834 h 882974"/>
              <a:gd name="connsiteX40" fmla="*/ 1713432 w 2811567"/>
              <a:gd name="connsiteY40" fmla="*/ 536743 h 882974"/>
              <a:gd name="connsiteX41" fmla="*/ 1670703 w 2811567"/>
              <a:gd name="connsiteY41" fmla="*/ 511105 h 882974"/>
              <a:gd name="connsiteX42" fmla="*/ 1657884 w 2811567"/>
              <a:gd name="connsiteY42" fmla="*/ 481195 h 882974"/>
              <a:gd name="connsiteX43" fmla="*/ 1649339 w 2811567"/>
              <a:gd name="connsiteY43" fmla="*/ 468377 h 882974"/>
              <a:gd name="connsiteX44" fmla="*/ 1632247 w 2811567"/>
              <a:gd name="connsiteY44" fmla="*/ 429920 h 882974"/>
              <a:gd name="connsiteX45" fmla="*/ 1623701 w 2811567"/>
              <a:gd name="connsiteY45" fmla="*/ 395737 h 882974"/>
              <a:gd name="connsiteX46" fmla="*/ 1615155 w 2811567"/>
              <a:gd name="connsiteY46" fmla="*/ 370100 h 882974"/>
              <a:gd name="connsiteX47" fmla="*/ 1610883 w 2811567"/>
              <a:gd name="connsiteY47" fmla="*/ 353008 h 882974"/>
              <a:gd name="connsiteX48" fmla="*/ 1572427 w 2811567"/>
              <a:gd name="connsiteY48" fmla="*/ 340190 h 882974"/>
              <a:gd name="connsiteX49" fmla="*/ 1448512 w 2811567"/>
              <a:gd name="connsiteY49" fmla="*/ 344462 h 882974"/>
              <a:gd name="connsiteX50" fmla="*/ 1431421 w 2811567"/>
              <a:gd name="connsiteY50" fmla="*/ 348735 h 882974"/>
              <a:gd name="connsiteX51" fmla="*/ 1418602 w 2811567"/>
              <a:gd name="connsiteY51" fmla="*/ 365827 h 882974"/>
              <a:gd name="connsiteX52" fmla="*/ 1401511 w 2811567"/>
              <a:gd name="connsiteY52" fmla="*/ 408556 h 882974"/>
              <a:gd name="connsiteX53" fmla="*/ 1392965 w 2811567"/>
              <a:gd name="connsiteY53" fmla="*/ 459831 h 882974"/>
              <a:gd name="connsiteX54" fmla="*/ 1388692 w 2811567"/>
              <a:gd name="connsiteY54" fmla="*/ 472649 h 882974"/>
              <a:gd name="connsiteX55" fmla="*/ 1363055 w 2811567"/>
              <a:gd name="connsiteY55" fmla="*/ 498287 h 882974"/>
              <a:gd name="connsiteX56" fmla="*/ 1354509 w 2811567"/>
              <a:gd name="connsiteY56" fmla="*/ 515378 h 882974"/>
              <a:gd name="connsiteX57" fmla="*/ 1341690 w 2811567"/>
              <a:gd name="connsiteY57" fmla="*/ 545289 h 882974"/>
              <a:gd name="connsiteX58" fmla="*/ 1333144 w 2811567"/>
              <a:gd name="connsiteY58" fmla="*/ 579472 h 882974"/>
              <a:gd name="connsiteX59" fmla="*/ 1320326 w 2811567"/>
              <a:gd name="connsiteY59" fmla="*/ 596563 h 882974"/>
              <a:gd name="connsiteX60" fmla="*/ 1311780 w 2811567"/>
              <a:gd name="connsiteY60" fmla="*/ 630747 h 882974"/>
              <a:gd name="connsiteX61" fmla="*/ 1337417 w 2811567"/>
              <a:gd name="connsiteY61" fmla="*/ 733296 h 882974"/>
              <a:gd name="connsiteX62" fmla="*/ 1397238 w 2811567"/>
              <a:gd name="connsiteY62" fmla="*/ 780298 h 882974"/>
              <a:gd name="connsiteX63" fmla="*/ 1414329 w 2811567"/>
              <a:gd name="connsiteY63" fmla="*/ 793117 h 882974"/>
              <a:gd name="connsiteX64" fmla="*/ 1427148 w 2811567"/>
              <a:gd name="connsiteY64" fmla="*/ 810208 h 882974"/>
              <a:gd name="connsiteX65" fmla="*/ 1422875 w 2811567"/>
              <a:gd name="connsiteY65" fmla="*/ 861483 h 882974"/>
              <a:gd name="connsiteX66" fmla="*/ 1405784 w 2811567"/>
              <a:gd name="connsiteY66" fmla="*/ 865756 h 882974"/>
              <a:gd name="connsiteX67" fmla="*/ 1375873 w 2811567"/>
              <a:gd name="connsiteY67" fmla="*/ 870029 h 882974"/>
              <a:gd name="connsiteX68" fmla="*/ 1358782 w 2811567"/>
              <a:gd name="connsiteY68" fmla="*/ 878575 h 882974"/>
              <a:gd name="connsiteX69" fmla="*/ 1290415 w 2811567"/>
              <a:gd name="connsiteY69" fmla="*/ 878575 h 882974"/>
              <a:gd name="connsiteX70" fmla="*/ 1239141 w 2811567"/>
              <a:gd name="connsiteY70" fmla="*/ 857210 h 882974"/>
              <a:gd name="connsiteX71" fmla="*/ 1213503 w 2811567"/>
              <a:gd name="connsiteY71" fmla="*/ 827300 h 882974"/>
              <a:gd name="connsiteX72" fmla="*/ 1196412 w 2811567"/>
              <a:gd name="connsiteY72" fmla="*/ 784571 h 882974"/>
              <a:gd name="connsiteX73" fmla="*/ 1183593 w 2811567"/>
              <a:gd name="connsiteY73" fmla="*/ 746115 h 882974"/>
              <a:gd name="connsiteX74" fmla="*/ 1187866 w 2811567"/>
              <a:gd name="connsiteY74" fmla="*/ 664930 h 882974"/>
              <a:gd name="connsiteX75" fmla="*/ 1204957 w 2811567"/>
              <a:gd name="connsiteY75" fmla="*/ 630747 h 882974"/>
              <a:gd name="connsiteX76" fmla="*/ 1209230 w 2811567"/>
              <a:gd name="connsiteY76" fmla="*/ 609382 h 882974"/>
              <a:gd name="connsiteX77" fmla="*/ 1222049 w 2811567"/>
              <a:gd name="connsiteY77" fmla="*/ 575199 h 882974"/>
              <a:gd name="connsiteX78" fmla="*/ 1234868 w 2811567"/>
              <a:gd name="connsiteY78" fmla="*/ 528197 h 882974"/>
              <a:gd name="connsiteX79" fmla="*/ 1230595 w 2811567"/>
              <a:gd name="connsiteY79" fmla="*/ 442739 h 882974"/>
              <a:gd name="connsiteX80" fmla="*/ 1196412 w 2811567"/>
              <a:gd name="connsiteY80" fmla="*/ 408556 h 882974"/>
              <a:gd name="connsiteX81" fmla="*/ 1162228 w 2811567"/>
              <a:gd name="connsiteY81" fmla="*/ 382919 h 882974"/>
              <a:gd name="connsiteX82" fmla="*/ 1157955 w 2811567"/>
              <a:gd name="connsiteY82" fmla="*/ 365827 h 882974"/>
              <a:gd name="connsiteX83" fmla="*/ 1149410 w 2811567"/>
              <a:gd name="connsiteY83" fmla="*/ 348735 h 882974"/>
              <a:gd name="connsiteX84" fmla="*/ 1145137 w 2811567"/>
              <a:gd name="connsiteY84" fmla="*/ 323098 h 882974"/>
              <a:gd name="connsiteX85" fmla="*/ 1115227 w 2811567"/>
              <a:gd name="connsiteY85" fmla="*/ 301734 h 882974"/>
              <a:gd name="connsiteX86" fmla="*/ 1072498 w 2811567"/>
              <a:gd name="connsiteY86" fmla="*/ 280369 h 882974"/>
              <a:gd name="connsiteX87" fmla="*/ 1012677 w 2811567"/>
              <a:gd name="connsiteY87" fmla="*/ 267550 h 882974"/>
              <a:gd name="connsiteX88" fmla="*/ 957129 w 2811567"/>
              <a:gd name="connsiteY88" fmla="*/ 254732 h 882974"/>
              <a:gd name="connsiteX89" fmla="*/ 807578 w 2811567"/>
              <a:gd name="connsiteY89" fmla="*/ 250459 h 882974"/>
              <a:gd name="connsiteX90" fmla="*/ 756303 w 2811567"/>
              <a:gd name="connsiteY90" fmla="*/ 246186 h 882974"/>
              <a:gd name="connsiteX91" fmla="*/ 508475 w 2811567"/>
              <a:gd name="connsiteY91" fmla="*/ 237640 h 882974"/>
              <a:gd name="connsiteX92" fmla="*/ 448655 w 2811567"/>
              <a:gd name="connsiteY92" fmla="*/ 216276 h 882974"/>
              <a:gd name="connsiteX93" fmla="*/ 414471 w 2811567"/>
              <a:gd name="connsiteY93" fmla="*/ 203457 h 882974"/>
              <a:gd name="connsiteX94" fmla="*/ 384561 w 2811567"/>
              <a:gd name="connsiteY94" fmla="*/ 190638 h 882974"/>
              <a:gd name="connsiteX95" fmla="*/ 324741 w 2811567"/>
              <a:gd name="connsiteY95" fmla="*/ 177820 h 882974"/>
              <a:gd name="connsiteX96" fmla="*/ 260647 w 2811567"/>
              <a:gd name="connsiteY96" fmla="*/ 156455 h 882974"/>
              <a:gd name="connsiteX97" fmla="*/ 230737 w 2811567"/>
              <a:gd name="connsiteY97" fmla="*/ 152182 h 882974"/>
              <a:gd name="connsiteX98" fmla="*/ 166643 w 2811567"/>
              <a:gd name="connsiteY98" fmla="*/ 105180 h 882974"/>
              <a:gd name="connsiteX99" fmla="*/ 132460 w 2811567"/>
              <a:gd name="connsiteY99" fmla="*/ 83816 h 882974"/>
              <a:gd name="connsiteX100" fmla="*/ 94004 w 2811567"/>
              <a:gd name="connsiteY100" fmla="*/ 75270 h 882974"/>
              <a:gd name="connsiteX101" fmla="*/ 76912 w 2811567"/>
              <a:gd name="connsiteY101" fmla="*/ 66724 h 882974"/>
              <a:gd name="connsiteX102" fmla="*/ 64094 w 2811567"/>
              <a:gd name="connsiteY102" fmla="*/ 58178 h 882974"/>
              <a:gd name="connsiteX103" fmla="*/ 34184 w 2811567"/>
              <a:gd name="connsiteY103" fmla="*/ 45360 h 882974"/>
              <a:gd name="connsiteX104" fmla="*/ 0 w 2811567"/>
              <a:gd name="connsiteY104" fmla="*/ 28268 h 882974"/>
              <a:gd name="connsiteX105" fmla="*/ 196554 w 2811567"/>
              <a:gd name="connsiteY105" fmla="*/ 28268 h 882974"/>
              <a:gd name="connsiteX106" fmla="*/ 307649 w 2811567"/>
              <a:gd name="connsiteY106" fmla="*/ 62451 h 882974"/>
              <a:gd name="connsiteX107" fmla="*/ 363197 w 2811567"/>
              <a:gd name="connsiteY107" fmla="*/ 75270 h 882974"/>
              <a:gd name="connsiteX108" fmla="*/ 743484 w 2811567"/>
              <a:gd name="connsiteY108" fmla="*/ 92362 h 882974"/>
              <a:gd name="connsiteX109" fmla="*/ 760576 w 2811567"/>
              <a:gd name="connsiteY109" fmla="*/ 96634 h 882974"/>
              <a:gd name="connsiteX110" fmla="*/ 803305 w 2811567"/>
              <a:gd name="connsiteY110" fmla="*/ 117999 h 882974"/>
              <a:gd name="connsiteX111" fmla="*/ 880217 w 2811567"/>
              <a:gd name="connsiteY111" fmla="*/ 130818 h 882974"/>
              <a:gd name="connsiteX112" fmla="*/ 901582 w 2811567"/>
              <a:gd name="connsiteY112" fmla="*/ 135091 h 882974"/>
              <a:gd name="connsiteX113" fmla="*/ 927219 w 2811567"/>
              <a:gd name="connsiteY113" fmla="*/ 139363 h 882974"/>
              <a:gd name="connsiteX114" fmla="*/ 969948 w 2811567"/>
              <a:gd name="connsiteY114" fmla="*/ 152182 h 882974"/>
              <a:gd name="connsiteX115" fmla="*/ 1081043 w 2811567"/>
              <a:gd name="connsiteY115" fmla="*/ 173547 h 882974"/>
              <a:gd name="connsiteX116" fmla="*/ 1110954 w 2811567"/>
              <a:gd name="connsiteY116" fmla="*/ 177820 h 882974"/>
              <a:gd name="connsiteX117" fmla="*/ 1243413 w 2811567"/>
              <a:gd name="connsiteY117" fmla="*/ 203457 h 882974"/>
              <a:gd name="connsiteX118" fmla="*/ 1290415 w 2811567"/>
              <a:gd name="connsiteY118" fmla="*/ 207730 h 882974"/>
              <a:gd name="connsiteX119" fmla="*/ 1316053 w 2811567"/>
              <a:gd name="connsiteY119" fmla="*/ 212003 h 882974"/>
              <a:gd name="connsiteX120" fmla="*/ 1384419 w 2811567"/>
              <a:gd name="connsiteY120" fmla="*/ 220548 h 882974"/>
              <a:gd name="connsiteX121" fmla="*/ 1439967 w 2811567"/>
              <a:gd name="connsiteY121" fmla="*/ 229094 h 882974"/>
              <a:gd name="connsiteX122" fmla="*/ 1529698 w 2811567"/>
              <a:gd name="connsiteY122" fmla="*/ 237640 h 882974"/>
              <a:gd name="connsiteX123" fmla="*/ 1555335 w 2811567"/>
              <a:gd name="connsiteY123" fmla="*/ 241913 h 882974"/>
              <a:gd name="connsiteX124" fmla="*/ 1593791 w 2811567"/>
              <a:gd name="connsiteY124" fmla="*/ 250459 h 882974"/>
              <a:gd name="connsiteX125" fmla="*/ 1739069 w 2811567"/>
              <a:gd name="connsiteY125" fmla="*/ 263277 h 882974"/>
              <a:gd name="connsiteX126" fmla="*/ 2153541 w 2811567"/>
              <a:gd name="connsiteY126" fmla="*/ 271823 h 882974"/>
              <a:gd name="connsiteX127" fmla="*/ 2508191 w 2811567"/>
              <a:gd name="connsiteY127" fmla="*/ 284642 h 882974"/>
              <a:gd name="connsiteX128" fmla="*/ 2580830 w 2811567"/>
              <a:gd name="connsiteY128" fmla="*/ 288915 h 882974"/>
              <a:gd name="connsiteX129" fmla="*/ 2666288 w 2811567"/>
              <a:gd name="connsiteY129" fmla="*/ 301734 h 882974"/>
              <a:gd name="connsiteX130" fmla="*/ 2781656 w 2811567"/>
              <a:gd name="connsiteY130" fmla="*/ 297461 h 882974"/>
              <a:gd name="connsiteX131" fmla="*/ 2811567 w 2811567"/>
              <a:gd name="connsiteY131" fmla="*/ 250459 h 882974"/>
              <a:gd name="connsiteX132" fmla="*/ 2773111 w 2811567"/>
              <a:gd name="connsiteY132" fmla="*/ 293188 h 88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2811567" h="882974">
                <a:moveTo>
                  <a:pt x="2773111" y="293188"/>
                </a:moveTo>
                <a:lnTo>
                  <a:pt x="2773111" y="293188"/>
                </a:lnTo>
                <a:cubicBezTo>
                  <a:pt x="2710692" y="380572"/>
                  <a:pt x="2779206" y="279650"/>
                  <a:pt x="2743200" y="344462"/>
                </a:cubicBezTo>
                <a:cubicBezTo>
                  <a:pt x="2734835" y="359520"/>
                  <a:pt x="2715556" y="376379"/>
                  <a:pt x="2704744" y="387191"/>
                </a:cubicBezTo>
                <a:cubicBezTo>
                  <a:pt x="2700471" y="391464"/>
                  <a:pt x="2697331" y="397308"/>
                  <a:pt x="2691926" y="400010"/>
                </a:cubicBezTo>
                <a:lnTo>
                  <a:pt x="2657742" y="417102"/>
                </a:lnTo>
                <a:cubicBezTo>
                  <a:pt x="2579594" y="397564"/>
                  <a:pt x="2665849" y="422407"/>
                  <a:pt x="2593649" y="391464"/>
                </a:cubicBezTo>
                <a:cubicBezTo>
                  <a:pt x="2573855" y="382981"/>
                  <a:pt x="2554771" y="381638"/>
                  <a:pt x="2533828" y="378646"/>
                </a:cubicBezTo>
                <a:cubicBezTo>
                  <a:pt x="2523858" y="375797"/>
                  <a:pt x="2513828" y="373149"/>
                  <a:pt x="2503918" y="370100"/>
                </a:cubicBezTo>
                <a:cubicBezTo>
                  <a:pt x="2495308" y="367451"/>
                  <a:pt x="2487166" y="363035"/>
                  <a:pt x="2478281" y="361554"/>
                </a:cubicBezTo>
                <a:cubicBezTo>
                  <a:pt x="2461363" y="358734"/>
                  <a:pt x="2444098" y="358705"/>
                  <a:pt x="2427006" y="357281"/>
                </a:cubicBezTo>
                <a:cubicBezTo>
                  <a:pt x="2402793" y="358705"/>
                  <a:pt x="2378231" y="357215"/>
                  <a:pt x="2354367" y="361554"/>
                </a:cubicBezTo>
                <a:cubicBezTo>
                  <a:pt x="2346196" y="363040"/>
                  <a:pt x="2339806" y="369610"/>
                  <a:pt x="2333002" y="374373"/>
                </a:cubicBezTo>
                <a:cubicBezTo>
                  <a:pt x="2298723" y="398368"/>
                  <a:pt x="2323939" y="383362"/>
                  <a:pt x="2294546" y="408556"/>
                </a:cubicBezTo>
                <a:cubicBezTo>
                  <a:pt x="2290647" y="411898"/>
                  <a:pt x="2286000" y="414253"/>
                  <a:pt x="2281727" y="417102"/>
                </a:cubicBezTo>
                <a:cubicBezTo>
                  <a:pt x="2280303" y="421375"/>
                  <a:pt x="2281097" y="427271"/>
                  <a:pt x="2277455" y="429920"/>
                </a:cubicBezTo>
                <a:cubicBezTo>
                  <a:pt x="2264577" y="439286"/>
                  <a:pt x="2247976" y="442452"/>
                  <a:pt x="2234726" y="451285"/>
                </a:cubicBezTo>
                <a:lnTo>
                  <a:pt x="2221907" y="459831"/>
                </a:lnTo>
                <a:cubicBezTo>
                  <a:pt x="2167784" y="458407"/>
                  <a:pt x="2113663" y="454238"/>
                  <a:pt x="2059537" y="455558"/>
                </a:cubicBezTo>
                <a:cubicBezTo>
                  <a:pt x="2054403" y="455683"/>
                  <a:pt x="2049926" y="460094"/>
                  <a:pt x="2046718" y="464104"/>
                </a:cubicBezTo>
                <a:cubicBezTo>
                  <a:pt x="2043904" y="467621"/>
                  <a:pt x="2043869" y="472649"/>
                  <a:pt x="2042445" y="476922"/>
                </a:cubicBezTo>
                <a:cubicBezTo>
                  <a:pt x="2065272" y="511163"/>
                  <a:pt x="2034538" y="469903"/>
                  <a:pt x="2106539" y="515378"/>
                </a:cubicBezTo>
                <a:cubicBezTo>
                  <a:pt x="2116757" y="521832"/>
                  <a:pt x="2123114" y="533020"/>
                  <a:pt x="2132176" y="541016"/>
                </a:cubicBezTo>
                <a:cubicBezTo>
                  <a:pt x="2188450" y="590670"/>
                  <a:pt x="2166605" y="560613"/>
                  <a:pt x="2187724" y="592291"/>
                </a:cubicBezTo>
                <a:cubicBezTo>
                  <a:pt x="2140724" y="598165"/>
                  <a:pt x="2144991" y="600480"/>
                  <a:pt x="2085174" y="588018"/>
                </a:cubicBezTo>
                <a:cubicBezTo>
                  <a:pt x="2073261" y="585536"/>
                  <a:pt x="2062536" y="579047"/>
                  <a:pt x="2050991" y="575199"/>
                </a:cubicBezTo>
                <a:cubicBezTo>
                  <a:pt x="2032612" y="569073"/>
                  <a:pt x="2013959" y="563804"/>
                  <a:pt x="1995443" y="558107"/>
                </a:cubicBezTo>
                <a:cubicBezTo>
                  <a:pt x="1984049" y="549561"/>
                  <a:pt x="1972283" y="541489"/>
                  <a:pt x="1961260" y="532470"/>
                </a:cubicBezTo>
                <a:cubicBezTo>
                  <a:pt x="1956583" y="528643"/>
                  <a:pt x="1951143" y="525056"/>
                  <a:pt x="1948441" y="519651"/>
                </a:cubicBezTo>
                <a:cubicBezTo>
                  <a:pt x="1945193" y="513155"/>
                  <a:pt x="1945593" y="505408"/>
                  <a:pt x="1944169" y="498287"/>
                </a:cubicBezTo>
                <a:cubicBezTo>
                  <a:pt x="1947017" y="472650"/>
                  <a:pt x="1949066" y="446911"/>
                  <a:pt x="1952714" y="421375"/>
                </a:cubicBezTo>
                <a:cubicBezTo>
                  <a:pt x="1953351" y="416916"/>
                  <a:pt x="1957727" y="412999"/>
                  <a:pt x="1956987" y="408556"/>
                </a:cubicBezTo>
                <a:cubicBezTo>
                  <a:pt x="1956143" y="403490"/>
                  <a:pt x="1951290" y="400010"/>
                  <a:pt x="1948441" y="395737"/>
                </a:cubicBezTo>
                <a:cubicBezTo>
                  <a:pt x="1912834" y="397161"/>
                  <a:pt x="1876770" y="394151"/>
                  <a:pt x="1841619" y="400010"/>
                </a:cubicBezTo>
                <a:cubicBezTo>
                  <a:pt x="1816560" y="404187"/>
                  <a:pt x="1817756" y="430382"/>
                  <a:pt x="1811709" y="447012"/>
                </a:cubicBezTo>
                <a:cubicBezTo>
                  <a:pt x="1796519" y="488784"/>
                  <a:pt x="1808451" y="443459"/>
                  <a:pt x="1798890" y="476922"/>
                </a:cubicBezTo>
                <a:cubicBezTo>
                  <a:pt x="1797277" y="482569"/>
                  <a:pt x="1796230" y="488367"/>
                  <a:pt x="1794617" y="494014"/>
                </a:cubicBezTo>
                <a:cubicBezTo>
                  <a:pt x="1793380" y="498345"/>
                  <a:pt x="1791436" y="502463"/>
                  <a:pt x="1790344" y="506833"/>
                </a:cubicBezTo>
                <a:cubicBezTo>
                  <a:pt x="1788583" y="513879"/>
                  <a:pt x="1789807" y="521970"/>
                  <a:pt x="1786071" y="528197"/>
                </a:cubicBezTo>
                <a:cubicBezTo>
                  <a:pt x="1773795" y="548657"/>
                  <a:pt x="1768773" y="548207"/>
                  <a:pt x="1751888" y="553834"/>
                </a:cubicBezTo>
                <a:cubicBezTo>
                  <a:pt x="1719276" y="545682"/>
                  <a:pt x="1750389" y="555222"/>
                  <a:pt x="1713432" y="536743"/>
                </a:cubicBezTo>
                <a:cubicBezTo>
                  <a:pt x="1673657" y="516855"/>
                  <a:pt x="1709881" y="542447"/>
                  <a:pt x="1670703" y="511105"/>
                </a:cubicBezTo>
                <a:cubicBezTo>
                  <a:pt x="1666430" y="501135"/>
                  <a:pt x="1662735" y="490897"/>
                  <a:pt x="1657884" y="481195"/>
                </a:cubicBezTo>
                <a:cubicBezTo>
                  <a:pt x="1655588" y="476602"/>
                  <a:pt x="1651887" y="472835"/>
                  <a:pt x="1649339" y="468377"/>
                </a:cubicBezTo>
                <a:cubicBezTo>
                  <a:pt x="1643889" y="458840"/>
                  <a:pt x="1635300" y="439841"/>
                  <a:pt x="1632247" y="429920"/>
                </a:cubicBezTo>
                <a:cubicBezTo>
                  <a:pt x="1628793" y="418694"/>
                  <a:pt x="1626928" y="407030"/>
                  <a:pt x="1623701" y="395737"/>
                </a:cubicBezTo>
                <a:cubicBezTo>
                  <a:pt x="1621226" y="387076"/>
                  <a:pt x="1617743" y="378728"/>
                  <a:pt x="1615155" y="370100"/>
                </a:cubicBezTo>
                <a:cubicBezTo>
                  <a:pt x="1613468" y="364475"/>
                  <a:pt x="1614642" y="357520"/>
                  <a:pt x="1610883" y="353008"/>
                </a:cubicBezTo>
                <a:cubicBezTo>
                  <a:pt x="1603806" y="344516"/>
                  <a:pt x="1581213" y="341947"/>
                  <a:pt x="1572427" y="340190"/>
                </a:cubicBezTo>
                <a:cubicBezTo>
                  <a:pt x="1531122" y="341614"/>
                  <a:pt x="1489766" y="341962"/>
                  <a:pt x="1448512" y="344462"/>
                </a:cubicBezTo>
                <a:cubicBezTo>
                  <a:pt x="1442650" y="344817"/>
                  <a:pt x="1436199" y="345322"/>
                  <a:pt x="1431421" y="348735"/>
                </a:cubicBezTo>
                <a:cubicBezTo>
                  <a:pt x="1425626" y="352874"/>
                  <a:pt x="1421787" y="359457"/>
                  <a:pt x="1418602" y="365827"/>
                </a:cubicBezTo>
                <a:cubicBezTo>
                  <a:pt x="1411742" y="379548"/>
                  <a:pt x="1401511" y="408556"/>
                  <a:pt x="1401511" y="408556"/>
                </a:cubicBezTo>
                <a:cubicBezTo>
                  <a:pt x="1398662" y="425648"/>
                  <a:pt x="1398445" y="443393"/>
                  <a:pt x="1392965" y="459831"/>
                </a:cubicBezTo>
                <a:cubicBezTo>
                  <a:pt x="1391541" y="464104"/>
                  <a:pt x="1391457" y="469094"/>
                  <a:pt x="1388692" y="472649"/>
                </a:cubicBezTo>
                <a:cubicBezTo>
                  <a:pt x="1381272" y="482189"/>
                  <a:pt x="1368460" y="487477"/>
                  <a:pt x="1363055" y="498287"/>
                </a:cubicBezTo>
                <a:cubicBezTo>
                  <a:pt x="1360206" y="503984"/>
                  <a:pt x="1357018" y="509524"/>
                  <a:pt x="1354509" y="515378"/>
                </a:cubicBezTo>
                <a:cubicBezTo>
                  <a:pt x="1335643" y="559398"/>
                  <a:pt x="1370040" y="488589"/>
                  <a:pt x="1341690" y="545289"/>
                </a:cubicBezTo>
                <a:cubicBezTo>
                  <a:pt x="1340608" y="550699"/>
                  <a:pt x="1337187" y="572397"/>
                  <a:pt x="1333144" y="579472"/>
                </a:cubicBezTo>
                <a:cubicBezTo>
                  <a:pt x="1329611" y="585655"/>
                  <a:pt x="1324599" y="590866"/>
                  <a:pt x="1320326" y="596563"/>
                </a:cubicBezTo>
                <a:cubicBezTo>
                  <a:pt x="1317477" y="607958"/>
                  <a:pt x="1310483" y="619073"/>
                  <a:pt x="1311780" y="630747"/>
                </a:cubicBezTo>
                <a:cubicBezTo>
                  <a:pt x="1316531" y="673504"/>
                  <a:pt x="1307980" y="703859"/>
                  <a:pt x="1337417" y="733296"/>
                </a:cubicBezTo>
                <a:cubicBezTo>
                  <a:pt x="1347078" y="742957"/>
                  <a:pt x="1380637" y="767847"/>
                  <a:pt x="1397238" y="780298"/>
                </a:cubicBezTo>
                <a:cubicBezTo>
                  <a:pt x="1402935" y="784571"/>
                  <a:pt x="1410056" y="787420"/>
                  <a:pt x="1414329" y="793117"/>
                </a:cubicBezTo>
                <a:lnTo>
                  <a:pt x="1427148" y="810208"/>
                </a:lnTo>
                <a:cubicBezTo>
                  <a:pt x="1425724" y="827300"/>
                  <a:pt x="1429032" y="845475"/>
                  <a:pt x="1422875" y="861483"/>
                </a:cubicBezTo>
                <a:cubicBezTo>
                  <a:pt x="1420767" y="866964"/>
                  <a:pt x="1411562" y="864705"/>
                  <a:pt x="1405784" y="865756"/>
                </a:cubicBezTo>
                <a:cubicBezTo>
                  <a:pt x="1395875" y="867558"/>
                  <a:pt x="1385843" y="868605"/>
                  <a:pt x="1375873" y="870029"/>
                </a:cubicBezTo>
                <a:cubicBezTo>
                  <a:pt x="1370176" y="872878"/>
                  <a:pt x="1364825" y="876561"/>
                  <a:pt x="1358782" y="878575"/>
                </a:cubicBezTo>
                <a:cubicBezTo>
                  <a:pt x="1333554" y="886985"/>
                  <a:pt x="1319602" y="881228"/>
                  <a:pt x="1290415" y="878575"/>
                </a:cubicBezTo>
                <a:cubicBezTo>
                  <a:pt x="1273324" y="871453"/>
                  <a:pt x="1252234" y="870302"/>
                  <a:pt x="1239141" y="857210"/>
                </a:cubicBezTo>
                <a:cubicBezTo>
                  <a:pt x="1230086" y="848155"/>
                  <a:pt x="1219081" y="839386"/>
                  <a:pt x="1213503" y="827300"/>
                </a:cubicBezTo>
                <a:cubicBezTo>
                  <a:pt x="1207075" y="813372"/>
                  <a:pt x="1199420" y="799613"/>
                  <a:pt x="1196412" y="784571"/>
                </a:cubicBezTo>
                <a:cubicBezTo>
                  <a:pt x="1190890" y="756960"/>
                  <a:pt x="1195387" y="769702"/>
                  <a:pt x="1183593" y="746115"/>
                </a:cubicBezTo>
                <a:cubicBezTo>
                  <a:pt x="1185017" y="719053"/>
                  <a:pt x="1182932" y="691576"/>
                  <a:pt x="1187866" y="664930"/>
                </a:cubicBezTo>
                <a:cubicBezTo>
                  <a:pt x="1190186" y="652404"/>
                  <a:pt x="1204957" y="630747"/>
                  <a:pt x="1204957" y="630747"/>
                </a:cubicBezTo>
                <a:cubicBezTo>
                  <a:pt x="1206381" y="623625"/>
                  <a:pt x="1207143" y="616338"/>
                  <a:pt x="1209230" y="609382"/>
                </a:cubicBezTo>
                <a:cubicBezTo>
                  <a:pt x="1222187" y="566194"/>
                  <a:pt x="1213743" y="605655"/>
                  <a:pt x="1222049" y="575199"/>
                </a:cubicBezTo>
                <a:cubicBezTo>
                  <a:pt x="1236507" y="522189"/>
                  <a:pt x="1225033" y="557703"/>
                  <a:pt x="1234868" y="528197"/>
                </a:cubicBezTo>
                <a:cubicBezTo>
                  <a:pt x="1233444" y="499711"/>
                  <a:pt x="1239323" y="469892"/>
                  <a:pt x="1230595" y="442739"/>
                </a:cubicBezTo>
                <a:cubicBezTo>
                  <a:pt x="1225664" y="427398"/>
                  <a:pt x="1209303" y="418224"/>
                  <a:pt x="1196412" y="408556"/>
                </a:cubicBezTo>
                <a:lnTo>
                  <a:pt x="1162228" y="382919"/>
                </a:lnTo>
                <a:cubicBezTo>
                  <a:pt x="1160804" y="377222"/>
                  <a:pt x="1160017" y="371326"/>
                  <a:pt x="1157955" y="365827"/>
                </a:cubicBezTo>
                <a:cubicBezTo>
                  <a:pt x="1155719" y="359863"/>
                  <a:pt x="1151240" y="354836"/>
                  <a:pt x="1149410" y="348735"/>
                </a:cubicBezTo>
                <a:cubicBezTo>
                  <a:pt x="1146921" y="340437"/>
                  <a:pt x="1148656" y="331015"/>
                  <a:pt x="1145137" y="323098"/>
                </a:cubicBezTo>
                <a:cubicBezTo>
                  <a:pt x="1139893" y="311299"/>
                  <a:pt x="1124992" y="307159"/>
                  <a:pt x="1115227" y="301734"/>
                </a:cubicBezTo>
                <a:cubicBezTo>
                  <a:pt x="1097773" y="292037"/>
                  <a:pt x="1091887" y="285472"/>
                  <a:pt x="1072498" y="280369"/>
                </a:cubicBezTo>
                <a:cubicBezTo>
                  <a:pt x="1052776" y="275179"/>
                  <a:pt x="1032286" y="273152"/>
                  <a:pt x="1012677" y="267550"/>
                </a:cubicBezTo>
                <a:cubicBezTo>
                  <a:pt x="995795" y="262727"/>
                  <a:pt x="975148" y="255611"/>
                  <a:pt x="957129" y="254732"/>
                </a:cubicBezTo>
                <a:cubicBezTo>
                  <a:pt x="907318" y="252302"/>
                  <a:pt x="857428" y="251883"/>
                  <a:pt x="807578" y="250459"/>
                </a:cubicBezTo>
                <a:cubicBezTo>
                  <a:pt x="790486" y="249035"/>
                  <a:pt x="773426" y="247164"/>
                  <a:pt x="756303" y="246186"/>
                </a:cubicBezTo>
                <a:cubicBezTo>
                  <a:pt x="679032" y="241770"/>
                  <a:pt x="583077" y="239772"/>
                  <a:pt x="508475" y="237640"/>
                </a:cubicBezTo>
                <a:cubicBezTo>
                  <a:pt x="469754" y="229895"/>
                  <a:pt x="500705" y="237708"/>
                  <a:pt x="448655" y="216276"/>
                </a:cubicBezTo>
                <a:cubicBezTo>
                  <a:pt x="437402" y="211643"/>
                  <a:pt x="425770" y="207977"/>
                  <a:pt x="414471" y="203457"/>
                </a:cubicBezTo>
                <a:cubicBezTo>
                  <a:pt x="404400" y="199428"/>
                  <a:pt x="394776" y="194286"/>
                  <a:pt x="384561" y="190638"/>
                </a:cubicBezTo>
                <a:cubicBezTo>
                  <a:pt x="358163" y="181210"/>
                  <a:pt x="352099" y="181727"/>
                  <a:pt x="324741" y="177820"/>
                </a:cubicBezTo>
                <a:cubicBezTo>
                  <a:pt x="302555" y="169500"/>
                  <a:pt x="283763" y="161409"/>
                  <a:pt x="260647" y="156455"/>
                </a:cubicBezTo>
                <a:cubicBezTo>
                  <a:pt x="250799" y="154345"/>
                  <a:pt x="240707" y="153606"/>
                  <a:pt x="230737" y="152182"/>
                </a:cubicBezTo>
                <a:cubicBezTo>
                  <a:pt x="169902" y="103515"/>
                  <a:pt x="208940" y="131616"/>
                  <a:pt x="166643" y="105180"/>
                </a:cubicBezTo>
                <a:cubicBezTo>
                  <a:pt x="158287" y="99957"/>
                  <a:pt x="139838" y="86451"/>
                  <a:pt x="132460" y="83816"/>
                </a:cubicBezTo>
                <a:cubicBezTo>
                  <a:pt x="120094" y="79400"/>
                  <a:pt x="106823" y="78119"/>
                  <a:pt x="94004" y="75270"/>
                </a:cubicBezTo>
                <a:cubicBezTo>
                  <a:pt x="88307" y="72421"/>
                  <a:pt x="82443" y="69884"/>
                  <a:pt x="76912" y="66724"/>
                </a:cubicBezTo>
                <a:cubicBezTo>
                  <a:pt x="72453" y="64176"/>
                  <a:pt x="68687" y="60475"/>
                  <a:pt x="64094" y="58178"/>
                </a:cubicBezTo>
                <a:cubicBezTo>
                  <a:pt x="54392" y="53327"/>
                  <a:pt x="43886" y="50211"/>
                  <a:pt x="34184" y="45360"/>
                </a:cubicBezTo>
                <a:cubicBezTo>
                  <a:pt x="-6182" y="25177"/>
                  <a:pt x="28908" y="37904"/>
                  <a:pt x="0" y="28268"/>
                </a:cubicBezTo>
                <a:cubicBezTo>
                  <a:pt x="82254" y="-17428"/>
                  <a:pt x="33673" y="-476"/>
                  <a:pt x="196554" y="28268"/>
                </a:cubicBezTo>
                <a:cubicBezTo>
                  <a:pt x="227499" y="33729"/>
                  <a:pt x="276834" y="53207"/>
                  <a:pt x="307649" y="62451"/>
                </a:cubicBezTo>
                <a:cubicBezTo>
                  <a:pt x="323258" y="67134"/>
                  <a:pt x="346157" y="72172"/>
                  <a:pt x="363197" y="75270"/>
                </a:cubicBezTo>
                <a:cubicBezTo>
                  <a:pt x="488076" y="97976"/>
                  <a:pt x="618269" y="90405"/>
                  <a:pt x="743484" y="92362"/>
                </a:cubicBezTo>
                <a:cubicBezTo>
                  <a:pt x="749181" y="93786"/>
                  <a:pt x="755178" y="94321"/>
                  <a:pt x="760576" y="96634"/>
                </a:cubicBezTo>
                <a:cubicBezTo>
                  <a:pt x="775213" y="102907"/>
                  <a:pt x="787856" y="114137"/>
                  <a:pt x="803305" y="117999"/>
                </a:cubicBezTo>
                <a:cubicBezTo>
                  <a:pt x="861806" y="132624"/>
                  <a:pt x="739580" y="102691"/>
                  <a:pt x="880217" y="130818"/>
                </a:cubicBezTo>
                <a:lnTo>
                  <a:pt x="901582" y="135091"/>
                </a:lnTo>
                <a:cubicBezTo>
                  <a:pt x="910106" y="136641"/>
                  <a:pt x="918724" y="137664"/>
                  <a:pt x="927219" y="139363"/>
                </a:cubicBezTo>
                <a:cubicBezTo>
                  <a:pt x="1008411" y="155600"/>
                  <a:pt x="853822" y="126779"/>
                  <a:pt x="969948" y="152182"/>
                </a:cubicBezTo>
                <a:cubicBezTo>
                  <a:pt x="1006787" y="160241"/>
                  <a:pt x="1043712" y="168214"/>
                  <a:pt x="1081043" y="173547"/>
                </a:cubicBezTo>
                <a:cubicBezTo>
                  <a:pt x="1091013" y="174971"/>
                  <a:pt x="1101049" y="175995"/>
                  <a:pt x="1110954" y="177820"/>
                </a:cubicBezTo>
                <a:cubicBezTo>
                  <a:pt x="1155182" y="185967"/>
                  <a:pt x="1198625" y="199385"/>
                  <a:pt x="1243413" y="203457"/>
                </a:cubicBezTo>
                <a:cubicBezTo>
                  <a:pt x="1259080" y="204881"/>
                  <a:pt x="1274791" y="205892"/>
                  <a:pt x="1290415" y="207730"/>
                </a:cubicBezTo>
                <a:cubicBezTo>
                  <a:pt x="1299020" y="208742"/>
                  <a:pt x="1307469" y="210832"/>
                  <a:pt x="1316053" y="212003"/>
                </a:cubicBezTo>
                <a:cubicBezTo>
                  <a:pt x="1338808" y="215106"/>
                  <a:pt x="1361668" y="217410"/>
                  <a:pt x="1384419" y="220548"/>
                </a:cubicBezTo>
                <a:cubicBezTo>
                  <a:pt x="1402977" y="223108"/>
                  <a:pt x="1421361" y="226905"/>
                  <a:pt x="1439967" y="229094"/>
                </a:cubicBezTo>
                <a:cubicBezTo>
                  <a:pt x="1469807" y="232605"/>
                  <a:pt x="1500061" y="232700"/>
                  <a:pt x="1529698" y="237640"/>
                </a:cubicBezTo>
                <a:cubicBezTo>
                  <a:pt x="1538244" y="239064"/>
                  <a:pt x="1546840" y="240214"/>
                  <a:pt x="1555335" y="241913"/>
                </a:cubicBezTo>
                <a:cubicBezTo>
                  <a:pt x="1569923" y="244831"/>
                  <a:pt x="1578477" y="248888"/>
                  <a:pt x="1593791" y="250459"/>
                </a:cubicBezTo>
                <a:cubicBezTo>
                  <a:pt x="1642151" y="255419"/>
                  <a:pt x="1690465" y="262275"/>
                  <a:pt x="1739069" y="263277"/>
                </a:cubicBezTo>
                <a:lnTo>
                  <a:pt x="2153541" y="271823"/>
                </a:lnTo>
                <a:cubicBezTo>
                  <a:pt x="2299849" y="288080"/>
                  <a:pt x="2154089" y="272968"/>
                  <a:pt x="2508191" y="284642"/>
                </a:cubicBezTo>
                <a:cubicBezTo>
                  <a:pt x="2532433" y="285441"/>
                  <a:pt x="2556617" y="287491"/>
                  <a:pt x="2580830" y="288915"/>
                </a:cubicBezTo>
                <a:cubicBezTo>
                  <a:pt x="2585287" y="289658"/>
                  <a:pt x="2653444" y="301734"/>
                  <a:pt x="2666288" y="301734"/>
                </a:cubicBezTo>
                <a:cubicBezTo>
                  <a:pt x="2704770" y="301734"/>
                  <a:pt x="2743200" y="298885"/>
                  <a:pt x="2781656" y="297461"/>
                </a:cubicBezTo>
                <a:cubicBezTo>
                  <a:pt x="2806147" y="281134"/>
                  <a:pt x="2792389" y="293608"/>
                  <a:pt x="2811567" y="250459"/>
                </a:cubicBezTo>
                <a:lnTo>
                  <a:pt x="2773111" y="293188"/>
                </a:lnTo>
                <a:close/>
              </a:path>
            </a:pathLst>
          </a:cu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69F0E90B-7B8B-7B6B-E268-CEB1630D5D38}"/>
              </a:ext>
            </a:extLst>
          </p:cNvPr>
          <p:cNvSpPr/>
          <p:nvPr/>
        </p:nvSpPr>
        <p:spPr>
          <a:xfrm>
            <a:off x="2546647" y="4657458"/>
            <a:ext cx="640934" cy="709301"/>
          </a:xfrm>
          <a:custGeom>
            <a:avLst/>
            <a:gdLst>
              <a:gd name="connsiteX0" fmla="*/ 640934 w 640934"/>
              <a:gd name="connsiteY0" fmla="*/ 175189 h 709301"/>
              <a:gd name="connsiteX1" fmla="*/ 640934 w 640934"/>
              <a:gd name="connsiteY1" fmla="*/ 175189 h 709301"/>
              <a:gd name="connsiteX2" fmla="*/ 628116 w 640934"/>
              <a:gd name="connsiteY2" fmla="*/ 136733 h 709301"/>
              <a:gd name="connsiteX3" fmla="*/ 602478 w 640934"/>
              <a:gd name="connsiteY3" fmla="*/ 94004 h 709301"/>
              <a:gd name="connsiteX4" fmla="*/ 559749 w 640934"/>
              <a:gd name="connsiteY4" fmla="*/ 42729 h 709301"/>
              <a:gd name="connsiteX5" fmla="*/ 542658 w 640934"/>
              <a:gd name="connsiteY5" fmla="*/ 8546 h 709301"/>
              <a:gd name="connsiteX6" fmla="*/ 525566 w 640934"/>
              <a:gd name="connsiteY6" fmla="*/ 0 h 709301"/>
              <a:gd name="connsiteX7" fmla="*/ 512747 w 640934"/>
              <a:gd name="connsiteY7" fmla="*/ 4273 h 709301"/>
              <a:gd name="connsiteX8" fmla="*/ 499929 w 640934"/>
              <a:gd name="connsiteY8" fmla="*/ 12819 h 709301"/>
              <a:gd name="connsiteX9" fmla="*/ 440108 w 640934"/>
              <a:gd name="connsiteY9" fmla="*/ 64093 h 709301"/>
              <a:gd name="connsiteX10" fmla="*/ 423017 w 640934"/>
              <a:gd name="connsiteY10" fmla="*/ 76912 h 709301"/>
              <a:gd name="connsiteX11" fmla="*/ 401652 w 640934"/>
              <a:gd name="connsiteY11" fmla="*/ 94004 h 709301"/>
              <a:gd name="connsiteX12" fmla="*/ 380288 w 640934"/>
              <a:gd name="connsiteY12" fmla="*/ 106822 h 709301"/>
              <a:gd name="connsiteX13" fmla="*/ 341832 w 640934"/>
              <a:gd name="connsiteY13" fmla="*/ 94004 h 709301"/>
              <a:gd name="connsiteX14" fmla="*/ 307648 w 640934"/>
              <a:gd name="connsiteY14" fmla="*/ 68366 h 709301"/>
              <a:gd name="connsiteX15" fmla="*/ 294830 w 640934"/>
              <a:gd name="connsiteY15" fmla="*/ 59821 h 709301"/>
              <a:gd name="connsiteX16" fmla="*/ 277738 w 640934"/>
              <a:gd name="connsiteY16" fmla="*/ 55548 h 709301"/>
              <a:gd name="connsiteX17" fmla="*/ 243555 w 640934"/>
              <a:gd name="connsiteY17" fmla="*/ 59821 h 709301"/>
              <a:gd name="connsiteX18" fmla="*/ 209372 w 640934"/>
              <a:gd name="connsiteY18" fmla="*/ 85458 h 709301"/>
              <a:gd name="connsiteX19" fmla="*/ 153824 w 640934"/>
              <a:gd name="connsiteY19" fmla="*/ 128187 h 709301"/>
              <a:gd name="connsiteX20" fmla="*/ 119641 w 640934"/>
              <a:gd name="connsiteY20" fmla="*/ 153824 h 709301"/>
              <a:gd name="connsiteX21" fmla="*/ 47002 w 640934"/>
              <a:gd name="connsiteY21" fmla="*/ 222191 h 709301"/>
              <a:gd name="connsiteX22" fmla="*/ 25637 w 640934"/>
              <a:gd name="connsiteY22" fmla="*/ 252101 h 709301"/>
              <a:gd name="connsiteX23" fmla="*/ 4273 w 640934"/>
              <a:gd name="connsiteY23" fmla="*/ 333286 h 709301"/>
              <a:gd name="connsiteX24" fmla="*/ 0 w 640934"/>
              <a:gd name="connsiteY24" fmla="*/ 388834 h 709301"/>
              <a:gd name="connsiteX25" fmla="*/ 17091 w 640934"/>
              <a:gd name="connsiteY25" fmla="*/ 504202 h 709301"/>
              <a:gd name="connsiteX26" fmla="*/ 42729 w 640934"/>
              <a:gd name="connsiteY26" fmla="*/ 555477 h 709301"/>
              <a:gd name="connsiteX27" fmla="*/ 47002 w 640934"/>
              <a:gd name="connsiteY27" fmla="*/ 572568 h 709301"/>
              <a:gd name="connsiteX28" fmla="*/ 72639 w 640934"/>
              <a:gd name="connsiteY28" fmla="*/ 606751 h 709301"/>
              <a:gd name="connsiteX29" fmla="*/ 89731 w 640934"/>
              <a:gd name="connsiteY29" fmla="*/ 559749 h 709301"/>
              <a:gd name="connsiteX30" fmla="*/ 102549 w 640934"/>
              <a:gd name="connsiteY30" fmla="*/ 504202 h 709301"/>
              <a:gd name="connsiteX31" fmla="*/ 115368 w 640934"/>
              <a:gd name="connsiteY31" fmla="*/ 495656 h 709301"/>
              <a:gd name="connsiteX32" fmla="*/ 162370 w 640934"/>
              <a:gd name="connsiteY32" fmla="*/ 538385 h 709301"/>
              <a:gd name="connsiteX33" fmla="*/ 226463 w 640934"/>
              <a:gd name="connsiteY33" fmla="*/ 568295 h 709301"/>
              <a:gd name="connsiteX34" fmla="*/ 247828 w 640934"/>
              <a:gd name="connsiteY34" fmla="*/ 576841 h 709301"/>
              <a:gd name="connsiteX35" fmla="*/ 273465 w 640934"/>
              <a:gd name="connsiteY35" fmla="*/ 611024 h 709301"/>
              <a:gd name="connsiteX36" fmla="*/ 290557 w 640934"/>
              <a:gd name="connsiteY36" fmla="*/ 636662 h 709301"/>
              <a:gd name="connsiteX37" fmla="*/ 303375 w 640934"/>
              <a:gd name="connsiteY37" fmla="*/ 696482 h 709301"/>
              <a:gd name="connsiteX38" fmla="*/ 316194 w 640934"/>
              <a:gd name="connsiteY38" fmla="*/ 709301 h 709301"/>
              <a:gd name="connsiteX39" fmla="*/ 367469 w 640934"/>
              <a:gd name="connsiteY39" fmla="*/ 700755 h 709301"/>
              <a:gd name="connsiteX40" fmla="*/ 384560 w 640934"/>
              <a:gd name="connsiteY40" fmla="*/ 696482 h 709301"/>
              <a:gd name="connsiteX41" fmla="*/ 393106 w 640934"/>
              <a:gd name="connsiteY41" fmla="*/ 683663 h 709301"/>
              <a:gd name="connsiteX42" fmla="*/ 405925 w 640934"/>
              <a:gd name="connsiteY42" fmla="*/ 623843 h 709301"/>
              <a:gd name="connsiteX43" fmla="*/ 397379 w 640934"/>
              <a:gd name="connsiteY43" fmla="*/ 564022 h 709301"/>
              <a:gd name="connsiteX44" fmla="*/ 384560 w 640934"/>
              <a:gd name="connsiteY44" fmla="*/ 525566 h 709301"/>
              <a:gd name="connsiteX45" fmla="*/ 376015 w 640934"/>
              <a:gd name="connsiteY45" fmla="*/ 499929 h 709301"/>
              <a:gd name="connsiteX46" fmla="*/ 371742 w 640934"/>
              <a:gd name="connsiteY46" fmla="*/ 487110 h 709301"/>
              <a:gd name="connsiteX47" fmla="*/ 380288 w 640934"/>
              <a:gd name="connsiteY47" fmla="*/ 401652 h 709301"/>
              <a:gd name="connsiteX48" fmla="*/ 410198 w 640934"/>
              <a:gd name="connsiteY48" fmla="*/ 371742 h 709301"/>
              <a:gd name="connsiteX49" fmla="*/ 435835 w 640934"/>
              <a:gd name="connsiteY49" fmla="*/ 341832 h 709301"/>
              <a:gd name="connsiteX50" fmla="*/ 448654 w 640934"/>
              <a:gd name="connsiteY50" fmla="*/ 324740 h 709301"/>
              <a:gd name="connsiteX51" fmla="*/ 465746 w 640934"/>
              <a:gd name="connsiteY51" fmla="*/ 316194 h 709301"/>
              <a:gd name="connsiteX52" fmla="*/ 499929 w 640934"/>
              <a:gd name="connsiteY52" fmla="*/ 290557 h 709301"/>
              <a:gd name="connsiteX53" fmla="*/ 525566 w 640934"/>
              <a:gd name="connsiteY53" fmla="*/ 269192 h 709301"/>
              <a:gd name="connsiteX54" fmla="*/ 538385 w 640934"/>
              <a:gd name="connsiteY54" fmla="*/ 264920 h 709301"/>
              <a:gd name="connsiteX55" fmla="*/ 564022 w 640934"/>
              <a:gd name="connsiteY55" fmla="*/ 243555 h 709301"/>
              <a:gd name="connsiteX56" fmla="*/ 585387 w 640934"/>
              <a:gd name="connsiteY56" fmla="*/ 226463 h 709301"/>
              <a:gd name="connsiteX57" fmla="*/ 602478 w 640934"/>
              <a:gd name="connsiteY57" fmla="*/ 196553 h 709301"/>
              <a:gd name="connsiteX58" fmla="*/ 619570 w 640934"/>
              <a:gd name="connsiteY58" fmla="*/ 136733 h 709301"/>
              <a:gd name="connsiteX59" fmla="*/ 623843 w 640934"/>
              <a:gd name="connsiteY59" fmla="*/ 123914 h 709301"/>
              <a:gd name="connsiteX60" fmla="*/ 640934 w 640934"/>
              <a:gd name="connsiteY60" fmla="*/ 175189 h 709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40934" h="709301">
                <a:moveTo>
                  <a:pt x="640934" y="175189"/>
                </a:moveTo>
                <a:lnTo>
                  <a:pt x="640934" y="175189"/>
                </a:lnTo>
                <a:cubicBezTo>
                  <a:pt x="636661" y="162370"/>
                  <a:pt x="632966" y="149344"/>
                  <a:pt x="628116" y="136733"/>
                </a:cubicBezTo>
                <a:cubicBezTo>
                  <a:pt x="622612" y="122423"/>
                  <a:pt x="610792" y="105644"/>
                  <a:pt x="602478" y="94004"/>
                </a:cubicBezTo>
                <a:cubicBezTo>
                  <a:pt x="577083" y="58452"/>
                  <a:pt x="584040" y="67020"/>
                  <a:pt x="559749" y="42729"/>
                </a:cubicBezTo>
                <a:cubicBezTo>
                  <a:pt x="556944" y="35717"/>
                  <a:pt x="550337" y="14945"/>
                  <a:pt x="542658" y="8546"/>
                </a:cubicBezTo>
                <a:cubicBezTo>
                  <a:pt x="537765" y="4468"/>
                  <a:pt x="531263" y="2849"/>
                  <a:pt x="525566" y="0"/>
                </a:cubicBezTo>
                <a:cubicBezTo>
                  <a:pt x="521293" y="1424"/>
                  <a:pt x="516776" y="2259"/>
                  <a:pt x="512747" y="4273"/>
                </a:cubicBezTo>
                <a:cubicBezTo>
                  <a:pt x="508154" y="6570"/>
                  <a:pt x="503893" y="9555"/>
                  <a:pt x="499929" y="12819"/>
                </a:cubicBezTo>
                <a:cubicBezTo>
                  <a:pt x="479656" y="29514"/>
                  <a:pt x="460284" y="47280"/>
                  <a:pt x="440108" y="64093"/>
                </a:cubicBezTo>
                <a:cubicBezTo>
                  <a:pt x="434637" y="68652"/>
                  <a:pt x="428638" y="72540"/>
                  <a:pt x="423017" y="76912"/>
                </a:cubicBezTo>
                <a:cubicBezTo>
                  <a:pt x="415818" y="82511"/>
                  <a:pt x="409473" y="89312"/>
                  <a:pt x="401652" y="94004"/>
                </a:cubicBezTo>
                <a:lnTo>
                  <a:pt x="380288" y="106822"/>
                </a:lnTo>
                <a:cubicBezTo>
                  <a:pt x="367469" y="102549"/>
                  <a:pt x="353774" y="100326"/>
                  <a:pt x="341832" y="94004"/>
                </a:cubicBezTo>
                <a:cubicBezTo>
                  <a:pt x="329244" y="87340"/>
                  <a:pt x="319167" y="76743"/>
                  <a:pt x="307648" y="68366"/>
                </a:cubicBezTo>
                <a:cubicBezTo>
                  <a:pt x="303495" y="65346"/>
                  <a:pt x="299550" y="61844"/>
                  <a:pt x="294830" y="59821"/>
                </a:cubicBezTo>
                <a:cubicBezTo>
                  <a:pt x="289432" y="57508"/>
                  <a:pt x="283435" y="56972"/>
                  <a:pt x="277738" y="55548"/>
                </a:cubicBezTo>
                <a:cubicBezTo>
                  <a:pt x="266344" y="56972"/>
                  <a:pt x="254075" y="55218"/>
                  <a:pt x="243555" y="59821"/>
                </a:cubicBezTo>
                <a:cubicBezTo>
                  <a:pt x="230506" y="65530"/>
                  <a:pt x="221223" y="77558"/>
                  <a:pt x="209372" y="85458"/>
                </a:cubicBezTo>
                <a:cubicBezTo>
                  <a:pt x="124710" y="141897"/>
                  <a:pt x="234160" y="59327"/>
                  <a:pt x="153824" y="128187"/>
                </a:cubicBezTo>
                <a:cubicBezTo>
                  <a:pt x="143010" y="137456"/>
                  <a:pt x="130763" y="144926"/>
                  <a:pt x="119641" y="153824"/>
                </a:cubicBezTo>
                <a:cubicBezTo>
                  <a:pt x="101350" y="168457"/>
                  <a:pt x="57734" y="207166"/>
                  <a:pt x="47002" y="222191"/>
                </a:cubicBezTo>
                <a:lnTo>
                  <a:pt x="25637" y="252101"/>
                </a:lnTo>
                <a:cubicBezTo>
                  <a:pt x="14175" y="286487"/>
                  <a:pt x="9072" y="296495"/>
                  <a:pt x="4273" y="333286"/>
                </a:cubicBezTo>
                <a:cubicBezTo>
                  <a:pt x="1871" y="351701"/>
                  <a:pt x="1424" y="370318"/>
                  <a:pt x="0" y="388834"/>
                </a:cubicBezTo>
                <a:cubicBezTo>
                  <a:pt x="3175" y="442804"/>
                  <a:pt x="-1488" y="458787"/>
                  <a:pt x="17091" y="504202"/>
                </a:cubicBezTo>
                <a:cubicBezTo>
                  <a:pt x="24326" y="521888"/>
                  <a:pt x="38094" y="536938"/>
                  <a:pt x="42729" y="555477"/>
                </a:cubicBezTo>
                <a:cubicBezTo>
                  <a:pt x="44153" y="561174"/>
                  <a:pt x="44043" y="567496"/>
                  <a:pt x="47002" y="572568"/>
                </a:cubicBezTo>
                <a:cubicBezTo>
                  <a:pt x="54179" y="584871"/>
                  <a:pt x="72639" y="606751"/>
                  <a:pt x="72639" y="606751"/>
                </a:cubicBezTo>
                <a:cubicBezTo>
                  <a:pt x="85798" y="587014"/>
                  <a:pt x="84292" y="592387"/>
                  <a:pt x="89731" y="559749"/>
                </a:cubicBezTo>
                <a:cubicBezTo>
                  <a:pt x="93747" y="535653"/>
                  <a:pt x="86338" y="520413"/>
                  <a:pt x="102549" y="504202"/>
                </a:cubicBezTo>
                <a:cubicBezTo>
                  <a:pt x="106180" y="500571"/>
                  <a:pt x="111095" y="498505"/>
                  <a:pt x="115368" y="495656"/>
                </a:cubicBezTo>
                <a:cubicBezTo>
                  <a:pt x="131035" y="509899"/>
                  <a:pt x="145431" y="525681"/>
                  <a:pt x="162370" y="538385"/>
                </a:cubicBezTo>
                <a:cubicBezTo>
                  <a:pt x="190431" y="559431"/>
                  <a:pt x="198137" y="557995"/>
                  <a:pt x="226463" y="568295"/>
                </a:cubicBezTo>
                <a:cubicBezTo>
                  <a:pt x="233671" y="570916"/>
                  <a:pt x="240706" y="573992"/>
                  <a:pt x="247828" y="576841"/>
                </a:cubicBezTo>
                <a:cubicBezTo>
                  <a:pt x="277106" y="606121"/>
                  <a:pt x="255241" y="580652"/>
                  <a:pt x="273465" y="611024"/>
                </a:cubicBezTo>
                <a:cubicBezTo>
                  <a:pt x="278749" y="619831"/>
                  <a:pt x="290557" y="636662"/>
                  <a:pt x="290557" y="636662"/>
                </a:cubicBezTo>
                <a:cubicBezTo>
                  <a:pt x="292942" y="655745"/>
                  <a:pt x="293556" y="678808"/>
                  <a:pt x="303375" y="696482"/>
                </a:cubicBezTo>
                <a:cubicBezTo>
                  <a:pt x="306310" y="701765"/>
                  <a:pt x="311921" y="705028"/>
                  <a:pt x="316194" y="709301"/>
                </a:cubicBezTo>
                <a:cubicBezTo>
                  <a:pt x="333286" y="706452"/>
                  <a:pt x="350438" y="703948"/>
                  <a:pt x="367469" y="700755"/>
                </a:cubicBezTo>
                <a:cubicBezTo>
                  <a:pt x="373241" y="699673"/>
                  <a:pt x="379674" y="699739"/>
                  <a:pt x="384560" y="696482"/>
                </a:cubicBezTo>
                <a:cubicBezTo>
                  <a:pt x="388833" y="693633"/>
                  <a:pt x="390257" y="687936"/>
                  <a:pt x="393106" y="683663"/>
                </a:cubicBezTo>
                <a:cubicBezTo>
                  <a:pt x="394642" y="677520"/>
                  <a:pt x="406442" y="634182"/>
                  <a:pt x="405925" y="623843"/>
                </a:cubicBezTo>
                <a:cubicBezTo>
                  <a:pt x="404919" y="603725"/>
                  <a:pt x="401658" y="583705"/>
                  <a:pt x="397379" y="564022"/>
                </a:cubicBezTo>
                <a:cubicBezTo>
                  <a:pt x="394509" y="550818"/>
                  <a:pt x="388833" y="538385"/>
                  <a:pt x="384560" y="525566"/>
                </a:cubicBezTo>
                <a:lnTo>
                  <a:pt x="376015" y="499929"/>
                </a:lnTo>
                <a:lnTo>
                  <a:pt x="371742" y="487110"/>
                </a:lnTo>
                <a:cubicBezTo>
                  <a:pt x="374591" y="458624"/>
                  <a:pt x="374449" y="429678"/>
                  <a:pt x="380288" y="401652"/>
                </a:cubicBezTo>
                <a:cubicBezTo>
                  <a:pt x="383286" y="387259"/>
                  <a:pt x="401502" y="380438"/>
                  <a:pt x="410198" y="371742"/>
                </a:cubicBezTo>
                <a:cubicBezTo>
                  <a:pt x="419483" y="362457"/>
                  <a:pt x="427520" y="351995"/>
                  <a:pt x="435835" y="341832"/>
                </a:cubicBezTo>
                <a:cubicBezTo>
                  <a:pt x="440345" y="336320"/>
                  <a:pt x="443247" y="329375"/>
                  <a:pt x="448654" y="324740"/>
                </a:cubicBezTo>
                <a:cubicBezTo>
                  <a:pt x="453490" y="320595"/>
                  <a:pt x="460650" y="320016"/>
                  <a:pt x="465746" y="316194"/>
                </a:cubicBezTo>
                <a:cubicBezTo>
                  <a:pt x="508938" y="283801"/>
                  <a:pt x="458556" y="311243"/>
                  <a:pt x="499929" y="290557"/>
                </a:cubicBezTo>
                <a:cubicBezTo>
                  <a:pt x="509378" y="281107"/>
                  <a:pt x="513668" y="275140"/>
                  <a:pt x="525566" y="269192"/>
                </a:cubicBezTo>
                <a:cubicBezTo>
                  <a:pt x="529595" y="267178"/>
                  <a:pt x="534112" y="266344"/>
                  <a:pt x="538385" y="264920"/>
                </a:cubicBezTo>
                <a:cubicBezTo>
                  <a:pt x="564621" y="247428"/>
                  <a:pt x="537699" y="266587"/>
                  <a:pt x="564022" y="243555"/>
                </a:cubicBezTo>
                <a:cubicBezTo>
                  <a:pt x="570886" y="237549"/>
                  <a:pt x="578938" y="232912"/>
                  <a:pt x="585387" y="226463"/>
                </a:cubicBezTo>
                <a:cubicBezTo>
                  <a:pt x="590075" y="221775"/>
                  <a:pt x="600803" y="201579"/>
                  <a:pt x="602478" y="196553"/>
                </a:cubicBezTo>
                <a:cubicBezTo>
                  <a:pt x="609036" y="176879"/>
                  <a:pt x="613012" y="156407"/>
                  <a:pt x="619570" y="136733"/>
                </a:cubicBezTo>
                <a:cubicBezTo>
                  <a:pt x="620994" y="132460"/>
                  <a:pt x="623102" y="119471"/>
                  <a:pt x="623843" y="123914"/>
                </a:cubicBezTo>
                <a:cubicBezTo>
                  <a:pt x="625950" y="136558"/>
                  <a:pt x="638085" y="166643"/>
                  <a:pt x="640934" y="175189"/>
                </a:cubicBezTo>
                <a:close/>
              </a:path>
            </a:pathLst>
          </a:custGeom>
          <a:noFill/>
          <a:ln w="28575">
            <a:solidFill>
              <a:srgbClr val="E917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46D1AE07-E990-4AF6-20DB-E3D0AD7F9546}"/>
              </a:ext>
            </a:extLst>
          </p:cNvPr>
          <p:cNvSpPr/>
          <p:nvPr/>
        </p:nvSpPr>
        <p:spPr>
          <a:xfrm>
            <a:off x="8507303" y="2828658"/>
            <a:ext cx="1414364" cy="1354508"/>
          </a:xfrm>
          <a:custGeom>
            <a:avLst/>
            <a:gdLst>
              <a:gd name="connsiteX0" fmla="*/ 269228 w 1414364"/>
              <a:gd name="connsiteY0" fmla="*/ 363196 h 1354508"/>
              <a:gd name="connsiteX1" fmla="*/ 269228 w 1414364"/>
              <a:gd name="connsiteY1" fmla="*/ 363196 h 1354508"/>
              <a:gd name="connsiteX2" fmla="*/ 264955 w 1414364"/>
              <a:gd name="connsiteY2" fmla="*/ 222191 h 1354508"/>
              <a:gd name="connsiteX3" fmla="*/ 222226 w 1414364"/>
              <a:gd name="connsiteY3" fmla="*/ 196553 h 1354508"/>
              <a:gd name="connsiteX4" fmla="*/ 145314 w 1414364"/>
              <a:gd name="connsiteY4" fmla="*/ 162370 h 1354508"/>
              <a:gd name="connsiteX5" fmla="*/ 85493 w 1414364"/>
              <a:gd name="connsiteY5" fmla="*/ 132460 h 1354508"/>
              <a:gd name="connsiteX6" fmla="*/ 68402 w 1414364"/>
              <a:gd name="connsiteY6" fmla="*/ 123914 h 1354508"/>
              <a:gd name="connsiteX7" fmla="*/ 21400 w 1414364"/>
              <a:gd name="connsiteY7" fmla="*/ 81185 h 1354508"/>
              <a:gd name="connsiteX8" fmla="*/ 4308 w 1414364"/>
              <a:gd name="connsiteY8" fmla="*/ 59821 h 1354508"/>
              <a:gd name="connsiteX9" fmla="*/ 35 w 1414364"/>
              <a:gd name="connsiteY9" fmla="*/ 47002 h 1354508"/>
              <a:gd name="connsiteX10" fmla="*/ 8581 w 1414364"/>
              <a:gd name="connsiteY10" fmla="*/ 12819 h 1354508"/>
              <a:gd name="connsiteX11" fmla="*/ 25673 w 1414364"/>
              <a:gd name="connsiteY11" fmla="*/ 4273 h 1354508"/>
              <a:gd name="connsiteX12" fmla="*/ 76947 w 1414364"/>
              <a:gd name="connsiteY12" fmla="*/ 0 h 1354508"/>
              <a:gd name="connsiteX13" fmla="*/ 170951 w 1414364"/>
              <a:gd name="connsiteY13" fmla="*/ 17092 h 1354508"/>
              <a:gd name="connsiteX14" fmla="*/ 256409 w 1414364"/>
              <a:gd name="connsiteY14" fmla="*/ 89731 h 1354508"/>
              <a:gd name="connsiteX15" fmla="*/ 282047 w 1414364"/>
              <a:gd name="connsiteY15" fmla="*/ 111095 h 1354508"/>
              <a:gd name="connsiteX16" fmla="*/ 299138 w 1414364"/>
              <a:gd name="connsiteY16" fmla="*/ 132460 h 1354508"/>
              <a:gd name="connsiteX17" fmla="*/ 316230 w 1414364"/>
              <a:gd name="connsiteY17" fmla="*/ 145278 h 1354508"/>
              <a:gd name="connsiteX18" fmla="*/ 350413 w 1414364"/>
              <a:gd name="connsiteY18" fmla="*/ 188007 h 1354508"/>
              <a:gd name="connsiteX19" fmla="*/ 376050 w 1414364"/>
              <a:gd name="connsiteY19" fmla="*/ 209372 h 1354508"/>
              <a:gd name="connsiteX20" fmla="*/ 410233 w 1414364"/>
              <a:gd name="connsiteY20" fmla="*/ 260647 h 1354508"/>
              <a:gd name="connsiteX21" fmla="*/ 427325 w 1414364"/>
              <a:gd name="connsiteY21" fmla="*/ 277738 h 1354508"/>
              <a:gd name="connsiteX22" fmla="*/ 435871 w 1414364"/>
              <a:gd name="connsiteY22" fmla="*/ 290557 h 1354508"/>
              <a:gd name="connsiteX23" fmla="*/ 508510 w 1414364"/>
              <a:gd name="connsiteY23" fmla="*/ 329013 h 1354508"/>
              <a:gd name="connsiteX24" fmla="*/ 717882 w 1414364"/>
              <a:gd name="connsiteY24" fmla="*/ 508475 h 1354508"/>
              <a:gd name="connsiteX25" fmla="*/ 764884 w 1414364"/>
              <a:gd name="connsiteY25" fmla="*/ 564022 h 1354508"/>
              <a:gd name="connsiteX26" fmla="*/ 828977 w 1414364"/>
              <a:gd name="connsiteY26" fmla="*/ 632389 h 1354508"/>
              <a:gd name="connsiteX27" fmla="*/ 880252 w 1414364"/>
              <a:gd name="connsiteY27" fmla="*/ 705028 h 1354508"/>
              <a:gd name="connsiteX28" fmla="*/ 905890 w 1414364"/>
              <a:gd name="connsiteY28" fmla="*/ 739211 h 1354508"/>
              <a:gd name="connsiteX29" fmla="*/ 927254 w 1414364"/>
              <a:gd name="connsiteY29" fmla="*/ 773394 h 1354508"/>
              <a:gd name="connsiteX30" fmla="*/ 961437 w 1414364"/>
              <a:gd name="connsiteY30" fmla="*/ 816123 h 1354508"/>
              <a:gd name="connsiteX31" fmla="*/ 999893 w 1414364"/>
              <a:gd name="connsiteY31" fmla="*/ 867398 h 1354508"/>
              <a:gd name="connsiteX32" fmla="*/ 1046895 w 1414364"/>
              <a:gd name="connsiteY32" fmla="*/ 901581 h 1354508"/>
              <a:gd name="connsiteX33" fmla="*/ 1068260 w 1414364"/>
              <a:gd name="connsiteY33" fmla="*/ 918673 h 1354508"/>
              <a:gd name="connsiteX34" fmla="*/ 1098170 w 1414364"/>
              <a:gd name="connsiteY34" fmla="*/ 935764 h 1354508"/>
              <a:gd name="connsiteX35" fmla="*/ 1132353 w 1414364"/>
              <a:gd name="connsiteY35" fmla="*/ 961402 h 1354508"/>
              <a:gd name="connsiteX36" fmla="*/ 1179355 w 1414364"/>
              <a:gd name="connsiteY36" fmla="*/ 982766 h 1354508"/>
              <a:gd name="connsiteX37" fmla="*/ 1230630 w 1414364"/>
              <a:gd name="connsiteY37" fmla="*/ 1012677 h 1354508"/>
              <a:gd name="connsiteX38" fmla="*/ 1290450 w 1414364"/>
              <a:gd name="connsiteY38" fmla="*/ 1042587 h 1354508"/>
              <a:gd name="connsiteX39" fmla="*/ 1375908 w 1414364"/>
              <a:gd name="connsiteY39" fmla="*/ 1106680 h 1354508"/>
              <a:gd name="connsiteX40" fmla="*/ 1393000 w 1414364"/>
              <a:gd name="connsiteY40" fmla="*/ 1119499 h 1354508"/>
              <a:gd name="connsiteX41" fmla="*/ 1414364 w 1414364"/>
              <a:gd name="connsiteY41" fmla="*/ 1157955 h 1354508"/>
              <a:gd name="connsiteX42" fmla="*/ 1401546 w 1414364"/>
              <a:gd name="connsiteY42" fmla="*/ 1260505 h 1354508"/>
              <a:gd name="connsiteX43" fmla="*/ 1363090 w 1414364"/>
              <a:gd name="connsiteY43" fmla="*/ 1286142 h 1354508"/>
              <a:gd name="connsiteX44" fmla="*/ 1328906 w 1414364"/>
              <a:gd name="connsiteY44" fmla="*/ 1290415 h 1354508"/>
              <a:gd name="connsiteX45" fmla="*/ 1273359 w 1414364"/>
              <a:gd name="connsiteY45" fmla="*/ 1294688 h 1354508"/>
              <a:gd name="connsiteX46" fmla="*/ 1281904 w 1414364"/>
              <a:gd name="connsiteY46" fmla="*/ 1341690 h 1354508"/>
              <a:gd name="connsiteX47" fmla="*/ 1290450 w 1414364"/>
              <a:gd name="connsiteY47" fmla="*/ 1354508 h 1354508"/>
              <a:gd name="connsiteX48" fmla="*/ 1162263 w 1414364"/>
              <a:gd name="connsiteY48" fmla="*/ 1324598 h 1354508"/>
              <a:gd name="connsiteX49" fmla="*/ 1119534 w 1414364"/>
              <a:gd name="connsiteY49" fmla="*/ 1286142 h 1354508"/>
              <a:gd name="connsiteX50" fmla="*/ 1110989 w 1414364"/>
              <a:gd name="connsiteY50" fmla="*/ 1273323 h 1354508"/>
              <a:gd name="connsiteX51" fmla="*/ 1102443 w 1414364"/>
              <a:gd name="connsiteY51" fmla="*/ 1162228 h 1354508"/>
              <a:gd name="connsiteX52" fmla="*/ 1093897 w 1414364"/>
              <a:gd name="connsiteY52" fmla="*/ 1106680 h 1354508"/>
              <a:gd name="connsiteX53" fmla="*/ 1046895 w 1414364"/>
              <a:gd name="connsiteY53" fmla="*/ 1063951 h 1354508"/>
              <a:gd name="connsiteX54" fmla="*/ 1008439 w 1414364"/>
              <a:gd name="connsiteY54" fmla="*/ 1034041 h 1354508"/>
              <a:gd name="connsiteX55" fmla="*/ 974256 w 1414364"/>
              <a:gd name="connsiteY55" fmla="*/ 1004131 h 1354508"/>
              <a:gd name="connsiteX56" fmla="*/ 940073 w 1414364"/>
              <a:gd name="connsiteY56" fmla="*/ 987039 h 1354508"/>
              <a:gd name="connsiteX57" fmla="*/ 910162 w 1414364"/>
              <a:gd name="connsiteY57" fmla="*/ 965675 h 1354508"/>
              <a:gd name="connsiteX58" fmla="*/ 837523 w 1414364"/>
              <a:gd name="connsiteY58" fmla="*/ 918673 h 1354508"/>
              <a:gd name="connsiteX59" fmla="*/ 769157 w 1414364"/>
              <a:gd name="connsiteY59" fmla="*/ 850306 h 1354508"/>
              <a:gd name="connsiteX60" fmla="*/ 752065 w 1414364"/>
              <a:gd name="connsiteY60" fmla="*/ 833215 h 1354508"/>
              <a:gd name="connsiteX61" fmla="*/ 726428 w 1414364"/>
              <a:gd name="connsiteY61" fmla="*/ 824669 h 1354508"/>
              <a:gd name="connsiteX62" fmla="*/ 713609 w 1414364"/>
              <a:gd name="connsiteY62" fmla="*/ 811850 h 1354508"/>
              <a:gd name="connsiteX63" fmla="*/ 692245 w 1414364"/>
              <a:gd name="connsiteY63" fmla="*/ 794759 h 1354508"/>
              <a:gd name="connsiteX64" fmla="*/ 653789 w 1414364"/>
              <a:gd name="connsiteY64" fmla="*/ 747757 h 1354508"/>
              <a:gd name="connsiteX65" fmla="*/ 593968 w 1414364"/>
              <a:gd name="connsiteY65" fmla="*/ 683663 h 1354508"/>
              <a:gd name="connsiteX66" fmla="*/ 508510 w 1414364"/>
              <a:gd name="connsiteY66" fmla="*/ 623843 h 1354508"/>
              <a:gd name="connsiteX67" fmla="*/ 478600 w 1414364"/>
              <a:gd name="connsiteY67" fmla="*/ 602478 h 1354508"/>
              <a:gd name="connsiteX68" fmla="*/ 452962 w 1414364"/>
              <a:gd name="connsiteY68" fmla="*/ 589660 h 1354508"/>
              <a:gd name="connsiteX69" fmla="*/ 418779 w 1414364"/>
              <a:gd name="connsiteY69" fmla="*/ 564022 h 1354508"/>
              <a:gd name="connsiteX70" fmla="*/ 393142 w 1414364"/>
              <a:gd name="connsiteY70" fmla="*/ 546931 h 1354508"/>
              <a:gd name="connsiteX71" fmla="*/ 354686 w 1414364"/>
              <a:gd name="connsiteY71" fmla="*/ 504202 h 1354508"/>
              <a:gd name="connsiteX72" fmla="*/ 329048 w 1414364"/>
              <a:gd name="connsiteY72" fmla="*/ 470019 h 1354508"/>
              <a:gd name="connsiteX73" fmla="*/ 320503 w 1414364"/>
              <a:gd name="connsiteY73" fmla="*/ 457200 h 1354508"/>
              <a:gd name="connsiteX74" fmla="*/ 303411 w 1414364"/>
              <a:gd name="connsiteY74" fmla="*/ 440108 h 1354508"/>
              <a:gd name="connsiteX75" fmla="*/ 282047 w 1414364"/>
              <a:gd name="connsiteY75" fmla="*/ 397379 h 1354508"/>
              <a:gd name="connsiteX76" fmla="*/ 273501 w 1414364"/>
              <a:gd name="connsiteY76" fmla="*/ 363196 h 1354508"/>
              <a:gd name="connsiteX77" fmla="*/ 256409 w 1414364"/>
              <a:gd name="connsiteY77" fmla="*/ 333286 h 1354508"/>
              <a:gd name="connsiteX78" fmla="*/ 252136 w 1414364"/>
              <a:gd name="connsiteY78" fmla="*/ 316194 h 1354508"/>
              <a:gd name="connsiteX79" fmla="*/ 269228 w 1414364"/>
              <a:gd name="connsiteY79" fmla="*/ 363196 h 1354508"/>
              <a:gd name="connsiteX0" fmla="*/ 269228 w 1414364"/>
              <a:gd name="connsiteY0" fmla="*/ 363196 h 1354508"/>
              <a:gd name="connsiteX1" fmla="*/ 269228 w 1414364"/>
              <a:gd name="connsiteY1" fmla="*/ 363196 h 1354508"/>
              <a:gd name="connsiteX2" fmla="*/ 222226 w 1414364"/>
              <a:gd name="connsiteY2" fmla="*/ 196553 h 1354508"/>
              <a:gd name="connsiteX3" fmla="*/ 145314 w 1414364"/>
              <a:gd name="connsiteY3" fmla="*/ 162370 h 1354508"/>
              <a:gd name="connsiteX4" fmla="*/ 85493 w 1414364"/>
              <a:gd name="connsiteY4" fmla="*/ 132460 h 1354508"/>
              <a:gd name="connsiteX5" fmla="*/ 68402 w 1414364"/>
              <a:gd name="connsiteY5" fmla="*/ 123914 h 1354508"/>
              <a:gd name="connsiteX6" fmla="*/ 21400 w 1414364"/>
              <a:gd name="connsiteY6" fmla="*/ 81185 h 1354508"/>
              <a:gd name="connsiteX7" fmla="*/ 4308 w 1414364"/>
              <a:gd name="connsiteY7" fmla="*/ 59821 h 1354508"/>
              <a:gd name="connsiteX8" fmla="*/ 35 w 1414364"/>
              <a:gd name="connsiteY8" fmla="*/ 47002 h 1354508"/>
              <a:gd name="connsiteX9" fmla="*/ 8581 w 1414364"/>
              <a:gd name="connsiteY9" fmla="*/ 12819 h 1354508"/>
              <a:gd name="connsiteX10" fmla="*/ 25673 w 1414364"/>
              <a:gd name="connsiteY10" fmla="*/ 4273 h 1354508"/>
              <a:gd name="connsiteX11" fmla="*/ 76947 w 1414364"/>
              <a:gd name="connsiteY11" fmla="*/ 0 h 1354508"/>
              <a:gd name="connsiteX12" fmla="*/ 170951 w 1414364"/>
              <a:gd name="connsiteY12" fmla="*/ 17092 h 1354508"/>
              <a:gd name="connsiteX13" fmla="*/ 256409 w 1414364"/>
              <a:gd name="connsiteY13" fmla="*/ 89731 h 1354508"/>
              <a:gd name="connsiteX14" fmla="*/ 282047 w 1414364"/>
              <a:gd name="connsiteY14" fmla="*/ 111095 h 1354508"/>
              <a:gd name="connsiteX15" fmla="*/ 299138 w 1414364"/>
              <a:gd name="connsiteY15" fmla="*/ 132460 h 1354508"/>
              <a:gd name="connsiteX16" fmla="*/ 316230 w 1414364"/>
              <a:gd name="connsiteY16" fmla="*/ 145278 h 1354508"/>
              <a:gd name="connsiteX17" fmla="*/ 350413 w 1414364"/>
              <a:gd name="connsiteY17" fmla="*/ 188007 h 1354508"/>
              <a:gd name="connsiteX18" fmla="*/ 376050 w 1414364"/>
              <a:gd name="connsiteY18" fmla="*/ 209372 h 1354508"/>
              <a:gd name="connsiteX19" fmla="*/ 410233 w 1414364"/>
              <a:gd name="connsiteY19" fmla="*/ 260647 h 1354508"/>
              <a:gd name="connsiteX20" fmla="*/ 427325 w 1414364"/>
              <a:gd name="connsiteY20" fmla="*/ 277738 h 1354508"/>
              <a:gd name="connsiteX21" fmla="*/ 435871 w 1414364"/>
              <a:gd name="connsiteY21" fmla="*/ 290557 h 1354508"/>
              <a:gd name="connsiteX22" fmla="*/ 508510 w 1414364"/>
              <a:gd name="connsiteY22" fmla="*/ 329013 h 1354508"/>
              <a:gd name="connsiteX23" fmla="*/ 717882 w 1414364"/>
              <a:gd name="connsiteY23" fmla="*/ 508475 h 1354508"/>
              <a:gd name="connsiteX24" fmla="*/ 764884 w 1414364"/>
              <a:gd name="connsiteY24" fmla="*/ 564022 h 1354508"/>
              <a:gd name="connsiteX25" fmla="*/ 828977 w 1414364"/>
              <a:gd name="connsiteY25" fmla="*/ 632389 h 1354508"/>
              <a:gd name="connsiteX26" fmla="*/ 880252 w 1414364"/>
              <a:gd name="connsiteY26" fmla="*/ 705028 h 1354508"/>
              <a:gd name="connsiteX27" fmla="*/ 905890 w 1414364"/>
              <a:gd name="connsiteY27" fmla="*/ 739211 h 1354508"/>
              <a:gd name="connsiteX28" fmla="*/ 927254 w 1414364"/>
              <a:gd name="connsiteY28" fmla="*/ 773394 h 1354508"/>
              <a:gd name="connsiteX29" fmla="*/ 961437 w 1414364"/>
              <a:gd name="connsiteY29" fmla="*/ 816123 h 1354508"/>
              <a:gd name="connsiteX30" fmla="*/ 999893 w 1414364"/>
              <a:gd name="connsiteY30" fmla="*/ 867398 h 1354508"/>
              <a:gd name="connsiteX31" fmla="*/ 1046895 w 1414364"/>
              <a:gd name="connsiteY31" fmla="*/ 901581 h 1354508"/>
              <a:gd name="connsiteX32" fmla="*/ 1068260 w 1414364"/>
              <a:gd name="connsiteY32" fmla="*/ 918673 h 1354508"/>
              <a:gd name="connsiteX33" fmla="*/ 1098170 w 1414364"/>
              <a:gd name="connsiteY33" fmla="*/ 935764 h 1354508"/>
              <a:gd name="connsiteX34" fmla="*/ 1132353 w 1414364"/>
              <a:gd name="connsiteY34" fmla="*/ 961402 h 1354508"/>
              <a:gd name="connsiteX35" fmla="*/ 1179355 w 1414364"/>
              <a:gd name="connsiteY35" fmla="*/ 982766 h 1354508"/>
              <a:gd name="connsiteX36" fmla="*/ 1230630 w 1414364"/>
              <a:gd name="connsiteY36" fmla="*/ 1012677 h 1354508"/>
              <a:gd name="connsiteX37" fmla="*/ 1290450 w 1414364"/>
              <a:gd name="connsiteY37" fmla="*/ 1042587 h 1354508"/>
              <a:gd name="connsiteX38" fmla="*/ 1375908 w 1414364"/>
              <a:gd name="connsiteY38" fmla="*/ 1106680 h 1354508"/>
              <a:gd name="connsiteX39" fmla="*/ 1393000 w 1414364"/>
              <a:gd name="connsiteY39" fmla="*/ 1119499 h 1354508"/>
              <a:gd name="connsiteX40" fmla="*/ 1414364 w 1414364"/>
              <a:gd name="connsiteY40" fmla="*/ 1157955 h 1354508"/>
              <a:gd name="connsiteX41" fmla="*/ 1401546 w 1414364"/>
              <a:gd name="connsiteY41" fmla="*/ 1260505 h 1354508"/>
              <a:gd name="connsiteX42" fmla="*/ 1363090 w 1414364"/>
              <a:gd name="connsiteY42" fmla="*/ 1286142 h 1354508"/>
              <a:gd name="connsiteX43" fmla="*/ 1328906 w 1414364"/>
              <a:gd name="connsiteY43" fmla="*/ 1290415 h 1354508"/>
              <a:gd name="connsiteX44" fmla="*/ 1273359 w 1414364"/>
              <a:gd name="connsiteY44" fmla="*/ 1294688 h 1354508"/>
              <a:gd name="connsiteX45" fmla="*/ 1281904 w 1414364"/>
              <a:gd name="connsiteY45" fmla="*/ 1341690 h 1354508"/>
              <a:gd name="connsiteX46" fmla="*/ 1290450 w 1414364"/>
              <a:gd name="connsiteY46" fmla="*/ 1354508 h 1354508"/>
              <a:gd name="connsiteX47" fmla="*/ 1162263 w 1414364"/>
              <a:gd name="connsiteY47" fmla="*/ 1324598 h 1354508"/>
              <a:gd name="connsiteX48" fmla="*/ 1119534 w 1414364"/>
              <a:gd name="connsiteY48" fmla="*/ 1286142 h 1354508"/>
              <a:gd name="connsiteX49" fmla="*/ 1110989 w 1414364"/>
              <a:gd name="connsiteY49" fmla="*/ 1273323 h 1354508"/>
              <a:gd name="connsiteX50" fmla="*/ 1102443 w 1414364"/>
              <a:gd name="connsiteY50" fmla="*/ 1162228 h 1354508"/>
              <a:gd name="connsiteX51" fmla="*/ 1093897 w 1414364"/>
              <a:gd name="connsiteY51" fmla="*/ 1106680 h 1354508"/>
              <a:gd name="connsiteX52" fmla="*/ 1046895 w 1414364"/>
              <a:gd name="connsiteY52" fmla="*/ 1063951 h 1354508"/>
              <a:gd name="connsiteX53" fmla="*/ 1008439 w 1414364"/>
              <a:gd name="connsiteY53" fmla="*/ 1034041 h 1354508"/>
              <a:gd name="connsiteX54" fmla="*/ 974256 w 1414364"/>
              <a:gd name="connsiteY54" fmla="*/ 1004131 h 1354508"/>
              <a:gd name="connsiteX55" fmla="*/ 940073 w 1414364"/>
              <a:gd name="connsiteY55" fmla="*/ 987039 h 1354508"/>
              <a:gd name="connsiteX56" fmla="*/ 910162 w 1414364"/>
              <a:gd name="connsiteY56" fmla="*/ 965675 h 1354508"/>
              <a:gd name="connsiteX57" fmla="*/ 837523 w 1414364"/>
              <a:gd name="connsiteY57" fmla="*/ 918673 h 1354508"/>
              <a:gd name="connsiteX58" fmla="*/ 769157 w 1414364"/>
              <a:gd name="connsiteY58" fmla="*/ 850306 h 1354508"/>
              <a:gd name="connsiteX59" fmla="*/ 752065 w 1414364"/>
              <a:gd name="connsiteY59" fmla="*/ 833215 h 1354508"/>
              <a:gd name="connsiteX60" fmla="*/ 726428 w 1414364"/>
              <a:gd name="connsiteY60" fmla="*/ 824669 h 1354508"/>
              <a:gd name="connsiteX61" fmla="*/ 713609 w 1414364"/>
              <a:gd name="connsiteY61" fmla="*/ 811850 h 1354508"/>
              <a:gd name="connsiteX62" fmla="*/ 692245 w 1414364"/>
              <a:gd name="connsiteY62" fmla="*/ 794759 h 1354508"/>
              <a:gd name="connsiteX63" fmla="*/ 653789 w 1414364"/>
              <a:gd name="connsiteY63" fmla="*/ 747757 h 1354508"/>
              <a:gd name="connsiteX64" fmla="*/ 593968 w 1414364"/>
              <a:gd name="connsiteY64" fmla="*/ 683663 h 1354508"/>
              <a:gd name="connsiteX65" fmla="*/ 508510 w 1414364"/>
              <a:gd name="connsiteY65" fmla="*/ 623843 h 1354508"/>
              <a:gd name="connsiteX66" fmla="*/ 478600 w 1414364"/>
              <a:gd name="connsiteY66" fmla="*/ 602478 h 1354508"/>
              <a:gd name="connsiteX67" fmla="*/ 452962 w 1414364"/>
              <a:gd name="connsiteY67" fmla="*/ 589660 h 1354508"/>
              <a:gd name="connsiteX68" fmla="*/ 418779 w 1414364"/>
              <a:gd name="connsiteY68" fmla="*/ 564022 h 1354508"/>
              <a:gd name="connsiteX69" fmla="*/ 393142 w 1414364"/>
              <a:gd name="connsiteY69" fmla="*/ 546931 h 1354508"/>
              <a:gd name="connsiteX70" fmla="*/ 354686 w 1414364"/>
              <a:gd name="connsiteY70" fmla="*/ 504202 h 1354508"/>
              <a:gd name="connsiteX71" fmla="*/ 329048 w 1414364"/>
              <a:gd name="connsiteY71" fmla="*/ 470019 h 1354508"/>
              <a:gd name="connsiteX72" fmla="*/ 320503 w 1414364"/>
              <a:gd name="connsiteY72" fmla="*/ 457200 h 1354508"/>
              <a:gd name="connsiteX73" fmla="*/ 303411 w 1414364"/>
              <a:gd name="connsiteY73" fmla="*/ 440108 h 1354508"/>
              <a:gd name="connsiteX74" fmla="*/ 282047 w 1414364"/>
              <a:gd name="connsiteY74" fmla="*/ 397379 h 1354508"/>
              <a:gd name="connsiteX75" fmla="*/ 273501 w 1414364"/>
              <a:gd name="connsiteY75" fmla="*/ 363196 h 1354508"/>
              <a:gd name="connsiteX76" fmla="*/ 256409 w 1414364"/>
              <a:gd name="connsiteY76" fmla="*/ 333286 h 1354508"/>
              <a:gd name="connsiteX77" fmla="*/ 252136 w 1414364"/>
              <a:gd name="connsiteY77" fmla="*/ 316194 h 1354508"/>
              <a:gd name="connsiteX78" fmla="*/ 269228 w 1414364"/>
              <a:gd name="connsiteY78" fmla="*/ 363196 h 1354508"/>
              <a:gd name="connsiteX0" fmla="*/ 269228 w 1414364"/>
              <a:gd name="connsiteY0" fmla="*/ 363196 h 1354508"/>
              <a:gd name="connsiteX1" fmla="*/ 269228 w 1414364"/>
              <a:gd name="connsiteY1" fmla="*/ 363196 h 1354508"/>
              <a:gd name="connsiteX2" fmla="*/ 145314 w 1414364"/>
              <a:gd name="connsiteY2" fmla="*/ 162370 h 1354508"/>
              <a:gd name="connsiteX3" fmla="*/ 85493 w 1414364"/>
              <a:gd name="connsiteY3" fmla="*/ 132460 h 1354508"/>
              <a:gd name="connsiteX4" fmla="*/ 68402 w 1414364"/>
              <a:gd name="connsiteY4" fmla="*/ 123914 h 1354508"/>
              <a:gd name="connsiteX5" fmla="*/ 21400 w 1414364"/>
              <a:gd name="connsiteY5" fmla="*/ 81185 h 1354508"/>
              <a:gd name="connsiteX6" fmla="*/ 4308 w 1414364"/>
              <a:gd name="connsiteY6" fmla="*/ 59821 h 1354508"/>
              <a:gd name="connsiteX7" fmla="*/ 35 w 1414364"/>
              <a:gd name="connsiteY7" fmla="*/ 47002 h 1354508"/>
              <a:gd name="connsiteX8" fmla="*/ 8581 w 1414364"/>
              <a:gd name="connsiteY8" fmla="*/ 12819 h 1354508"/>
              <a:gd name="connsiteX9" fmla="*/ 25673 w 1414364"/>
              <a:gd name="connsiteY9" fmla="*/ 4273 h 1354508"/>
              <a:gd name="connsiteX10" fmla="*/ 76947 w 1414364"/>
              <a:gd name="connsiteY10" fmla="*/ 0 h 1354508"/>
              <a:gd name="connsiteX11" fmla="*/ 170951 w 1414364"/>
              <a:gd name="connsiteY11" fmla="*/ 17092 h 1354508"/>
              <a:gd name="connsiteX12" fmla="*/ 256409 w 1414364"/>
              <a:gd name="connsiteY12" fmla="*/ 89731 h 1354508"/>
              <a:gd name="connsiteX13" fmla="*/ 282047 w 1414364"/>
              <a:gd name="connsiteY13" fmla="*/ 111095 h 1354508"/>
              <a:gd name="connsiteX14" fmla="*/ 299138 w 1414364"/>
              <a:gd name="connsiteY14" fmla="*/ 132460 h 1354508"/>
              <a:gd name="connsiteX15" fmla="*/ 316230 w 1414364"/>
              <a:gd name="connsiteY15" fmla="*/ 145278 h 1354508"/>
              <a:gd name="connsiteX16" fmla="*/ 350413 w 1414364"/>
              <a:gd name="connsiteY16" fmla="*/ 188007 h 1354508"/>
              <a:gd name="connsiteX17" fmla="*/ 376050 w 1414364"/>
              <a:gd name="connsiteY17" fmla="*/ 209372 h 1354508"/>
              <a:gd name="connsiteX18" fmla="*/ 410233 w 1414364"/>
              <a:gd name="connsiteY18" fmla="*/ 260647 h 1354508"/>
              <a:gd name="connsiteX19" fmla="*/ 427325 w 1414364"/>
              <a:gd name="connsiteY19" fmla="*/ 277738 h 1354508"/>
              <a:gd name="connsiteX20" fmla="*/ 435871 w 1414364"/>
              <a:gd name="connsiteY20" fmla="*/ 290557 h 1354508"/>
              <a:gd name="connsiteX21" fmla="*/ 508510 w 1414364"/>
              <a:gd name="connsiteY21" fmla="*/ 329013 h 1354508"/>
              <a:gd name="connsiteX22" fmla="*/ 717882 w 1414364"/>
              <a:gd name="connsiteY22" fmla="*/ 508475 h 1354508"/>
              <a:gd name="connsiteX23" fmla="*/ 764884 w 1414364"/>
              <a:gd name="connsiteY23" fmla="*/ 564022 h 1354508"/>
              <a:gd name="connsiteX24" fmla="*/ 828977 w 1414364"/>
              <a:gd name="connsiteY24" fmla="*/ 632389 h 1354508"/>
              <a:gd name="connsiteX25" fmla="*/ 880252 w 1414364"/>
              <a:gd name="connsiteY25" fmla="*/ 705028 h 1354508"/>
              <a:gd name="connsiteX26" fmla="*/ 905890 w 1414364"/>
              <a:gd name="connsiteY26" fmla="*/ 739211 h 1354508"/>
              <a:gd name="connsiteX27" fmla="*/ 927254 w 1414364"/>
              <a:gd name="connsiteY27" fmla="*/ 773394 h 1354508"/>
              <a:gd name="connsiteX28" fmla="*/ 961437 w 1414364"/>
              <a:gd name="connsiteY28" fmla="*/ 816123 h 1354508"/>
              <a:gd name="connsiteX29" fmla="*/ 999893 w 1414364"/>
              <a:gd name="connsiteY29" fmla="*/ 867398 h 1354508"/>
              <a:gd name="connsiteX30" fmla="*/ 1046895 w 1414364"/>
              <a:gd name="connsiteY30" fmla="*/ 901581 h 1354508"/>
              <a:gd name="connsiteX31" fmla="*/ 1068260 w 1414364"/>
              <a:gd name="connsiteY31" fmla="*/ 918673 h 1354508"/>
              <a:gd name="connsiteX32" fmla="*/ 1098170 w 1414364"/>
              <a:gd name="connsiteY32" fmla="*/ 935764 h 1354508"/>
              <a:gd name="connsiteX33" fmla="*/ 1132353 w 1414364"/>
              <a:gd name="connsiteY33" fmla="*/ 961402 h 1354508"/>
              <a:gd name="connsiteX34" fmla="*/ 1179355 w 1414364"/>
              <a:gd name="connsiteY34" fmla="*/ 982766 h 1354508"/>
              <a:gd name="connsiteX35" fmla="*/ 1230630 w 1414364"/>
              <a:gd name="connsiteY35" fmla="*/ 1012677 h 1354508"/>
              <a:gd name="connsiteX36" fmla="*/ 1290450 w 1414364"/>
              <a:gd name="connsiteY36" fmla="*/ 1042587 h 1354508"/>
              <a:gd name="connsiteX37" fmla="*/ 1375908 w 1414364"/>
              <a:gd name="connsiteY37" fmla="*/ 1106680 h 1354508"/>
              <a:gd name="connsiteX38" fmla="*/ 1393000 w 1414364"/>
              <a:gd name="connsiteY38" fmla="*/ 1119499 h 1354508"/>
              <a:gd name="connsiteX39" fmla="*/ 1414364 w 1414364"/>
              <a:gd name="connsiteY39" fmla="*/ 1157955 h 1354508"/>
              <a:gd name="connsiteX40" fmla="*/ 1401546 w 1414364"/>
              <a:gd name="connsiteY40" fmla="*/ 1260505 h 1354508"/>
              <a:gd name="connsiteX41" fmla="*/ 1363090 w 1414364"/>
              <a:gd name="connsiteY41" fmla="*/ 1286142 h 1354508"/>
              <a:gd name="connsiteX42" fmla="*/ 1328906 w 1414364"/>
              <a:gd name="connsiteY42" fmla="*/ 1290415 h 1354508"/>
              <a:gd name="connsiteX43" fmla="*/ 1273359 w 1414364"/>
              <a:gd name="connsiteY43" fmla="*/ 1294688 h 1354508"/>
              <a:gd name="connsiteX44" fmla="*/ 1281904 w 1414364"/>
              <a:gd name="connsiteY44" fmla="*/ 1341690 h 1354508"/>
              <a:gd name="connsiteX45" fmla="*/ 1290450 w 1414364"/>
              <a:gd name="connsiteY45" fmla="*/ 1354508 h 1354508"/>
              <a:gd name="connsiteX46" fmla="*/ 1162263 w 1414364"/>
              <a:gd name="connsiteY46" fmla="*/ 1324598 h 1354508"/>
              <a:gd name="connsiteX47" fmla="*/ 1119534 w 1414364"/>
              <a:gd name="connsiteY47" fmla="*/ 1286142 h 1354508"/>
              <a:gd name="connsiteX48" fmla="*/ 1110989 w 1414364"/>
              <a:gd name="connsiteY48" fmla="*/ 1273323 h 1354508"/>
              <a:gd name="connsiteX49" fmla="*/ 1102443 w 1414364"/>
              <a:gd name="connsiteY49" fmla="*/ 1162228 h 1354508"/>
              <a:gd name="connsiteX50" fmla="*/ 1093897 w 1414364"/>
              <a:gd name="connsiteY50" fmla="*/ 1106680 h 1354508"/>
              <a:gd name="connsiteX51" fmla="*/ 1046895 w 1414364"/>
              <a:gd name="connsiteY51" fmla="*/ 1063951 h 1354508"/>
              <a:gd name="connsiteX52" fmla="*/ 1008439 w 1414364"/>
              <a:gd name="connsiteY52" fmla="*/ 1034041 h 1354508"/>
              <a:gd name="connsiteX53" fmla="*/ 974256 w 1414364"/>
              <a:gd name="connsiteY53" fmla="*/ 1004131 h 1354508"/>
              <a:gd name="connsiteX54" fmla="*/ 940073 w 1414364"/>
              <a:gd name="connsiteY54" fmla="*/ 987039 h 1354508"/>
              <a:gd name="connsiteX55" fmla="*/ 910162 w 1414364"/>
              <a:gd name="connsiteY55" fmla="*/ 965675 h 1354508"/>
              <a:gd name="connsiteX56" fmla="*/ 837523 w 1414364"/>
              <a:gd name="connsiteY56" fmla="*/ 918673 h 1354508"/>
              <a:gd name="connsiteX57" fmla="*/ 769157 w 1414364"/>
              <a:gd name="connsiteY57" fmla="*/ 850306 h 1354508"/>
              <a:gd name="connsiteX58" fmla="*/ 752065 w 1414364"/>
              <a:gd name="connsiteY58" fmla="*/ 833215 h 1354508"/>
              <a:gd name="connsiteX59" fmla="*/ 726428 w 1414364"/>
              <a:gd name="connsiteY59" fmla="*/ 824669 h 1354508"/>
              <a:gd name="connsiteX60" fmla="*/ 713609 w 1414364"/>
              <a:gd name="connsiteY60" fmla="*/ 811850 h 1354508"/>
              <a:gd name="connsiteX61" fmla="*/ 692245 w 1414364"/>
              <a:gd name="connsiteY61" fmla="*/ 794759 h 1354508"/>
              <a:gd name="connsiteX62" fmla="*/ 653789 w 1414364"/>
              <a:gd name="connsiteY62" fmla="*/ 747757 h 1354508"/>
              <a:gd name="connsiteX63" fmla="*/ 593968 w 1414364"/>
              <a:gd name="connsiteY63" fmla="*/ 683663 h 1354508"/>
              <a:gd name="connsiteX64" fmla="*/ 508510 w 1414364"/>
              <a:gd name="connsiteY64" fmla="*/ 623843 h 1354508"/>
              <a:gd name="connsiteX65" fmla="*/ 478600 w 1414364"/>
              <a:gd name="connsiteY65" fmla="*/ 602478 h 1354508"/>
              <a:gd name="connsiteX66" fmla="*/ 452962 w 1414364"/>
              <a:gd name="connsiteY66" fmla="*/ 589660 h 1354508"/>
              <a:gd name="connsiteX67" fmla="*/ 418779 w 1414364"/>
              <a:gd name="connsiteY67" fmla="*/ 564022 h 1354508"/>
              <a:gd name="connsiteX68" fmla="*/ 393142 w 1414364"/>
              <a:gd name="connsiteY68" fmla="*/ 546931 h 1354508"/>
              <a:gd name="connsiteX69" fmla="*/ 354686 w 1414364"/>
              <a:gd name="connsiteY69" fmla="*/ 504202 h 1354508"/>
              <a:gd name="connsiteX70" fmla="*/ 329048 w 1414364"/>
              <a:gd name="connsiteY70" fmla="*/ 470019 h 1354508"/>
              <a:gd name="connsiteX71" fmla="*/ 320503 w 1414364"/>
              <a:gd name="connsiteY71" fmla="*/ 457200 h 1354508"/>
              <a:gd name="connsiteX72" fmla="*/ 303411 w 1414364"/>
              <a:gd name="connsiteY72" fmla="*/ 440108 h 1354508"/>
              <a:gd name="connsiteX73" fmla="*/ 282047 w 1414364"/>
              <a:gd name="connsiteY73" fmla="*/ 397379 h 1354508"/>
              <a:gd name="connsiteX74" fmla="*/ 273501 w 1414364"/>
              <a:gd name="connsiteY74" fmla="*/ 363196 h 1354508"/>
              <a:gd name="connsiteX75" fmla="*/ 256409 w 1414364"/>
              <a:gd name="connsiteY75" fmla="*/ 333286 h 1354508"/>
              <a:gd name="connsiteX76" fmla="*/ 252136 w 1414364"/>
              <a:gd name="connsiteY76" fmla="*/ 316194 h 1354508"/>
              <a:gd name="connsiteX77" fmla="*/ 269228 w 1414364"/>
              <a:gd name="connsiteY77" fmla="*/ 363196 h 1354508"/>
              <a:gd name="connsiteX0" fmla="*/ 269228 w 1414364"/>
              <a:gd name="connsiteY0" fmla="*/ 363196 h 1354508"/>
              <a:gd name="connsiteX1" fmla="*/ 269228 w 1414364"/>
              <a:gd name="connsiteY1" fmla="*/ 363196 h 1354508"/>
              <a:gd name="connsiteX2" fmla="*/ 115404 w 1414364"/>
              <a:gd name="connsiteY2" fmla="*/ 205099 h 1354508"/>
              <a:gd name="connsiteX3" fmla="*/ 85493 w 1414364"/>
              <a:gd name="connsiteY3" fmla="*/ 132460 h 1354508"/>
              <a:gd name="connsiteX4" fmla="*/ 68402 w 1414364"/>
              <a:gd name="connsiteY4" fmla="*/ 123914 h 1354508"/>
              <a:gd name="connsiteX5" fmla="*/ 21400 w 1414364"/>
              <a:gd name="connsiteY5" fmla="*/ 81185 h 1354508"/>
              <a:gd name="connsiteX6" fmla="*/ 4308 w 1414364"/>
              <a:gd name="connsiteY6" fmla="*/ 59821 h 1354508"/>
              <a:gd name="connsiteX7" fmla="*/ 35 w 1414364"/>
              <a:gd name="connsiteY7" fmla="*/ 47002 h 1354508"/>
              <a:gd name="connsiteX8" fmla="*/ 8581 w 1414364"/>
              <a:gd name="connsiteY8" fmla="*/ 12819 h 1354508"/>
              <a:gd name="connsiteX9" fmla="*/ 25673 w 1414364"/>
              <a:gd name="connsiteY9" fmla="*/ 4273 h 1354508"/>
              <a:gd name="connsiteX10" fmla="*/ 76947 w 1414364"/>
              <a:gd name="connsiteY10" fmla="*/ 0 h 1354508"/>
              <a:gd name="connsiteX11" fmla="*/ 170951 w 1414364"/>
              <a:gd name="connsiteY11" fmla="*/ 17092 h 1354508"/>
              <a:gd name="connsiteX12" fmla="*/ 256409 w 1414364"/>
              <a:gd name="connsiteY12" fmla="*/ 89731 h 1354508"/>
              <a:gd name="connsiteX13" fmla="*/ 282047 w 1414364"/>
              <a:gd name="connsiteY13" fmla="*/ 111095 h 1354508"/>
              <a:gd name="connsiteX14" fmla="*/ 299138 w 1414364"/>
              <a:gd name="connsiteY14" fmla="*/ 132460 h 1354508"/>
              <a:gd name="connsiteX15" fmla="*/ 316230 w 1414364"/>
              <a:gd name="connsiteY15" fmla="*/ 145278 h 1354508"/>
              <a:gd name="connsiteX16" fmla="*/ 350413 w 1414364"/>
              <a:gd name="connsiteY16" fmla="*/ 188007 h 1354508"/>
              <a:gd name="connsiteX17" fmla="*/ 376050 w 1414364"/>
              <a:gd name="connsiteY17" fmla="*/ 209372 h 1354508"/>
              <a:gd name="connsiteX18" fmla="*/ 410233 w 1414364"/>
              <a:gd name="connsiteY18" fmla="*/ 260647 h 1354508"/>
              <a:gd name="connsiteX19" fmla="*/ 427325 w 1414364"/>
              <a:gd name="connsiteY19" fmla="*/ 277738 h 1354508"/>
              <a:gd name="connsiteX20" fmla="*/ 435871 w 1414364"/>
              <a:gd name="connsiteY20" fmla="*/ 290557 h 1354508"/>
              <a:gd name="connsiteX21" fmla="*/ 508510 w 1414364"/>
              <a:gd name="connsiteY21" fmla="*/ 329013 h 1354508"/>
              <a:gd name="connsiteX22" fmla="*/ 717882 w 1414364"/>
              <a:gd name="connsiteY22" fmla="*/ 508475 h 1354508"/>
              <a:gd name="connsiteX23" fmla="*/ 764884 w 1414364"/>
              <a:gd name="connsiteY23" fmla="*/ 564022 h 1354508"/>
              <a:gd name="connsiteX24" fmla="*/ 828977 w 1414364"/>
              <a:gd name="connsiteY24" fmla="*/ 632389 h 1354508"/>
              <a:gd name="connsiteX25" fmla="*/ 880252 w 1414364"/>
              <a:gd name="connsiteY25" fmla="*/ 705028 h 1354508"/>
              <a:gd name="connsiteX26" fmla="*/ 905890 w 1414364"/>
              <a:gd name="connsiteY26" fmla="*/ 739211 h 1354508"/>
              <a:gd name="connsiteX27" fmla="*/ 927254 w 1414364"/>
              <a:gd name="connsiteY27" fmla="*/ 773394 h 1354508"/>
              <a:gd name="connsiteX28" fmla="*/ 961437 w 1414364"/>
              <a:gd name="connsiteY28" fmla="*/ 816123 h 1354508"/>
              <a:gd name="connsiteX29" fmla="*/ 999893 w 1414364"/>
              <a:gd name="connsiteY29" fmla="*/ 867398 h 1354508"/>
              <a:gd name="connsiteX30" fmla="*/ 1046895 w 1414364"/>
              <a:gd name="connsiteY30" fmla="*/ 901581 h 1354508"/>
              <a:gd name="connsiteX31" fmla="*/ 1068260 w 1414364"/>
              <a:gd name="connsiteY31" fmla="*/ 918673 h 1354508"/>
              <a:gd name="connsiteX32" fmla="*/ 1098170 w 1414364"/>
              <a:gd name="connsiteY32" fmla="*/ 935764 h 1354508"/>
              <a:gd name="connsiteX33" fmla="*/ 1132353 w 1414364"/>
              <a:gd name="connsiteY33" fmla="*/ 961402 h 1354508"/>
              <a:gd name="connsiteX34" fmla="*/ 1179355 w 1414364"/>
              <a:gd name="connsiteY34" fmla="*/ 982766 h 1354508"/>
              <a:gd name="connsiteX35" fmla="*/ 1230630 w 1414364"/>
              <a:gd name="connsiteY35" fmla="*/ 1012677 h 1354508"/>
              <a:gd name="connsiteX36" fmla="*/ 1290450 w 1414364"/>
              <a:gd name="connsiteY36" fmla="*/ 1042587 h 1354508"/>
              <a:gd name="connsiteX37" fmla="*/ 1375908 w 1414364"/>
              <a:gd name="connsiteY37" fmla="*/ 1106680 h 1354508"/>
              <a:gd name="connsiteX38" fmla="*/ 1393000 w 1414364"/>
              <a:gd name="connsiteY38" fmla="*/ 1119499 h 1354508"/>
              <a:gd name="connsiteX39" fmla="*/ 1414364 w 1414364"/>
              <a:gd name="connsiteY39" fmla="*/ 1157955 h 1354508"/>
              <a:gd name="connsiteX40" fmla="*/ 1401546 w 1414364"/>
              <a:gd name="connsiteY40" fmla="*/ 1260505 h 1354508"/>
              <a:gd name="connsiteX41" fmla="*/ 1363090 w 1414364"/>
              <a:gd name="connsiteY41" fmla="*/ 1286142 h 1354508"/>
              <a:gd name="connsiteX42" fmla="*/ 1328906 w 1414364"/>
              <a:gd name="connsiteY42" fmla="*/ 1290415 h 1354508"/>
              <a:gd name="connsiteX43" fmla="*/ 1273359 w 1414364"/>
              <a:gd name="connsiteY43" fmla="*/ 1294688 h 1354508"/>
              <a:gd name="connsiteX44" fmla="*/ 1281904 w 1414364"/>
              <a:gd name="connsiteY44" fmla="*/ 1341690 h 1354508"/>
              <a:gd name="connsiteX45" fmla="*/ 1290450 w 1414364"/>
              <a:gd name="connsiteY45" fmla="*/ 1354508 h 1354508"/>
              <a:gd name="connsiteX46" fmla="*/ 1162263 w 1414364"/>
              <a:gd name="connsiteY46" fmla="*/ 1324598 h 1354508"/>
              <a:gd name="connsiteX47" fmla="*/ 1119534 w 1414364"/>
              <a:gd name="connsiteY47" fmla="*/ 1286142 h 1354508"/>
              <a:gd name="connsiteX48" fmla="*/ 1110989 w 1414364"/>
              <a:gd name="connsiteY48" fmla="*/ 1273323 h 1354508"/>
              <a:gd name="connsiteX49" fmla="*/ 1102443 w 1414364"/>
              <a:gd name="connsiteY49" fmla="*/ 1162228 h 1354508"/>
              <a:gd name="connsiteX50" fmla="*/ 1093897 w 1414364"/>
              <a:gd name="connsiteY50" fmla="*/ 1106680 h 1354508"/>
              <a:gd name="connsiteX51" fmla="*/ 1046895 w 1414364"/>
              <a:gd name="connsiteY51" fmla="*/ 1063951 h 1354508"/>
              <a:gd name="connsiteX52" fmla="*/ 1008439 w 1414364"/>
              <a:gd name="connsiteY52" fmla="*/ 1034041 h 1354508"/>
              <a:gd name="connsiteX53" fmla="*/ 974256 w 1414364"/>
              <a:gd name="connsiteY53" fmla="*/ 1004131 h 1354508"/>
              <a:gd name="connsiteX54" fmla="*/ 940073 w 1414364"/>
              <a:gd name="connsiteY54" fmla="*/ 987039 h 1354508"/>
              <a:gd name="connsiteX55" fmla="*/ 910162 w 1414364"/>
              <a:gd name="connsiteY55" fmla="*/ 965675 h 1354508"/>
              <a:gd name="connsiteX56" fmla="*/ 837523 w 1414364"/>
              <a:gd name="connsiteY56" fmla="*/ 918673 h 1354508"/>
              <a:gd name="connsiteX57" fmla="*/ 769157 w 1414364"/>
              <a:gd name="connsiteY57" fmla="*/ 850306 h 1354508"/>
              <a:gd name="connsiteX58" fmla="*/ 752065 w 1414364"/>
              <a:gd name="connsiteY58" fmla="*/ 833215 h 1354508"/>
              <a:gd name="connsiteX59" fmla="*/ 726428 w 1414364"/>
              <a:gd name="connsiteY59" fmla="*/ 824669 h 1354508"/>
              <a:gd name="connsiteX60" fmla="*/ 713609 w 1414364"/>
              <a:gd name="connsiteY60" fmla="*/ 811850 h 1354508"/>
              <a:gd name="connsiteX61" fmla="*/ 692245 w 1414364"/>
              <a:gd name="connsiteY61" fmla="*/ 794759 h 1354508"/>
              <a:gd name="connsiteX62" fmla="*/ 653789 w 1414364"/>
              <a:gd name="connsiteY62" fmla="*/ 747757 h 1354508"/>
              <a:gd name="connsiteX63" fmla="*/ 593968 w 1414364"/>
              <a:gd name="connsiteY63" fmla="*/ 683663 h 1354508"/>
              <a:gd name="connsiteX64" fmla="*/ 508510 w 1414364"/>
              <a:gd name="connsiteY64" fmla="*/ 623843 h 1354508"/>
              <a:gd name="connsiteX65" fmla="*/ 478600 w 1414364"/>
              <a:gd name="connsiteY65" fmla="*/ 602478 h 1354508"/>
              <a:gd name="connsiteX66" fmla="*/ 452962 w 1414364"/>
              <a:gd name="connsiteY66" fmla="*/ 589660 h 1354508"/>
              <a:gd name="connsiteX67" fmla="*/ 418779 w 1414364"/>
              <a:gd name="connsiteY67" fmla="*/ 564022 h 1354508"/>
              <a:gd name="connsiteX68" fmla="*/ 393142 w 1414364"/>
              <a:gd name="connsiteY68" fmla="*/ 546931 h 1354508"/>
              <a:gd name="connsiteX69" fmla="*/ 354686 w 1414364"/>
              <a:gd name="connsiteY69" fmla="*/ 504202 h 1354508"/>
              <a:gd name="connsiteX70" fmla="*/ 329048 w 1414364"/>
              <a:gd name="connsiteY70" fmla="*/ 470019 h 1354508"/>
              <a:gd name="connsiteX71" fmla="*/ 320503 w 1414364"/>
              <a:gd name="connsiteY71" fmla="*/ 457200 h 1354508"/>
              <a:gd name="connsiteX72" fmla="*/ 303411 w 1414364"/>
              <a:gd name="connsiteY72" fmla="*/ 440108 h 1354508"/>
              <a:gd name="connsiteX73" fmla="*/ 282047 w 1414364"/>
              <a:gd name="connsiteY73" fmla="*/ 397379 h 1354508"/>
              <a:gd name="connsiteX74" fmla="*/ 273501 w 1414364"/>
              <a:gd name="connsiteY74" fmla="*/ 363196 h 1354508"/>
              <a:gd name="connsiteX75" fmla="*/ 256409 w 1414364"/>
              <a:gd name="connsiteY75" fmla="*/ 333286 h 1354508"/>
              <a:gd name="connsiteX76" fmla="*/ 252136 w 1414364"/>
              <a:gd name="connsiteY76" fmla="*/ 316194 h 1354508"/>
              <a:gd name="connsiteX77" fmla="*/ 269228 w 1414364"/>
              <a:gd name="connsiteY77" fmla="*/ 363196 h 1354508"/>
              <a:gd name="connsiteX0" fmla="*/ 269228 w 1414364"/>
              <a:gd name="connsiteY0" fmla="*/ 363196 h 1354508"/>
              <a:gd name="connsiteX1" fmla="*/ 269228 w 1414364"/>
              <a:gd name="connsiteY1" fmla="*/ 363196 h 1354508"/>
              <a:gd name="connsiteX2" fmla="*/ 115404 w 1414364"/>
              <a:gd name="connsiteY2" fmla="*/ 205099 h 1354508"/>
              <a:gd name="connsiteX3" fmla="*/ 85493 w 1414364"/>
              <a:gd name="connsiteY3" fmla="*/ 132460 h 1354508"/>
              <a:gd name="connsiteX4" fmla="*/ 68402 w 1414364"/>
              <a:gd name="connsiteY4" fmla="*/ 123914 h 1354508"/>
              <a:gd name="connsiteX5" fmla="*/ 21400 w 1414364"/>
              <a:gd name="connsiteY5" fmla="*/ 81185 h 1354508"/>
              <a:gd name="connsiteX6" fmla="*/ 4308 w 1414364"/>
              <a:gd name="connsiteY6" fmla="*/ 59821 h 1354508"/>
              <a:gd name="connsiteX7" fmla="*/ 35 w 1414364"/>
              <a:gd name="connsiteY7" fmla="*/ 47002 h 1354508"/>
              <a:gd name="connsiteX8" fmla="*/ 8581 w 1414364"/>
              <a:gd name="connsiteY8" fmla="*/ 12819 h 1354508"/>
              <a:gd name="connsiteX9" fmla="*/ 25673 w 1414364"/>
              <a:gd name="connsiteY9" fmla="*/ 4273 h 1354508"/>
              <a:gd name="connsiteX10" fmla="*/ 76947 w 1414364"/>
              <a:gd name="connsiteY10" fmla="*/ 0 h 1354508"/>
              <a:gd name="connsiteX11" fmla="*/ 170951 w 1414364"/>
              <a:gd name="connsiteY11" fmla="*/ 17092 h 1354508"/>
              <a:gd name="connsiteX12" fmla="*/ 256409 w 1414364"/>
              <a:gd name="connsiteY12" fmla="*/ 89731 h 1354508"/>
              <a:gd name="connsiteX13" fmla="*/ 282047 w 1414364"/>
              <a:gd name="connsiteY13" fmla="*/ 111095 h 1354508"/>
              <a:gd name="connsiteX14" fmla="*/ 299138 w 1414364"/>
              <a:gd name="connsiteY14" fmla="*/ 132460 h 1354508"/>
              <a:gd name="connsiteX15" fmla="*/ 316230 w 1414364"/>
              <a:gd name="connsiteY15" fmla="*/ 145278 h 1354508"/>
              <a:gd name="connsiteX16" fmla="*/ 350413 w 1414364"/>
              <a:gd name="connsiteY16" fmla="*/ 188007 h 1354508"/>
              <a:gd name="connsiteX17" fmla="*/ 376050 w 1414364"/>
              <a:gd name="connsiteY17" fmla="*/ 209372 h 1354508"/>
              <a:gd name="connsiteX18" fmla="*/ 410233 w 1414364"/>
              <a:gd name="connsiteY18" fmla="*/ 260647 h 1354508"/>
              <a:gd name="connsiteX19" fmla="*/ 427325 w 1414364"/>
              <a:gd name="connsiteY19" fmla="*/ 277738 h 1354508"/>
              <a:gd name="connsiteX20" fmla="*/ 435871 w 1414364"/>
              <a:gd name="connsiteY20" fmla="*/ 290557 h 1354508"/>
              <a:gd name="connsiteX21" fmla="*/ 508510 w 1414364"/>
              <a:gd name="connsiteY21" fmla="*/ 329013 h 1354508"/>
              <a:gd name="connsiteX22" fmla="*/ 717882 w 1414364"/>
              <a:gd name="connsiteY22" fmla="*/ 508475 h 1354508"/>
              <a:gd name="connsiteX23" fmla="*/ 764884 w 1414364"/>
              <a:gd name="connsiteY23" fmla="*/ 564022 h 1354508"/>
              <a:gd name="connsiteX24" fmla="*/ 828977 w 1414364"/>
              <a:gd name="connsiteY24" fmla="*/ 632389 h 1354508"/>
              <a:gd name="connsiteX25" fmla="*/ 880252 w 1414364"/>
              <a:gd name="connsiteY25" fmla="*/ 705028 h 1354508"/>
              <a:gd name="connsiteX26" fmla="*/ 905890 w 1414364"/>
              <a:gd name="connsiteY26" fmla="*/ 739211 h 1354508"/>
              <a:gd name="connsiteX27" fmla="*/ 927254 w 1414364"/>
              <a:gd name="connsiteY27" fmla="*/ 773394 h 1354508"/>
              <a:gd name="connsiteX28" fmla="*/ 961437 w 1414364"/>
              <a:gd name="connsiteY28" fmla="*/ 816123 h 1354508"/>
              <a:gd name="connsiteX29" fmla="*/ 999893 w 1414364"/>
              <a:gd name="connsiteY29" fmla="*/ 867398 h 1354508"/>
              <a:gd name="connsiteX30" fmla="*/ 1046895 w 1414364"/>
              <a:gd name="connsiteY30" fmla="*/ 901581 h 1354508"/>
              <a:gd name="connsiteX31" fmla="*/ 1068260 w 1414364"/>
              <a:gd name="connsiteY31" fmla="*/ 918673 h 1354508"/>
              <a:gd name="connsiteX32" fmla="*/ 1098170 w 1414364"/>
              <a:gd name="connsiteY32" fmla="*/ 935764 h 1354508"/>
              <a:gd name="connsiteX33" fmla="*/ 1132353 w 1414364"/>
              <a:gd name="connsiteY33" fmla="*/ 961402 h 1354508"/>
              <a:gd name="connsiteX34" fmla="*/ 1179355 w 1414364"/>
              <a:gd name="connsiteY34" fmla="*/ 982766 h 1354508"/>
              <a:gd name="connsiteX35" fmla="*/ 1230630 w 1414364"/>
              <a:gd name="connsiteY35" fmla="*/ 1012677 h 1354508"/>
              <a:gd name="connsiteX36" fmla="*/ 1290450 w 1414364"/>
              <a:gd name="connsiteY36" fmla="*/ 1042587 h 1354508"/>
              <a:gd name="connsiteX37" fmla="*/ 1375908 w 1414364"/>
              <a:gd name="connsiteY37" fmla="*/ 1106680 h 1354508"/>
              <a:gd name="connsiteX38" fmla="*/ 1393000 w 1414364"/>
              <a:gd name="connsiteY38" fmla="*/ 1119499 h 1354508"/>
              <a:gd name="connsiteX39" fmla="*/ 1414364 w 1414364"/>
              <a:gd name="connsiteY39" fmla="*/ 1157955 h 1354508"/>
              <a:gd name="connsiteX40" fmla="*/ 1401546 w 1414364"/>
              <a:gd name="connsiteY40" fmla="*/ 1260505 h 1354508"/>
              <a:gd name="connsiteX41" fmla="*/ 1363090 w 1414364"/>
              <a:gd name="connsiteY41" fmla="*/ 1286142 h 1354508"/>
              <a:gd name="connsiteX42" fmla="*/ 1328906 w 1414364"/>
              <a:gd name="connsiteY42" fmla="*/ 1290415 h 1354508"/>
              <a:gd name="connsiteX43" fmla="*/ 1281904 w 1414364"/>
              <a:gd name="connsiteY43" fmla="*/ 1341690 h 1354508"/>
              <a:gd name="connsiteX44" fmla="*/ 1290450 w 1414364"/>
              <a:gd name="connsiteY44" fmla="*/ 1354508 h 1354508"/>
              <a:gd name="connsiteX45" fmla="*/ 1162263 w 1414364"/>
              <a:gd name="connsiteY45" fmla="*/ 1324598 h 1354508"/>
              <a:gd name="connsiteX46" fmla="*/ 1119534 w 1414364"/>
              <a:gd name="connsiteY46" fmla="*/ 1286142 h 1354508"/>
              <a:gd name="connsiteX47" fmla="*/ 1110989 w 1414364"/>
              <a:gd name="connsiteY47" fmla="*/ 1273323 h 1354508"/>
              <a:gd name="connsiteX48" fmla="*/ 1102443 w 1414364"/>
              <a:gd name="connsiteY48" fmla="*/ 1162228 h 1354508"/>
              <a:gd name="connsiteX49" fmla="*/ 1093897 w 1414364"/>
              <a:gd name="connsiteY49" fmla="*/ 1106680 h 1354508"/>
              <a:gd name="connsiteX50" fmla="*/ 1046895 w 1414364"/>
              <a:gd name="connsiteY50" fmla="*/ 1063951 h 1354508"/>
              <a:gd name="connsiteX51" fmla="*/ 1008439 w 1414364"/>
              <a:gd name="connsiteY51" fmla="*/ 1034041 h 1354508"/>
              <a:gd name="connsiteX52" fmla="*/ 974256 w 1414364"/>
              <a:gd name="connsiteY52" fmla="*/ 1004131 h 1354508"/>
              <a:gd name="connsiteX53" fmla="*/ 940073 w 1414364"/>
              <a:gd name="connsiteY53" fmla="*/ 987039 h 1354508"/>
              <a:gd name="connsiteX54" fmla="*/ 910162 w 1414364"/>
              <a:gd name="connsiteY54" fmla="*/ 965675 h 1354508"/>
              <a:gd name="connsiteX55" fmla="*/ 837523 w 1414364"/>
              <a:gd name="connsiteY55" fmla="*/ 918673 h 1354508"/>
              <a:gd name="connsiteX56" fmla="*/ 769157 w 1414364"/>
              <a:gd name="connsiteY56" fmla="*/ 850306 h 1354508"/>
              <a:gd name="connsiteX57" fmla="*/ 752065 w 1414364"/>
              <a:gd name="connsiteY57" fmla="*/ 833215 h 1354508"/>
              <a:gd name="connsiteX58" fmla="*/ 726428 w 1414364"/>
              <a:gd name="connsiteY58" fmla="*/ 824669 h 1354508"/>
              <a:gd name="connsiteX59" fmla="*/ 713609 w 1414364"/>
              <a:gd name="connsiteY59" fmla="*/ 811850 h 1354508"/>
              <a:gd name="connsiteX60" fmla="*/ 692245 w 1414364"/>
              <a:gd name="connsiteY60" fmla="*/ 794759 h 1354508"/>
              <a:gd name="connsiteX61" fmla="*/ 653789 w 1414364"/>
              <a:gd name="connsiteY61" fmla="*/ 747757 h 1354508"/>
              <a:gd name="connsiteX62" fmla="*/ 593968 w 1414364"/>
              <a:gd name="connsiteY62" fmla="*/ 683663 h 1354508"/>
              <a:gd name="connsiteX63" fmla="*/ 508510 w 1414364"/>
              <a:gd name="connsiteY63" fmla="*/ 623843 h 1354508"/>
              <a:gd name="connsiteX64" fmla="*/ 478600 w 1414364"/>
              <a:gd name="connsiteY64" fmla="*/ 602478 h 1354508"/>
              <a:gd name="connsiteX65" fmla="*/ 452962 w 1414364"/>
              <a:gd name="connsiteY65" fmla="*/ 589660 h 1354508"/>
              <a:gd name="connsiteX66" fmla="*/ 418779 w 1414364"/>
              <a:gd name="connsiteY66" fmla="*/ 564022 h 1354508"/>
              <a:gd name="connsiteX67" fmla="*/ 393142 w 1414364"/>
              <a:gd name="connsiteY67" fmla="*/ 546931 h 1354508"/>
              <a:gd name="connsiteX68" fmla="*/ 354686 w 1414364"/>
              <a:gd name="connsiteY68" fmla="*/ 504202 h 1354508"/>
              <a:gd name="connsiteX69" fmla="*/ 329048 w 1414364"/>
              <a:gd name="connsiteY69" fmla="*/ 470019 h 1354508"/>
              <a:gd name="connsiteX70" fmla="*/ 320503 w 1414364"/>
              <a:gd name="connsiteY70" fmla="*/ 457200 h 1354508"/>
              <a:gd name="connsiteX71" fmla="*/ 303411 w 1414364"/>
              <a:gd name="connsiteY71" fmla="*/ 440108 h 1354508"/>
              <a:gd name="connsiteX72" fmla="*/ 282047 w 1414364"/>
              <a:gd name="connsiteY72" fmla="*/ 397379 h 1354508"/>
              <a:gd name="connsiteX73" fmla="*/ 273501 w 1414364"/>
              <a:gd name="connsiteY73" fmla="*/ 363196 h 1354508"/>
              <a:gd name="connsiteX74" fmla="*/ 256409 w 1414364"/>
              <a:gd name="connsiteY74" fmla="*/ 333286 h 1354508"/>
              <a:gd name="connsiteX75" fmla="*/ 252136 w 1414364"/>
              <a:gd name="connsiteY75" fmla="*/ 316194 h 1354508"/>
              <a:gd name="connsiteX76" fmla="*/ 269228 w 1414364"/>
              <a:gd name="connsiteY76" fmla="*/ 363196 h 1354508"/>
              <a:gd name="connsiteX0" fmla="*/ 269228 w 1414364"/>
              <a:gd name="connsiteY0" fmla="*/ 363196 h 1354508"/>
              <a:gd name="connsiteX1" fmla="*/ 269228 w 1414364"/>
              <a:gd name="connsiteY1" fmla="*/ 363196 h 1354508"/>
              <a:gd name="connsiteX2" fmla="*/ 115404 w 1414364"/>
              <a:gd name="connsiteY2" fmla="*/ 205099 h 1354508"/>
              <a:gd name="connsiteX3" fmla="*/ 85493 w 1414364"/>
              <a:gd name="connsiteY3" fmla="*/ 132460 h 1354508"/>
              <a:gd name="connsiteX4" fmla="*/ 68402 w 1414364"/>
              <a:gd name="connsiteY4" fmla="*/ 123914 h 1354508"/>
              <a:gd name="connsiteX5" fmla="*/ 21400 w 1414364"/>
              <a:gd name="connsiteY5" fmla="*/ 81185 h 1354508"/>
              <a:gd name="connsiteX6" fmla="*/ 4308 w 1414364"/>
              <a:gd name="connsiteY6" fmla="*/ 59821 h 1354508"/>
              <a:gd name="connsiteX7" fmla="*/ 35 w 1414364"/>
              <a:gd name="connsiteY7" fmla="*/ 47002 h 1354508"/>
              <a:gd name="connsiteX8" fmla="*/ 8581 w 1414364"/>
              <a:gd name="connsiteY8" fmla="*/ 12819 h 1354508"/>
              <a:gd name="connsiteX9" fmla="*/ 25673 w 1414364"/>
              <a:gd name="connsiteY9" fmla="*/ 4273 h 1354508"/>
              <a:gd name="connsiteX10" fmla="*/ 76947 w 1414364"/>
              <a:gd name="connsiteY10" fmla="*/ 0 h 1354508"/>
              <a:gd name="connsiteX11" fmla="*/ 170951 w 1414364"/>
              <a:gd name="connsiteY11" fmla="*/ 17092 h 1354508"/>
              <a:gd name="connsiteX12" fmla="*/ 256409 w 1414364"/>
              <a:gd name="connsiteY12" fmla="*/ 89731 h 1354508"/>
              <a:gd name="connsiteX13" fmla="*/ 282047 w 1414364"/>
              <a:gd name="connsiteY13" fmla="*/ 111095 h 1354508"/>
              <a:gd name="connsiteX14" fmla="*/ 299138 w 1414364"/>
              <a:gd name="connsiteY14" fmla="*/ 132460 h 1354508"/>
              <a:gd name="connsiteX15" fmla="*/ 316230 w 1414364"/>
              <a:gd name="connsiteY15" fmla="*/ 145278 h 1354508"/>
              <a:gd name="connsiteX16" fmla="*/ 350413 w 1414364"/>
              <a:gd name="connsiteY16" fmla="*/ 188007 h 1354508"/>
              <a:gd name="connsiteX17" fmla="*/ 376050 w 1414364"/>
              <a:gd name="connsiteY17" fmla="*/ 209372 h 1354508"/>
              <a:gd name="connsiteX18" fmla="*/ 410233 w 1414364"/>
              <a:gd name="connsiteY18" fmla="*/ 260647 h 1354508"/>
              <a:gd name="connsiteX19" fmla="*/ 427325 w 1414364"/>
              <a:gd name="connsiteY19" fmla="*/ 277738 h 1354508"/>
              <a:gd name="connsiteX20" fmla="*/ 435871 w 1414364"/>
              <a:gd name="connsiteY20" fmla="*/ 290557 h 1354508"/>
              <a:gd name="connsiteX21" fmla="*/ 508510 w 1414364"/>
              <a:gd name="connsiteY21" fmla="*/ 329013 h 1354508"/>
              <a:gd name="connsiteX22" fmla="*/ 717882 w 1414364"/>
              <a:gd name="connsiteY22" fmla="*/ 508475 h 1354508"/>
              <a:gd name="connsiteX23" fmla="*/ 764884 w 1414364"/>
              <a:gd name="connsiteY23" fmla="*/ 564022 h 1354508"/>
              <a:gd name="connsiteX24" fmla="*/ 828977 w 1414364"/>
              <a:gd name="connsiteY24" fmla="*/ 632389 h 1354508"/>
              <a:gd name="connsiteX25" fmla="*/ 880252 w 1414364"/>
              <a:gd name="connsiteY25" fmla="*/ 705028 h 1354508"/>
              <a:gd name="connsiteX26" fmla="*/ 905890 w 1414364"/>
              <a:gd name="connsiteY26" fmla="*/ 739211 h 1354508"/>
              <a:gd name="connsiteX27" fmla="*/ 927254 w 1414364"/>
              <a:gd name="connsiteY27" fmla="*/ 773394 h 1354508"/>
              <a:gd name="connsiteX28" fmla="*/ 961437 w 1414364"/>
              <a:gd name="connsiteY28" fmla="*/ 816123 h 1354508"/>
              <a:gd name="connsiteX29" fmla="*/ 999893 w 1414364"/>
              <a:gd name="connsiteY29" fmla="*/ 867398 h 1354508"/>
              <a:gd name="connsiteX30" fmla="*/ 1046895 w 1414364"/>
              <a:gd name="connsiteY30" fmla="*/ 901581 h 1354508"/>
              <a:gd name="connsiteX31" fmla="*/ 1068260 w 1414364"/>
              <a:gd name="connsiteY31" fmla="*/ 918673 h 1354508"/>
              <a:gd name="connsiteX32" fmla="*/ 1098170 w 1414364"/>
              <a:gd name="connsiteY32" fmla="*/ 935764 h 1354508"/>
              <a:gd name="connsiteX33" fmla="*/ 1132353 w 1414364"/>
              <a:gd name="connsiteY33" fmla="*/ 961402 h 1354508"/>
              <a:gd name="connsiteX34" fmla="*/ 1179355 w 1414364"/>
              <a:gd name="connsiteY34" fmla="*/ 982766 h 1354508"/>
              <a:gd name="connsiteX35" fmla="*/ 1230630 w 1414364"/>
              <a:gd name="connsiteY35" fmla="*/ 1012677 h 1354508"/>
              <a:gd name="connsiteX36" fmla="*/ 1290450 w 1414364"/>
              <a:gd name="connsiteY36" fmla="*/ 1042587 h 1354508"/>
              <a:gd name="connsiteX37" fmla="*/ 1375908 w 1414364"/>
              <a:gd name="connsiteY37" fmla="*/ 1106680 h 1354508"/>
              <a:gd name="connsiteX38" fmla="*/ 1393000 w 1414364"/>
              <a:gd name="connsiteY38" fmla="*/ 1119499 h 1354508"/>
              <a:gd name="connsiteX39" fmla="*/ 1414364 w 1414364"/>
              <a:gd name="connsiteY39" fmla="*/ 1157955 h 1354508"/>
              <a:gd name="connsiteX40" fmla="*/ 1401546 w 1414364"/>
              <a:gd name="connsiteY40" fmla="*/ 1260505 h 1354508"/>
              <a:gd name="connsiteX41" fmla="*/ 1363090 w 1414364"/>
              <a:gd name="connsiteY41" fmla="*/ 1286142 h 1354508"/>
              <a:gd name="connsiteX42" fmla="*/ 1281904 w 1414364"/>
              <a:gd name="connsiteY42" fmla="*/ 1341690 h 1354508"/>
              <a:gd name="connsiteX43" fmla="*/ 1290450 w 1414364"/>
              <a:gd name="connsiteY43" fmla="*/ 1354508 h 1354508"/>
              <a:gd name="connsiteX44" fmla="*/ 1162263 w 1414364"/>
              <a:gd name="connsiteY44" fmla="*/ 1324598 h 1354508"/>
              <a:gd name="connsiteX45" fmla="*/ 1119534 w 1414364"/>
              <a:gd name="connsiteY45" fmla="*/ 1286142 h 1354508"/>
              <a:gd name="connsiteX46" fmla="*/ 1110989 w 1414364"/>
              <a:gd name="connsiteY46" fmla="*/ 1273323 h 1354508"/>
              <a:gd name="connsiteX47" fmla="*/ 1102443 w 1414364"/>
              <a:gd name="connsiteY47" fmla="*/ 1162228 h 1354508"/>
              <a:gd name="connsiteX48" fmla="*/ 1093897 w 1414364"/>
              <a:gd name="connsiteY48" fmla="*/ 1106680 h 1354508"/>
              <a:gd name="connsiteX49" fmla="*/ 1046895 w 1414364"/>
              <a:gd name="connsiteY49" fmla="*/ 1063951 h 1354508"/>
              <a:gd name="connsiteX50" fmla="*/ 1008439 w 1414364"/>
              <a:gd name="connsiteY50" fmla="*/ 1034041 h 1354508"/>
              <a:gd name="connsiteX51" fmla="*/ 974256 w 1414364"/>
              <a:gd name="connsiteY51" fmla="*/ 1004131 h 1354508"/>
              <a:gd name="connsiteX52" fmla="*/ 940073 w 1414364"/>
              <a:gd name="connsiteY52" fmla="*/ 987039 h 1354508"/>
              <a:gd name="connsiteX53" fmla="*/ 910162 w 1414364"/>
              <a:gd name="connsiteY53" fmla="*/ 965675 h 1354508"/>
              <a:gd name="connsiteX54" fmla="*/ 837523 w 1414364"/>
              <a:gd name="connsiteY54" fmla="*/ 918673 h 1354508"/>
              <a:gd name="connsiteX55" fmla="*/ 769157 w 1414364"/>
              <a:gd name="connsiteY55" fmla="*/ 850306 h 1354508"/>
              <a:gd name="connsiteX56" fmla="*/ 752065 w 1414364"/>
              <a:gd name="connsiteY56" fmla="*/ 833215 h 1354508"/>
              <a:gd name="connsiteX57" fmla="*/ 726428 w 1414364"/>
              <a:gd name="connsiteY57" fmla="*/ 824669 h 1354508"/>
              <a:gd name="connsiteX58" fmla="*/ 713609 w 1414364"/>
              <a:gd name="connsiteY58" fmla="*/ 811850 h 1354508"/>
              <a:gd name="connsiteX59" fmla="*/ 692245 w 1414364"/>
              <a:gd name="connsiteY59" fmla="*/ 794759 h 1354508"/>
              <a:gd name="connsiteX60" fmla="*/ 653789 w 1414364"/>
              <a:gd name="connsiteY60" fmla="*/ 747757 h 1354508"/>
              <a:gd name="connsiteX61" fmla="*/ 593968 w 1414364"/>
              <a:gd name="connsiteY61" fmla="*/ 683663 h 1354508"/>
              <a:gd name="connsiteX62" fmla="*/ 508510 w 1414364"/>
              <a:gd name="connsiteY62" fmla="*/ 623843 h 1354508"/>
              <a:gd name="connsiteX63" fmla="*/ 478600 w 1414364"/>
              <a:gd name="connsiteY63" fmla="*/ 602478 h 1354508"/>
              <a:gd name="connsiteX64" fmla="*/ 452962 w 1414364"/>
              <a:gd name="connsiteY64" fmla="*/ 589660 h 1354508"/>
              <a:gd name="connsiteX65" fmla="*/ 418779 w 1414364"/>
              <a:gd name="connsiteY65" fmla="*/ 564022 h 1354508"/>
              <a:gd name="connsiteX66" fmla="*/ 393142 w 1414364"/>
              <a:gd name="connsiteY66" fmla="*/ 546931 h 1354508"/>
              <a:gd name="connsiteX67" fmla="*/ 354686 w 1414364"/>
              <a:gd name="connsiteY67" fmla="*/ 504202 h 1354508"/>
              <a:gd name="connsiteX68" fmla="*/ 329048 w 1414364"/>
              <a:gd name="connsiteY68" fmla="*/ 470019 h 1354508"/>
              <a:gd name="connsiteX69" fmla="*/ 320503 w 1414364"/>
              <a:gd name="connsiteY69" fmla="*/ 457200 h 1354508"/>
              <a:gd name="connsiteX70" fmla="*/ 303411 w 1414364"/>
              <a:gd name="connsiteY70" fmla="*/ 440108 h 1354508"/>
              <a:gd name="connsiteX71" fmla="*/ 282047 w 1414364"/>
              <a:gd name="connsiteY71" fmla="*/ 397379 h 1354508"/>
              <a:gd name="connsiteX72" fmla="*/ 273501 w 1414364"/>
              <a:gd name="connsiteY72" fmla="*/ 363196 h 1354508"/>
              <a:gd name="connsiteX73" fmla="*/ 256409 w 1414364"/>
              <a:gd name="connsiteY73" fmla="*/ 333286 h 1354508"/>
              <a:gd name="connsiteX74" fmla="*/ 252136 w 1414364"/>
              <a:gd name="connsiteY74" fmla="*/ 316194 h 1354508"/>
              <a:gd name="connsiteX75" fmla="*/ 269228 w 1414364"/>
              <a:gd name="connsiteY75" fmla="*/ 363196 h 1354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414364" h="1354508">
                <a:moveTo>
                  <a:pt x="269228" y="363196"/>
                </a:moveTo>
                <a:lnTo>
                  <a:pt x="269228" y="363196"/>
                </a:lnTo>
                <a:cubicBezTo>
                  <a:pt x="248576" y="329725"/>
                  <a:pt x="146027" y="243555"/>
                  <a:pt x="115404" y="205099"/>
                </a:cubicBezTo>
                <a:cubicBezTo>
                  <a:pt x="84782" y="166643"/>
                  <a:pt x="93327" y="145991"/>
                  <a:pt x="85493" y="132460"/>
                </a:cubicBezTo>
                <a:cubicBezTo>
                  <a:pt x="77659" y="118929"/>
                  <a:pt x="73295" y="127992"/>
                  <a:pt x="68402" y="123914"/>
                </a:cubicBezTo>
                <a:cubicBezTo>
                  <a:pt x="47940" y="106863"/>
                  <a:pt x="38940" y="100673"/>
                  <a:pt x="21400" y="81185"/>
                </a:cubicBezTo>
                <a:cubicBezTo>
                  <a:pt x="15299" y="74406"/>
                  <a:pt x="10005" y="66942"/>
                  <a:pt x="4308" y="59821"/>
                </a:cubicBezTo>
                <a:cubicBezTo>
                  <a:pt x="2884" y="55548"/>
                  <a:pt x="-373" y="51488"/>
                  <a:pt x="35" y="47002"/>
                </a:cubicBezTo>
                <a:cubicBezTo>
                  <a:pt x="1098" y="35305"/>
                  <a:pt x="2538" y="22890"/>
                  <a:pt x="8581" y="12819"/>
                </a:cubicBezTo>
                <a:cubicBezTo>
                  <a:pt x="11858" y="7357"/>
                  <a:pt x="19412" y="5447"/>
                  <a:pt x="25673" y="4273"/>
                </a:cubicBezTo>
                <a:cubicBezTo>
                  <a:pt x="42530" y="1112"/>
                  <a:pt x="59856" y="1424"/>
                  <a:pt x="76947" y="0"/>
                </a:cubicBezTo>
                <a:cubicBezTo>
                  <a:pt x="108282" y="5697"/>
                  <a:pt x="140737" y="7021"/>
                  <a:pt x="170951" y="17092"/>
                </a:cubicBezTo>
                <a:cubicBezTo>
                  <a:pt x="213626" y="31317"/>
                  <a:pt x="226676" y="59998"/>
                  <a:pt x="256409" y="89731"/>
                </a:cubicBezTo>
                <a:cubicBezTo>
                  <a:pt x="264275" y="97597"/>
                  <a:pt x="274181" y="103229"/>
                  <a:pt x="282047" y="111095"/>
                </a:cubicBezTo>
                <a:cubicBezTo>
                  <a:pt x="288496" y="117544"/>
                  <a:pt x="292689" y="126011"/>
                  <a:pt x="299138" y="132460"/>
                </a:cubicBezTo>
                <a:cubicBezTo>
                  <a:pt x="304174" y="137496"/>
                  <a:pt x="311400" y="140045"/>
                  <a:pt x="316230" y="145278"/>
                </a:cubicBezTo>
                <a:cubicBezTo>
                  <a:pt x="328602" y="158681"/>
                  <a:pt x="336401" y="176330"/>
                  <a:pt x="350413" y="188007"/>
                </a:cubicBezTo>
                <a:cubicBezTo>
                  <a:pt x="358959" y="195129"/>
                  <a:pt x="368184" y="201506"/>
                  <a:pt x="376050" y="209372"/>
                </a:cubicBezTo>
                <a:cubicBezTo>
                  <a:pt x="418337" y="251659"/>
                  <a:pt x="379724" y="217063"/>
                  <a:pt x="410233" y="260647"/>
                </a:cubicBezTo>
                <a:cubicBezTo>
                  <a:pt x="414853" y="267248"/>
                  <a:pt x="422081" y="271621"/>
                  <a:pt x="427325" y="277738"/>
                </a:cubicBezTo>
                <a:cubicBezTo>
                  <a:pt x="430667" y="281637"/>
                  <a:pt x="432006" y="287175"/>
                  <a:pt x="435871" y="290557"/>
                </a:cubicBezTo>
                <a:cubicBezTo>
                  <a:pt x="463348" y="314600"/>
                  <a:pt x="473069" y="307749"/>
                  <a:pt x="508510" y="329013"/>
                </a:cubicBezTo>
                <a:cubicBezTo>
                  <a:pt x="572784" y="367577"/>
                  <a:pt x="689475" y="474904"/>
                  <a:pt x="717882" y="508475"/>
                </a:cubicBezTo>
                <a:cubicBezTo>
                  <a:pt x="733549" y="526991"/>
                  <a:pt x="748611" y="546036"/>
                  <a:pt x="764884" y="564022"/>
                </a:cubicBezTo>
                <a:cubicBezTo>
                  <a:pt x="796787" y="599283"/>
                  <a:pt x="800657" y="595126"/>
                  <a:pt x="828977" y="632389"/>
                </a:cubicBezTo>
                <a:cubicBezTo>
                  <a:pt x="846910" y="655985"/>
                  <a:pt x="862934" y="680976"/>
                  <a:pt x="880252" y="705028"/>
                </a:cubicBezTo>
                <a:cubicBezTo>
                  <a:pt x="888574" y="716587"/>
                  <a:pt x="898341" y="727133"/>
                  <a:pt x="905890" y="739211"/>
                </a:cubicBezTo>
                <a:cubicBezTo>
                  <a:pt x="913011" y="750605"/>
                  <a:pt x="919387" y="762501"/>
                  <a:pt x="927254" y="773394"/>
                </a:cubicBezTo>
                <a:cubicBezTo>
                  <a:pt x="937933" y="788181"/>
                  <a:pt x="950835" y="801281"/>
                  <a:pt x="961437" y="816123"/>
                </a:cubicBezTo>
                <a:cubicBezTo>
                  <a:pt x="967323" y="824363"/>
                  <a:pt x="990615" y="858120"/>
                  <a:pt x="999893" y="867398"/>
                </a:cubicBezTo>
                <a:cubicBezTo>
                  <a:pt x="1027923" y="895428"/>
                  <a:pt x="1018969" y="882033"/>
                  <a:pt x="1046895" y="901581"/>
                </a:cubicBezTo>
                <a:cubicBezTo>
                  <a:pt x="1054367" y="906811"/>
                  <a:pt x="1060672" y="913614"/>
                  <a:pt x="1068260" y="918673"/>
                </a:cubicBezTo>
                <a:cubicBezTo>
                  <a:pt x="1077814" y="925043"/>
                  <a:pt x="1088616" y="929394"/>
                  <a:pt x="1098170" y="935764"/>
                </a:cubicBezTo>
                <a:cubicBezTo>
                  <a:pt x="1110021" y="943665"/>
                  <a:pt x="1120027" y="954266"/>
                  <a:pt x="1132353" y="961402"/>
                </a:cubicBezTo>
                <a:cubicBezTo>
                  <a:pt x="1147247" y="970025"/>
                  <a:pt x="1164097" y="974805"/>
                  <a:pt x="1179355" y="982766"/>
                </a:cubicBezTo>
                <a:cubicBezTo>
                  <a:pt x="1196898" y="991919"/>
                  <a:pt x="1213208" y="1003296"/>
                  <a:pt x="1230630" y="1012677"/>
                </a:cubicBezTo>
                <a:cubicBezTo>
                  <a:pt x="1250259" y="1023246"/>
                  <a:pt x="1271140" y="1031446"/>
                  <a:pt x="1290450" y="1042587"/>
                </a:cubicBezTo>
                <a:cubicBezTo>
                  <a:pt x="1342913" y="1072854"/>
                  <a:pt x="1334676" y="1072320"/>
                  <a:pt x="1375908" y="1106680"/>
                </a:cubicBezTo>
                <a:cubicBezTo>
                  <a:pt x="1381379" y="1111239"/>
                  <a:pt x="1387964" y="1114463"/>
                  <a:pt x="1393000" y="1119499"/>
                </a:cubicBezTo>
                <a:cubicBezTo>
                  <a:pt x="1406547" y="1133047"/>
                  <a:pt x="1407344" y="1140405"/>
                  <a:pt x="1414364" y="1157955"/>
                </a:cubicBezTo>
                <a:cubicBezTo>
                  <a:pt x="1410091" y="1192138"/>
                  <a:pt x="1414340" y="1228520"/>
                  <a:pt x="1401546" y="1260505"/>
                </a:cubicBezTo>
                <a:cubicBezTo>
                  <a:pt x="1395824" y="1274809"/>
                  <a:pt x="1383030" y="1272611"/>
                  <a:pt x="1363090" y="1286142"/>
                </a:cubicBezTo>
                <a:cubicBezTo>
                  <a:pt x="1343150" y="1299673"/>
                  <a:pt x="1294011" y="1330296"/>
                  <a:pt x="1281904" y="1341690"/>
                </a:cubicBezTo>
                <a:cubicBezTo>
                  <a:pt x="1269797" y="1353084"/>
                  <a:pt x="1295585" y="1354508"/>
                  <a:pt x="1290450" y="1354508"/>
                </a:cubicBezTo>
                <a:cubicBezTo>
                  <a:pt x="1269002" y="1354508"/>
                  <a:pt x="1182125" y="1329895"/>
                  <a:pt x="1162263" y="1324598"/>
                </a:cubicBezTo>
                <a:cubicBezTo>
                  <a:pt x="1147667" y="1312435"/>
                  <a:pt x="1132011" y="1300700"/>
                  <a:pt x="1119534" y="1286142"/>
                </a:cubicBezTo>
                <a:cubicBezTo>
                  <a:pt x="1116192" y="1282243"/>
                  <a:pt x="1113837" y="1277596"/>
                  <a:pt x="1110989" y="1273323"/>
                </a:cubicBezTo>
                <a:cubicBezTo>
                  <a:pt x="1100598" y="1179808"/>
                  <a:pt x="1113941" y="1305950"/>
                  <a:pt x="1102443" y="1162228"/>
                </a:cubicBezTo>
                <a:cubicBezTo>
                  <a:pt x="1102177" y="1158899"/>
                  <a:pt x="1097318" y="1115233"/>
                  <a:pt x="1093897" y="1106680"/>
                </a:cubicBezTo>
                <a:cubicBezTo>
                  <a:pt x="1082182" y="1077393"/>
                  <a:pt x="1075149" y="1083895"/>
                  <a:pt x="1046895" y="1063951"/>
                </a:cubicBezTo>
                <a:cubicBezTo>
                  <a:pt x="1033628" y="1054586"/>
                  <a:pt x="1020975" y="1044364"/>
                  <a:pt x="1008439" y="1034041"/>
                </a:cubicBezTo>
                <a:cubicBezTo>
                  <a:pt x="996752" y="1024416"/>
                  <a:pt x="986732" y="1012709"/>
                  <a:pt x="974256" y="1004131"/>
                </a:cubicBezTo>
                <a:cubicBezTo>
                  <a:pt x="963758" y="996914"/>
                  <a:pt x="950997" y="993593"/>
                  <a:pt x="940073" y="987039"/>
                </a:cubicBezTo>
                <a:cubicBezTo>
                  <a:pt x="929567" y="980735"/>
                  <a:pt x="920357" y="972471"/>
                  <a:pt x="910162" y="965675"/>
                </a:cubicBezTo>
                <a:cubicBezTo>
                  <a:pt x="886917" y="950178"/>
                  <a:pt x="856794" y="937944"/>
                  <a:pt x="837523" y="918673"/>
                </a:cubicBezTo>
                <a:lnTo>
                  <a:pt x="769157" y="850306"/>
                </a:lnTo>
                <a:cubicBezTo>
                  <a:pt x="763460" y="844609"/>
                  <a:pt x="759709" y="835763"/>
                  <a:pt x="752065" y="833215"/>
                </a:cubicBezTo>
                <a:lnTo>
                  <a:pt x="726428" y="824669"/>
                </a:lnTo>
                <a:cubicBezTo>
                  <a:pt x="722155" y="820396"/>
                  <a:pt x="718157" y="815829"/>
                  <a:pt x="713609" y="811850"/>
                </a:cubicBezTo>
                <a:cubicBezTo>
                  <a:pt x="706746" y="805845"/>
                  <a:pt x="698468" y="801426"/>
                  <a:pt x="692245" y="794759"/>
                </a:cubicBezTo>
                <a:cubicBezTo>
                  <a:pt x="678433" y="779960"/>
                  <a:pt x="667238" y="762887"/>
                  <a:pt x="653789" y="747757"/>
                </a:cubicBezTo>
                <a:cubicBezTo>
                  <a:pt x="633023" y="724396"/>
                  <a:pt x="616619" y="704427"/>
                  <a:pt x="593968" y="683663"/>
                </a:cubicBezTo>
                <a:cubicBezTo>
                  <a:pt x="561647" y="654034"/>
                  <a:pt x="553125" y="653587"/>
                  <a:pt x="508510" y="623843"/>
                </a:cubicBezTo>
                <a:cubicBezTo>
                  <a:pt x="498315" y="617047"/>
                  <a:pt x="489559" y="607957"/>
                  <a:pt x="478600" y="602478"/>
                </a:cubicBezTo>
                <a:cubicBezTo>
                  <a:pt x="470054" y="598205"/>
                  <a:pt x="460999" y="594827"/>
                  <a:pt x="452962" y="589660"/>
                </a:cubicBezTo>
                <a:cubicBezTo>
                  <a:pt x="440981" y="581958"/>
                  <a:pt x="430369" y="572301"/>
                  <a:pt x="418779" y="564022"/>
                </a:cubicBezTo>
                <a:cubicBezTo>
                  <a:pt x="410422" y="558052"/>
                  <a:pt x="401688" y="552628"/>
                  <a:pt x="393142" y="546931"/>
                </a:cubicBezTo>
                <a:cubicBezTo>
                  <a:pt x="355000" y="496076"/>
                  <a:pt x="416026" y="575764"/>
                  <a:pt x="354686" y="504202"/>
                </a:cubicBezTo>
                <a:cubicBezTo>
                  <a:pt x="345417" y="493388"/>
                  <a:pt x="336948" y="481870"/>
                  <a:pt x="329048" y="470019"/>
                </a:cubicBezTo>
                <a:cubicBezTo>
                  <a:pt x="326200" y="465746"/>
                  <a:pt x="323845" y="461099"/>
                  <a:pt x="320503" y="457200"/>
                </a:cubicBezTo>
                <a:cubicBezTo>
                  <a:pt x="315260" y="451082"/>
                  <a:pt x="307768" y="446886"/>
                  <a:pt x="303411" y="440108"/>
                </a:cubicBezTo>
                <a:cubicBezTo>
                  <a:pt x="294800" y="426713"/>
                  <a:pt x="285909" y="412828"/>
                  <a:pt x="282047" y="397379"/>
                </a:cubicBezTo>
                <a:cubicBezTo>
                  <a:pt x="279198" y="385985"/>
                  <a:pt x="280016" y="372968"/>
                  <a:pt x="273501" y="363196"/>
                </a:cubicBezTo>
                <a:cubicBezTo>
                  <a:pt x="264917" y="350322"/>
                  <a:pt x="262915" y="348467"/>
                  <a:pt x="256409" y="333286"/>
                </a:cubicBezTo>
                <a:cubicBezTo>
                  <a:pt x="251686" y="322265"/>
                  <a:pt x="252136" y="323975"/>
                  <a:pt x="252136" y="316194"/>
                </a:cubicBezTo>
                <a:lnTo>
                  <a:pt x="269228" y="363196"/>
                </a:lnTo>
                <a:close/>
              </a:path>
            </a:pathLst>
          </a:custGeom>
          <a:noFill/>
          <a:ln w="28575">
            <a:solidFill>
              <a:srgbClr val="FFCD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403C57D-8DC3-D54D-4DB0-FCC9A0019E15}"/>
              </a:ext>
            </a:extLst>
          </p:cNvPr>
          <p:cNvSpPr txBox="1"/>
          <p:nvPr/>
        </p:nvSpPr>
        <p:spPr>
          <a:xfrm>
            <a:off x="7802310" y="5909417"/>
            <a:ext cx="3452501" cy="646331"/>
          </a:xfrm>
          <a:prstGeom prst="rect">
            <a:avLst/>
          </a:prstGeom>
          <a:noFill/>
        </p:spPr>
        <p:txBody>
          <a:bodyPr wrap="square" rtlCol="0">
            <a:spAutoFit/>
          </a:bodyPr>
          <a:lstStyle/>
          <a:p>
            <a:r>
              <a:rPr lang="en-US" dirty="0"/>
              <a:t>Orange = Shoal</a:t>
            </a:r>
          </a:p>
          <a:p>
            <a:r>
              <a:rPr lang="en-US" dirty="0"/>
              <a:t>Pink = Scour</a:t>
            </a:r>
          </a:p>
        </p:txBody>
      </p:sp>
    </p:spTree>
    <p:extLst>
      <p:ext uri="{BB962C8B-B14F-4D97-AF65-F5344CB8AC3E}">
        <p14:creationId xmlns:p14="http://schemas.microsoft.com/office/powerpoint/2010/main" val="1533121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DDF9C-391D-72DF-733A-070852827ED6}"/>
              </a:ext>
            </a:extLst>
          </p:cNvPr>
          <p:cNvSpPr>
            <a:spLocks noGrp="1"/>
          </p:cNvSpPr>
          <p:nvPr>
            <p:ph type="title"/>
          </p:nvPr>
        </p:nvSpPr>
        <p:spPr/>
        <p:txBody>
          <a:bodyPr/>
          <a:lstStyle/>
          <a:p>
            <a:r>
              <a:rPr lang="en-US" dirty="0"/>
              <a:t>Putting it all together</a:t>
            </a:r>
          </a:p>
        </p:txBody>
      </p:sp>
      <p:sp>
        <p:nvSpPr>
          <p:cNvPr id="3" name="Content Placeholder 2">
            <a:extLst>
              <a:ext uri="{FF2B5EF4-FFF2-40B4-BE49-F238E27FC236}">
                <a16:creationId xmlns:a16="http://schemas.microsoft.com/office/drawing/2014/main" id="{AD207413-A789-18CD-76DF-1DC40F037430}"/>
              </a:ext>
            </a:extLst>
          </p:cNvPr>
          <p:cNvSpPr>
            <a:spLocks noGrp="1"/>
          </p:cNvSpPr>
          <p:nvPr>
            <p:ph idx="1"/>
          </p:nvPr>
        </p:nvSpPr>
        <p:spPr>
          <a:xfrm>
            <a:off x="1872211" y="1597863"/>
            <a:ext cx="10099760" cy="4032066"/>
          </a:xfrm>
        </p:spPr>
        <p:txBody>
          <a:bodyPr/>
          <a:lstStyle/>
          <a:p>
            <a:r>
              <a:rPr lang="en-US" dirty="0"/>
              <a:t>CSAT shoaling </a:t>
            </a:r>
            <a:r>
              <a:rPr lang="en-US" dirty="0" err="1"/>
              <a:t>rasters</a:t>
            </a:r>
            <a:r>
              <a:rPr lang="en-US" dirty="0"/>
              <a:t> by reach</a:t>
            </a:r>
          </a:p>
          <a:p>
            <a:r>
              <a:rPr lang="en-US" dirty="0"/>
              <a:t>River gage arrays associated with reaches </a:t>
            </a:r>
          </a:p>
          <a:p>
            <a:r>
              <a:rPr lang="en-US" dirty="0"/>
              <a:t>Downstream modeling approach </a:t>
            </a:r>
          </a:p>
          <a:p>
            <a:pPr lvl="1"/>
            <a:r>
              <a:rPr lang="en-US" dirty="0"/>
              <a:t>Gages within and upstream of shoaling raster will be used </a:t>
            </a:r>
          </a:p>
          <a:p>
            <a:r>
              <a:rPr lang="en-US" dirty="0"/>
              <a:t>Gages provide the when/temporal context</a:t>
            </a:r>
          </a:p>
          <a:p>
            <a:r>
              <a:rPr lang="en-US" dirty="0"/>
              <a:t>CSAT provides the where/spatial outcome </a:t>
            </a:r>
          </a:p>
          <a:p>
            <a:r>
              <a:rPr lang="en-US" dirty="0"/>
              <a:t>Allows us to identify, at a pool or </a:t>
            </a:r>
            <a:r>
              <a:rPr lang="en-US" dirty="0" err="1"/>
              <a:t>subreach</a:t>
            </a:r>
            <a:r>
              <a:rPr lang="en-US" dirty="0"/>
              <a:t> level, </a:t>
            </a:r>
            <a:r>
              <a:rPr lang="en-US" i="1" dirty="0"/>
              <a:t>where </a:t>
            </a:r>
            <a:r>
              <a:rPr lang="en-US" dirty="0"/>
              <a:t>dredging will occur </a:t>
            </a:r>
          </a:p>
        </p:txBody>
      </p:sp>
    </p:spTree>
    <p:extLst>
      <p:ext uri="{BB962C8B-B14F-4D97-AF65-F5344CB8AC3E}">
        <p14:creationId xmlns:p14="http://schemas.microsoft.com/office/powerpoint/2010/main" val="643986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3D4F3-A481-08B2-F5E9-F2744C05C667}"/>
              </a:ext>
            </a:extLst>
          </p:cNvPr>
          <p:cNvSpPr>
            <a:spLocks noGrp="1"/>
          </p:cNvSpPr>
          <p:nvPr>
            <p:ph type="title"/>
          </p:nvPr>
        </p:nvSpPr>
        <p:spPr>
          <a:xfrm>
            <a:off x="1953397" y="174090"/>
            <a:ext cx="10099760" cy="1311331"/>
          </a:xfrm>
        </p:spPr>
        <p:txBody>
          <a:bodyPr/>
          <a:lstStyle/>
          <a:p>
            <a:r>
              <a:rPr lang="en-US" dirty="0"/>
              <a:t>Project Timeline </a:t>
            </a:r>
          </a:p>
        </p:txBody>
      </p:sp>
      <p:sp>
        <p:nvSpPr>
          <p:cNvPr id="4" name="TextBox 3">
            <a:extLst>
              <a:ext uri="{FF2B5EF4-FFF2-40B4-BE49-F238E27FC236}">
                <a16:creationId xmlns:a16="http://schemas.microsoft.com/office/drawing/2014/main" id="{A3FB143D-6239-4645-1823-5A7CB9BC75A2}"/>
              </a:ext>
            </a:extLst>
          </p:cNvPr>
          <p:cNvSpPr txBox="1"/>
          <p:nvPr/>
        </p:nvSpPr>
        <p:spPr>
          <a:xfrm>
            <a:off x="2050990" y="782753"/>
            <a:ext cx="7252380"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Three Key Phases: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highlight>
                  <a:srgbClr val="7FAC3E"/>
                </a:highlight>
                <a:uLnTx/>
                <a:uFillTx/>
                <a:latin typeface="Arial"/>
                <a:ea typeface="+mn-ea"/>
                <a:cs typeface="+mn-cs"/>
              </a:rPr>
              <a:t>Phase 1</a:t>
            </a:r>
            <a:r>
              <a:rPr kumimoji="0" lang="en-US" sz="1800" b="0" i="0" u="none" strike="noStrike" kern="1200" cap="none" spc="0" normalizeH="0" baseline="0" noProof="0" dirty="0">
                <a:ln>
                  <a:noFill/>
                </a:ln>
                <a:solidFill>
                  <a:srgbClr val="221F20"/>
                </a:solidFill>
                <a:effectLst/>
                <a:uLnTx/>
                <a:uFillTx/>
                <a:latin typeface="Arial"/>
                <a:ea typeface="+mn-ea"/>
                <a:cs typeface="+mn-cs"/>
              </a:rPr>
              <a:t> </a:t>
            </a:r>
            <a:r>
              <a:rPr kumimoji="0" lang="en-US" sz="1800" b="1" i="0" u="none" strike="noStrike" kern="1200" cap="none" spc="0" normalizeH="0" baseline="0" noProof="0" dirty="0">
                <a:ln>
                  <a:noFill/>
                </a:ln>
                <a:solidFill>
                  <a:srgbClr val="7FAC3E"/>
                </a:solidFill>
                <a:effectLst/>
                <a:uLnTx/>
                <a:uFillTx/>
                <a:latin typeface="Arial"/>
                <a:ea typeface="+mn-ea"/>
                <a:cs typeface="+mn-cs"/>
              </a:rPr>
              <a:t>–</a:t>
            </a:r>
            <a:r>
              <a:rPr kumimoji="0" lang="en-US" sz="1800" b="0" i="0" u="none" strike="noStrike" kern="1200" cap="none" spc="0" normalizeH="0" baseline="0" noProof="0" dirty="0">
                <a:ln>
                  <a:noFill/>
                </a:ln>
                <a:solidFill>
                  <a:srgbClr val="221F20"/>
                </a:solidFill>
                <a:effectLst/>
                <a:uLnTx/>
                <a:uFillTx/>
                <a:latin typeface="Arial"/>
                <a:ea typeface="+mn-ea"/>
                <a:cs typeface="+mn-cs"/>
              </a:rPr>
              <a:t> Data wrangling and exploration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highlight>
                  <a:srgbClr val="49A190"/>
                </a:highlight>
                <a:uLnTx/>
                <a:uFillTx/>
                <a:latin typeface="Arial"/>
                <a:ea typeface="+mn-ea"/>
                <a:cs typeface="+mn-cs"/>
              </a:rPr>
              <a:t>Phase 2</a:t>
            </a:r>
            <a:r>
              <a:rPr kumimoji="0" lang="en-US" sz="1800" b="0" i="0" u="none" strike="noStrike" kern="1200" cap="none" spc="0" normalizeH="0" baseline="0" noProof="0" dirty="0">
                <a:ln>
                  <a:noFill/>
                </a:ln>
                <a:solidFill>
                  <a:srgbClr val="221F20"/>
                </a:solidFill>
                <a:effectLst/>
                <a:uLnTx/>
                <a:uFillTx/>
                <a:latin typeface="Arial"/>
                <a:ea typeface="+mn-ea"/>
                <a:cs typeface="+mn-cs"/>
              </a:rPr>
              <a:t> </a:t>
            </a:r>
            <a:r>
              <a:rPr kumimoji="0" lang="en-US" sz="1800" b="1" i="0" u="none" strike="noStrike" kern="1200" cap="none" spc="0" normalizeH="0" baseline="0" noProof="0" dirty="0">
                <a:ln>
                  <a:noFill/>
                </a:ln>
                <a:solidFill>
                  <a:srgbClr val="49A190"/>
                </a:solidFill>
                <a:effectLst/>
                <a:uLnTx/>
                <a:uFillTx/>
                <a:latin typeface="Arial"/>
                <a:ea typeface="+mn-ea"/>
                <a:cs typeface="+mn-cs"/>
              </a:rPr>
              <a:t>–</a:t>
            </a:r>
            <a:r>
              <a:rPr kumimoji="0" lang="en-US" sz="1800" b="0" i="0" u="none" strike="noStrike" kern="1200" cap="none" spc="0" normalizeH="0" baseline="0" noProof="0" dirty="0">
                <a:ln>
                  <a:noFill/>
                </a:ln>
                <a:solidFill>
                  <a:srgbClr val="221F20"/>
                </a:solidFill>
                <a:effectLst/>
                <a:uLnTx/>
                <a:uFillTx/>
                <a:latin typeface="Arial"/>
                <a:ea typeface="+mn-ea"/>
                <a:cs typeface="+mn-cs"/>
              </a:rPr>
              <a:t> Model Development and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highlight>
                  <a:srgbClr val="18D6D2"/>
                </a:highlight>
                <a:uLnTx/>
                <a:uFillTx/>
                <a:latin typeface="Arial"/>
                <a:ea typeface="+mn-ea"/>
                <a:cs typeface="+mn-cs"/>
              </a:rPr>
              <a:t>Phase 3</a:t>
            </a:r>
            <a:r>
              <a:rPr kumimoji="0" lang="en-US" sz="1800" b="0" i="0" u="none" strike="noStrike" kern="1200" cap="none" spc="0" normalizeH="0" baseline="0" noProof="0" dirty="0">
                <a:ln>
                  <a:noFill/>
                </a:ln>
                <a:solidFill>
                  <a:srgbClr val="221F20"/>
                </a:solidFill>
                <a:effectLst/>
                <a:uLnTx/>
                <a:uFillTx/>
                <a:latin typeface="Arial"/>
                <a:ea typeface="+mn-ea"/>
                <a:cs typeface="+mn-cs"/>
              </a:rPr>
              <a:t> </a:t>
            </a:r>
            <a:r>
              <a:rPr kumimoji="0" lang="en-US" sz="1800" b="1" i="0" u="none" strike="noStrike" kern="1200" cap="none" spc="0" normalizeH="0" baseline="0" noProof="0" dirty="0">
                <a:ln>
                  <a:noFill/>
                </a:ln>
                <a:solidFill>
                  <a:srgbClr val="18D6D2"/>
                </a:solidFill>
                <a:effectLst/>
                <a:uLnTx/>
                <a:uFillTx/>
                <a:latin typeface="Arial"/>
                <a:ea typeface="+mn-ea"/>
                <a:cs typeface="+mn-cs"/>
              </a:rPr>
              <a:t>–</a:t>
            </a:r>
            <a:r>
              <a:rPr kumimoji="0" lang="en-US" sz="1800" b="0" i="0" u="none" strike="noStrike" kern="1200" cap="none" spc="0" normalizeH="0" baseline="0" noProof="0" dirty="0">
                <a:ln>
                  <a:noFill/>
                </a:ln>
                <a:solidFill>
                  <a:srgbClr val="221F20"/>
                </a:solidFill>
                <a:effectLst/>
                <a:uLnTx/>
                <a:uFillTx/>
                <a:latin typeface="Arial"/>
                <a:ea typeface="+mn-ea"/>
                <a:cs typeface="+mn-cs"/>
              </a:rPr>
              <a:t> Assessment and Synthesis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highlight>
                  <a:srgbClr val="78A3FA"/>
                </a:highlight>
                <a:uLnTx/>
                <a:uFillTx/>
                <a:latin typeface="Arial"/>
                <a:ea typeface="+mn-ea"/>
                <a:cs typeface="+mn-cs"/>
              </a:rPr>
              <a:t>Key Engagement</a:t>
            </a:r>
            <a:r>
              <a:rPr kumimoji="0" lang="en-US" sz="1800" b="0" i="0" u="none" strike="noStrike" kern="1200" cap="none" spc="0" normalizeH="0" baseline="0" noProof="0" dirty="0">
                <a:ln>
                  <a:noFill/>
                </a:ln>
                <a:solidFill>
                  <a:srgbClr val="221F20"/>
                </a:solidFill>
                <a:effectLst/>
                <a:uLnTx/>
                <a:uFillTx/>
                <a:latin typeface="Arial"/>
                <a:ea typeface="+mn-ea"/>
                <a:cs typeface="+mn-cs"/>
              </a:rPr>
              <a:t> </a:t>
            </a:r>
            <a:r>
              <a:rPr kumimoji="0" lang="en-US" sz="1800" b="1" i="0" u="none" strike="noStrike" kern="1200" cap="none" spc="0" normalizeH="0" baseline="0" noProof="0" dirty="0">
                <a:ln>
                  <a:noFill/>
                </a:ln>
                <a:solidFill>
                  <a:srgbClr val="78A3FA"/>
                </a:solidFill>
                <a:effectLst/>
                <a:uLnTx/>
                <a:uFillTx/>
                <a:latin typeface="Arial"/>
                <a:ea typeface="+mn-ea"/>
                <a:cs typeface="+mn-cs"/>
              </a:rPr>
              <a:t>–</a:t>
            </a:r>
            <a:r>
              <a:rPr kumimoji="0" lang="en-US" sz="1800" b="0" i="0" u="none" strike="noStrike" kern="1200" cap="none" spc="0" normalizeH="0" baseline="0" noProof="0" dirty="0">
                <a:ln>
                  <a:noFill/>
                </a:ln>
                <a:solidFill>
                  <a:srgbClr val="221F20"/>
                </a:solidFill>
                <a:effectLst/>
                <a:uLnTx/>
                <a:uFillTx/>
                <a:latin typeface="Arial"/>
                <a:ea typeface="+mn-ea"/>
                <a:cs typeface="+mn-cs"/>
              </a:rPr>
              <a:t> Stakeholder Engagement</a:t>
            </a:r>
          </a:p>
        </p:txBody>
      </p:sp>
      <p:graphicFrame>
        <p:nvGraphicFramePr>
          <p:cNvPr id="5" name="Table 4">
            <a:extLst>
              <a:ext uri="{FF2B5EF4-FFF2-40B4-BE49-F238E27FC236}">
                <a16:creationId xmlns:a16="http://schemas.microsoft.com/office/drawing/2014/main" id="{FC341D47-A54E-A415-C40C-2BCCD0616127}"/>
              </a:ext>
            </a:extLst>
          </p:cNvPr>
          <p:cNvGraphicFramePr>
            <a:graphicFrameLocks noGrp="1"/>
          </p:cNvGraphicFramePr>
          <p:nvPr>
            <p:extLst>
              <p:ext uri="{D42A27DB-BD31-4B8C-83A1-F6EECF244321}">
                <p14:modId xmlns:p14="http://schemas.microsoft.com/office/powerpoint/2010/main" val="3848256469"/>
              </p:ext>
            </p:extLst>
          </p:nvPr>
        </p:nvGraphicFramePr>
        <p:xfrm>
          <a:off x="330980" y="2298909"/>
          <a:ext cx="10980652" cy="3893191"/>
        </p:xfrm>
        <a:graphic>
          <a:graphicData uri="http://schemas.openxmlformats.org/drawingml/2006/table">
            <a:tbl>
              <a:tblPr firstRow="1" bandRow="1">
                <a:tableStyleId>{5C22544A-7EE6-4342-B048-85BDC9FD1C3A}</a:tableStyleId>
              </a:tblPr>
              <a:tblGrid>
                <a:gridCol w="4895735">
                  <a:extLst>
                    <a:ext uri="{9D8B030D-6E8A-4147-A177-3AD203B41FA5}">
                      <a16:colId xmlns:a16="http://schemas.microsoft.com/office/drawing/2014/main" val="3389186884"/>
                    </a:ext>
                  </a:extLst>
                </a:gridCol>
                <a:gridCol w="1658390">
                  <a:extLst>
                    <a:ext uri="{9D8B030D-6E8A-4147-A177-3AD203B41FA5}">
                      <a16:colId xmlns:a16="http://schemas.microsoft.com/office/drawing/2014/main" val="2261375817"/>
                    </a:ext>
                  </a:extLst>
                </a:gridCol>
                <a:gridCol w="1433945">
                  <a:extLst>
                    <a:ext uri="{9D8B030D-6E8A-4147-A177-3AD203B41FA5}">
                      <a16:colId xmlns:a16="http://schemas.microsoft.com/office/drawing/2014/main" val="3496009501"/>
                    </a:ext>
                  </a:extLst>
                </a:gridCol>
                <a:gridCol w="1626701">
                  <a:extLst>
                    <a:ext uri="{9D8B030D-6E8A-4147-A177-3AD203B41FA5}">
                      <a16:colId xmlns:a16="http://schemas.microsoft.com/office/drawing/2014/main" val="2234312688"/>
                    </a:ext>
                  </a:extLst>
                </a:gridCol>
                <a:gridCol w="1365881">
                  <a:extLst>
                    <a:ext uri="{9D8B030D-6E8A-4147-A177-3AD203B41FA5}">
                      <a16:colId xmlns:a16="http://schemas.microsoft.com/office/drawing/2014/main" val="2612483745"/>
                    </a:ext>
                  </a:extLst>
                </a:gridCol>
              </a:tblGrid>
              <a:tr h="310709">
                <a:tc>
                  <a:txBody>
                    <a:bodyPr/>
                    <a:lstStyle/>
                    <a:p>
                      <a:r>
                        <a:rPr lang="en-US" sz="1400" dirty="0">
                          <a:solidFill>
                            <a:schemeClr val="tx1"/>
                          </a:solidFill>
                        </a:rPr>
                        <a:t>Phase and Activities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0F0"/>
                    </a:solidFill>
                  </a:tcPr>
                </a:tc>
                <a:tc>
                  <a:txBody>
                    <a:bodyPr/>
                    <a:lstStyle/>
                    <a:p>
                      <a:r>
                        <a:rPr lang="en-US" sz="1400" dirty="0">
                          <a:solidFill>
                            <a:schemeClr val="tx1"/>
                          </a:solidFill>
                        </a:rPr>
                        <a:t>September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0F0"/>
                    </a:solidFill>
                  </a:tcPr>
                </a:tc>
                <a:tc>
                  <a:txBody>
                    <a:bodyPr/>
                    <a:lstStyle/>
                    <a:p>
                      <a:r>
                        <a:rPr lang="en-US" sz="1400" dirty="0">
                          <a:solidFill>
                            <a:schemeClr val="tx1"/>
                          </a:solidFill>
                        </a:rPr>
                        <a:t>October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0F0"/>
                    </a:solidFill>
                  </a:tcPr>
                </a:tc>
                <a:tc>
                  <a:txBody>
                    <a:bodyPr/>
                    <a:lstStyle/>
                    <a:p>
                      <a:r>
                        <a:rPr lang="en-US" sz="1400" dirty="0">
                          <a:solidFill>
                            <a:schemeClr val="tx1"/>
                          </a:solidFill>
                        </a:rPr>
                        <a:t>November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0F0"/>
                    </a:solidFill>
                  </a:tcPr>
                </a:tc>
                <a:tc>
                  <a:txBody>
                    <a:bodyPr/>
                    <a:lstStyle/>
                    <a:p>
                      <a:r>
                        <a:rPr lang="en-US" sz="1400" dirty="0">
                          <a:solidFill>
                            <a:schemeClr val="tx1"/>
                          </a:solidFill>
                        </a:rPr>
                        <a:t>December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81519999"/>
                  </a:ext>
                </a:extLst>
              </a:tr>
              <a:tr h="467083">
                <a:tc>
                  <a:txBody>
                    <a:bodyPr/>
                    <a:lstStyle/>
                    <a:p>
                      <a:r>
                        <a:rPr lang="en-US" sz="1200" dirty="0"/>
                        <a:t>Phase 1 Data Preparation – Gather data, conduct data quality assessment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12706994"/>
                  </a:ext>
                </a:extLst>
              </a:tr>
              <a:tr h="465739">
                <a:tc>
                  <a:txBody>
                    <a:bodyPr/>
                    <a:lstStyle/>
                    <a:p>
                      <a:r>
                        <a:rPr lang="en-US" sz="1200" dirty="0"/>
                        <a:t>Phase 1 Exploratory Data Analysis – Feature selection through PCA and </a:t>
                      </a:r>
                      <a:r>
                        <a:rPr lang="en-US" sz="1200" dirty="0" err="1"/>
                        <a:t>xGBoost</a:t>
                      </a:r>
                      <a:r>
                        <a:rPr lang="en-US" sz="1200" dirty="0"/>
                        <a:t> of cleaned CSAT Data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63105175"/>
                  </a:ext>
                </a:extLst>
              </a:tr>
              <a:tr h="468429">
                <a:tc>
                  <a:txBody>
                    <a:bodyPr/>
                    <a:lstStyle/>
                    <a:p>
                      <a:r>
                        <a:rPr lang="en-US" sz="1200" dirty="0"/>
                        <a:t>Phase 2 LSTM Development – Build model and format data for LSTM Modeling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47547889"/>
                  </a:ext>
                </a:extLst>
              </a:tr>
              <a:tr h="454978">
                <a:tc>
                  <a:txBody>
                    <a:bodyPr/>
                    <a:lstStyle/>
                    <a:p>
                      <a:r>
                        <a:rPr lang="en-US" sz="1200" dirty="0"/>
                        <a:t>Phase 2 CNN Development – Build model and format data for CNN Modeling</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63412453"/>
                  </a:ext>
                </a:extLst>
              </a:tr>
              <a:tr h="292592">
                <a:tc>
                  <a:txBody>
                    <a:bodyPr/>
                    <a:lstStyle/>
                    <a:p>
                      <a:r>
                        <a:rPr lang="en-US" sz="1200" dirty="0"/>
                        <a:t>Mid-Project Stakeholder Presentation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65623246"/>
                  </a:ext>
                </a:extLst>
              </a:tr>
              <a:tr h="455609">
                <a:tc>
                  <a:txBody>
                    <a:bodyPr/>
                    <a:lstStyle/>
                    <a:p>
                      <a:r>
                        <a:rPr lang="en-US" sz="1200" dirty="0"/>
                        <a:t>Phase 2 Model Training and Validation - Train and Validate LSTM and CNN Models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8732820"/>
                  </a:ext>
                </a:extLst>
              </a:tr>
              <a:tr h="443871">
                <a:tc>
                  <a:txBody>
                    <a:bodyPr/>
                    <a:lstStyle/>
                    <a:p>
                      <a:r>
                        <a:rPr lang="en-US" sz="1200" dirty="0"/>
                        <a:t>Phase 3 Assess model performance - Compare LSTM and CNN model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99634781"/>
                  </a:ext>
                </a:extLst>
              </a:tr>
              <a:tr h="443871">
                <a:tc>
                  <a:txBody>
                    <a:bodyPr/>
                    <a:lstStyle/>
                    <a:p>
                      <a:r>
                        <a:rPr lang="en-US" sz="1200" dirty="0"/>
                        <a:t>Phase 3 Complete Capstone - Develop final deliverables and create visualizations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698077"/>
                  </a:ext>
                </a:extLst>
              </a:tr>
            </a:tbl>
          </a:graphicData>
        </a:graphic>
      </p:graphicFrame>
      <p:sp>
        <p:nvSpPr>
          <p:cNvPr id="6" name="Arrow: Pentagon 5">
            <a:extLst>
              <a:ext uri="{FF2B5EF4-FFF2-40B4-BE49-F238E27FC236}">
                <a16:creationId xmlns:a16="http://schemas.microsoft.com/office/drawing/2014/main" id="{366E1A79-1076-E941-FF1E-77211EC2FD1E}"/>
              </a:ext>
            </a:extLst>
          </p:cNvPr>
          <p:cNvSpPr/>
          <p:nvPr/>
        </p:nvSpPr>
        <p:spPr>
          <a:xfrm>
            <a:off x="7221196" y="3626604"/>
            <a:ext cx="1576699" cy="286971"/>
          </a:xfrm>
          <a:prstGeom prst="homePlate">
            <a:avLst/>
          </a:prstGeom>
          <a:solidFill>
            <a:srgbClr val="49A190">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10/10-11/3</a:t>
            </a:r>
          </a:p>
        </p:txBody>
      </p:sp>
      <p:sp>
        <p:nvSpPr>
          <p:cNvPr id="7" name="Arrow: Pentagon 6">
            <a:extLst>
              <a:ext uri="{FF2B5EF4-FFF2-40B4-BE49-F238E27FC236}">
                <a16:creationId xmlns:a16="http://schemas.microsoft.com/office/drawing/2014/main" id="{681F3536-3C5B-3152-4D12-E37A063DEDF5}"/>
              </a:ext>
            </a:extLst>
          </p:cNvPr>
          <p:cNvSpPr/>
          <p:nvPr/>
        </p:nvSpPr>
        <p:spPr>
          <a:xfrm>
            <a:off x="7221196" y="4096087"/>
            <a:ext cx="1727027" cy="286971"/>
          </a:xfrm>
          <a:prstGeom prst="homePlate">
            <a:avLst/>
          </a:prstGeom>
          <a:solidFill>
            <a:srgbClr val="49A190">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10/1</a:t>
            </a:r>
            <a:r>
              <a:rPr lang="en-US" dirty="0">
                <a:solidFill>
                  <a:srgbClr val="221F20"/>
                </a:solidFill>
                <a:latin typeface="Arial"/>
              </a:rPr>
              <a:t>0</a:t>
            </a:r>
            <a:r>
              <a:rPr kumimoji="0" lang="en-US" sz="1800" b="0" i="0" u="none" strike="noStrike" kern="1200" cap="none" spc="0" normalizeH="0" baseline="0" noProof="0" dirty="0">
                <a:ln>
                  <a:noFill/>
                </a:ln>
                <a:solidFill>
                  <a:srgbClr val="221F20"/>
                </a:solidFill>
                <a:effectLst/>
                <a:uLnTx/>
                <a:uFillTx/>
                <a:latin typeface="Arial"/>
                <a:ea typeface="+mn-ea"/>
                <a:cs typeface="+mn-cs"/>
              </a:rPr>
              <a:t>-11/3</a:t>
            </a:r>
          </a:p>
        </p:txBody>
      </p:sp>
      <p:sp>
        <p:nvSpPr>
          <p:cNvPr id="8" name="Arrow: Pentagon 7">
            <a:extLst>
              <a:ext uri="{FF2B5EF4-FFF2-40B4-BE49-F238E27FC236}">
                <a16:creationId xmlns:a16="http://schemas.microsoft.com/office/drawing/2014/main" id="{8ABEC4F1-6BE8-2899-6485-2B2A8E5702D3}"/>
              </a:ext>
            </a:extLst>
          </p:cNvPr>
          <p:cNvSpPr/>
          <p:nvPr/>
        </p:nvSpPr>
        <p:spPr>
          <a:xfrm>
            <a:off x="8404788" y="4909575"/>
            <a:ext cx="1585245" cy="286971"/>
          </a:xfrm>
          <a:prstGeom prst="homePlate">
            <a:avLst/>
          </a:prstGeom>
          <a:solidFill>
            <a:srgbClr val="49A190">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11/1-11/25</a:t>
            </a:r>
          </a:p>
        </p:txBody>
      </p:sp>
      <p:sp>
        <p:nvSpPr>
          <p:cNvPr id="9" name="Arrow: Pentagon 8">
            <a:extLst>
              <a:ext uri="{FF2B5EF4-FFF2-40B4-BE49-F238E27FC236}">
                <a16:creationId xmlns:a16="http://schemas.microsoft.com/office/drawing/2014/main" id="{4B45B3AA-0532-6F3D-CC1A-5882D60C9676}"/>
              </a:ext>
            </a:extLst>
          </p:cNvPr>
          <p:cNvSpPr/>
          <p:nvPr/>
        </p:nvSpPr>
        <p:spPr>
          <a:xfrm>
            <a:off x="8948223" y="5367316"/>
            <a:ext cx="1549631" cy="286971"/>
          </a:xfrm>
          <a:prstGeom prst="homePlate">
            <a:avLst/>
          </a:prstGeom>
          <a:solidFill>
            <a:srgbClr val="18D6D2">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11/15-11/</a:t>
            </a:r>
            <a:r>
              <a:rPr lang="en-US" dirty="0">
                <a:solidFill>
                  <a:srgbClr val="221F20"/>
                </a:solidFill>
                <a:latin typeface="Arial"/>
              </a:rPr>
              <a:t>25</a:t>
            </a:r>
            <a:endParaRPr kumimoji="0" lang="en-US" sz="1800" b="0" i="0" u="none" strike="noStrike" kern="1200" cap="none" spc="0" normalizeH="0" baseline="0" noProof="0" dirty="0">
              <a:ln>
                <a:noFill/>
              </a:ln>
              <a:solidFill>
                <a:srgbClr val="221F20"/>
              </a:solidFill>
              <a:effectLst/>
              <a:uLnTx/>
              <a:uFillTx/>
              <a:latin typeface="Arial"/>
              <a:ea typeface="+mn-ea"/>
              <a:cs typeface="+mn-cs"/>
            </a:endParaRPr>
          </a:p>
        </p:txBody>
      </p:sp>
      <p:sp>
        <p:nvSpPr>
          <p:cNvPr id="10" name="Arrow: Pentagon 9">
            <a:extLst>
              <a:ext uri="{FF2B5EF4-FFF2-40B4-BE49-F238E27FC236}">
                <a16:creationId xmlns:a16="http://schemas.microsoft.com/office/drawing/2014/main" id="{BD9D7F91-7B0A-6F7D-172C-48A9FC741C0C}"/>
              </a:ext>
            </a:extLst>
          </p:cNvPr>
          <p:cNvSpPr/>
          <p:nvPr/>
        </p:nvSpPr>
        <p:spPr>
          <a:xfrm>
            <a:off x="5645041" y="3157121"/>
            <a:ext cx="2037627" cy="286971"/>
          </a:xfrm>
          <a:prstGeom prst="homePlate">
            <a:avLst/>
          </a:prstGeom>
          <a:solidFill>
            <a:srgbClr val="7FAC3E">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9/16-10/20</a:t>
            </a:r>
          </a:p>
        </p:txBody>
      </p:sp>
      <p:sp>
        <p:nvSpPr>
          <p:cNvPr id="11" name="Arrow: Pentagon 10">
            <a:extLst>
              <a:ext uri="{FF2B5EF4-FFF2-40B4-BE49-F238E27FC236}">
                <a16:creationId xmlns:a16="http://schemas.microsoft.com/office/drawing/2014/main" id="{3294207C-9279-BE86-2F1B-4F512B486797}"/>
              </a:ext>
            </a:extLst>
          </p:cNvPr>
          <p:cNvSpPr/>
          <p:nvPr/>
        </p:nvSpPr>
        <p:spPr>
          <a:xfrm>
            <a:off x="5294573" y="2675890"/>
            <a:ext cx="2388095" cy="286971"/>
          </a:xfrm>
          <a:prstGeom prst="homePlate">
            <a:avLst/>
          </a:prstGeom>
          <a:solidFill>
            <a:srgbClr val="7FAC3E">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9/2-10/20</a:t>
            </a:r>
          </a:p>
        </p:txBody>
      </p:sp>
      <p:sp>
        <p:nvSpPr>
          <p:cNvPr id="12" name="Arrow: Pentagon 11">
            <a:extLst>
              <a:ext uri="{FF2B5EF4-FFF2-40B4-BE49-F238E27FC236}">
                <a16:creationId xmlns:a16="http://schemas.microsoft.com/office/drawing/2014/main" id="{F0C00880-E698-886E-5559-7F1327EE3A70}"/>
              </a:ext>
            </a:extLst>
          </p:cNvPr>
          <p:cNvSpPr/>
          <p:nvPr/>
        </p:nvSpPr>
        <p:spPr>
          <a:xfrm>
            <a:off x="9758643" y="5825057"/>
            <a:ext cx="1478422" cy="286971"/>
          </a:xfrm>
          <a:prstGeom prst="homePlate">
            <a:avLst/>
          </a:prstGeom>
          <a:solidFill>
            <a:srgbClr val="18D6D2">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11/25-12/12</a:t>
            </a:r>
          </a:p>
        </p:txBody>
      </p:sp>
      <p:sp>
        <p:nvSpPr>
          <p:cNvPr id="13" name="Rectangle 12">
            <a:extLst>
              <a:ext uri="{FF2B5EF4-FFF2-40B4-BE49-F238E27FC236}">
                <a16:creationId xmlns:a16="http://schemas.microsoft.com/office/drawing/2014/main" id="{6B7D6731-67DA-C50D-9E5D-AF958E4AF8D2}"/>
              </a:ext>
            </a:extLst>
          </p:cNvPr>
          <p:cNvSpPr/>
          <p:nvPr/>
        </p:nvSpPr>
        <p:spPr>
          <a:xfrm>
            <a:off x="7553427" y="4536488"/>
            <a:ext cx="818804" cy="228847"/>
          </a:xfrm>
          <a:prstGeom prst="rect">
            <a:avLst/>
          </a:prstGeom>
          <a:solidFill>
            <a:srgbClr val="78A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10/17</a:t>
            </a:r>
          </a:p>
        </p:txBody>
      </p:sp>
      <p:sp>
        <p:nvSpPr>
          <p:cNvPr id="14" name="Star: 5 Points 13">
            <a:extLst>
              <a:ext uri="{FF2B5EF4-FFF2-40B4-BE49-F238E27FC236}">
                <a16:creationId xmlns:a16="http://schemas.microsoft.com/office/drawing/2014/main" id="{98D13918-89FA-9DDB-84D4-FECD3A6AFC0E}"/>
              </a:ext>
            </a:extLst>
          </p:cNvPr>
          <p:cNvSpPr/>
          <p:nvPr/>
        </p:nvSpPr>
        <p:spPr>
          <a:xfrm>
            <a:off x="5075921" y="3108325"/>
            <a:ext cx="437304" cy="384561"/>
          </a:xfrm>
          <a:prstGeom prst="star5">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16009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3EFABF8-80DF-D1B3-2E3C-952C5FB8258F}"/>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221F20">
                  <a:lumMod val="75000"/>
                  <a:lumOff val="25000"/>
                </a:srgbClr>
              </a:solidFill>
              <a:effectLst/>
              <a:uLnTx/>
              <a:uFillTx/>
              <a:latin typeface="Arial"/>
              <a:ea typeface="+mn-ea"/>
              <a:cs typeface="+mn-cs"/>
            </a:endParaRPr>
          </a:p>
        </p:txBody>
      </p:sp>
      <p:sp>
        <p:nvSpPr>
          <p:cNvPr id="4" name="Title 3">
            <a:extLst>
              <a:ext uri="{FF2B5EF4-FFF2-40B4-BE49-F238E27FC236}">
                <a16:creationId xmlns:a16="http://schemas.microsoft.com/office/drawing/2014/main" id="{2B54304B-131D-500B-8730-F50218CC6889}"/>
              </a:ext>
            </a:extLst>
          </p:cNvPr>
          <p:cNvSpPr>
            <a:spLocks noGrp="1"/>
          </p:cNvSpPr>
          <p:nvPr>
            <p:ph type="title"/>
          </p:nvPr>
        </p:nvSpPr>
        <p:spPr/>
        <p:txBody>
          <a:bodyPr/>
          <a:lstStyle/>
          <a:p>
            <a:r>
              <a:rPr lang="en-US" dirty="0"/>
              <a:t>Project Plan &amp; Timeline</a:t>
            </a:r>
          </a:p>
        </p:txBody>
      </p:sp>
      <p:sp>
        <p:nvSpPr>
          <p:cNvPr id="5" name="TextBox 4">
            <a:extLst>
              <a:ext uri="{FF2B5EF4-FFF2-40B4-BE49-F238E27FC236}">
                <a16:creationId xmlns:a16="http://schemas.microsoft.com/office/drawing/2014/main" id="{95E4FD4A-4F47-DD0D-0BD0-071D0AD803F0}"/>
              </a:ext>
            </a:extLst>
          </p:cNvPr>
          <p:cNvSpPr txBox="1"/>
          <p:nvPr/>
        </p:nvSpPr>
        <p:spPr>
          <a:xfrm>
            <a:off x="1041685" y="746757"/>
            <a:ext cx="10590414"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Three Key Phases: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highlight>
                  <a:srgbClr val="7FAC3E"/>
                </a:highlight>
                <a:uLnTx/>
                <a:uFillTx/>
                <a:latin typeface="Arial"/>
                <a:ea typeface="+mn-ea"/>
                <a:cs typeface="+mn-cs"/>
              </a:rPr>
              <a:t>Phase 1</a:t>
            </a:r>
            <a:r>
              <a:rPr kumimoji="0" lang="en-US" sz="1800" b="0" i="0" u="none" strike="noStrike" kern="1200" cap="none" spc="0" normalizeH="0" baseline="0" noProof="0" dirty="0">
                <a:ln>
                  <a:noFill/>
                </a:ln>
                <a:solidFill>
                  <a:srgbClr val="221F20"/>
                </a:solidFill>
                <a:effectLst/>
                <a:uLnTx/>
                <a:uFillTx/>
                <a:latin typeface="Arial"/>
                <a:ea typeface="+mn-ea"/>
                <a:cs typeface="+mn-cs"/>
              </a:rPr>
              <a:t> </a:t>
            </a:r>
            <a:r>
              <a:rPr kumimoji="0" lang="en-US" sz="1800" b="1" i="0" u="none" strike="noStrike" kern="1200" cap="none" spc="0" normalizeH="0" baseline="0" noProof="0" dirty="0">
                <a:ln>
                  <a:noFill/>
                </a:ln>
                <a:solidFill>
                  <a:srgbClr val="7FAC3E"/>
                </a:solidFill>
                <a:effectLst/>
                <a:uLnTx/>
                <a:uFillTx/>
                <a:latin typeface="Arial"/>
                <a:ea typeface="+mn-ea"/>
                <a:cs typeface="+mn-cs"/>
              </a:rPr>
              <a:t>–</a:t>
            </a:r>
            <a:r>
              <a:rPr kumimoji="0" lang="en-US" sz="1800" b="0" i="0" u="none" strike="noStrike" kern="1200" cap="none" spc="0" normalizeH="0" baseline="0" noProof="0" dirty="0">
                <a:ln>
                  <a:noFill/>
                </a:ln>
                <a:solidFill>
                  <a:srgbClr val="221F20"/>
                </a:solidFill>
                <a:effectLst/>
                <a:uLnTx/>
                <a:uFillTx/>
                <a:latin typeface="Arial"/>
                <a:ea typeface="+mn-ea"/>
                <a:cs typeface="+mn-cs"/>
              </a:rPr>
              <a:t> Data wrangling and exploration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highlight>
                  <a:srgbClr val="49A190"/>
                </a:highlight>
                <a:uLnTx/>
                <a:uFillTx/>
                <a:latin typeface="Arial"/>
                <a:ea typeface="+mn-ea"/>
                <a:cs typeface="+mn-cs"/>
              </a:rPr>
              <a:t>Phase 2</a:t>
            </a:r>
            <a:r>
              <a:rPr kumimoji="0" lang="en-US" sz="1800" b="0" i="0" u="none" strike="noStrike" kern="1200" cap="none" spc="0" normalizeH="0" baseline="0" noProof="0" dirty="0">
                <a:ln>
                  <a:noFill/>
                </a:ln>
                <a:solidFill>
                  <a:srgbClr val="221F20"/>
                </a:solidFill>
                <a:effectLst/>
                <a:uLnTx/>
                <a:uFillTx/>
                <a:latin typeface="Arial"/>
                <a:ea typeface="+mn-ea"/>
                <a:cs typeface="+mn-cs"/>
              </a:rPr>
              <a:t> </a:t>
            </a:r>
            <a:r>
              <a:rPr kumimoji="0" lang="en-US" sz="1800" b="1" i="0" u="none" strike="noStrike" kern="1200" cap="none" spc="0" normalizeH="0" baseline="0" noProof="0" dirty="0">
                <a:ln>
                  <a:noFill/>
                </a:ln>
                <a:solidFill>
                  <a:srgbClr val="49A190"/>
                </a:solidFill>
                <a:effectLst/>
                <a:uLnTx/>
                <a:uFillTx/>
                <a:latin typeface="Arial"/>
                <a:ea typeface="+mn-ea"/>
                <a:cs typeface="+mn-cs"/>
              </a:rPr>
              <a:t>–</a:t>
            </a:r>
            <a:r>
              <a:rPr kumimoji="0" lang="en-US" sz="1800" b="0" i="0" u="none" strike="noStrike" kern="1200" cap="none" spc="0" normalizeH="0" baseline="0" noProof="0" dirty="0">
                <a:ln>
                  <a:noFill/>
                </a:ln>
                <a:solidFill>
                  <a:srgbClr val="221F20"/>
                </a:solidFill>
                <a:effectLst/>
                <a:uLnTx/>
                <a:uFillTx/>
                <a:latin typeface="Arial"/>
                <a:ea typeface="+mn-ea"/>
                <a:cs typeface="+mn-cs"/>
              </a:rPr>
              <a:t> Model Development and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highlight>
                  <a:srgbClr val="18D6D2"/>
                </a:highlight>
                <a:uLnTx/>
                <a:uFillTx/>
                <a:latin typeface="Arial"/>
                <a:ea typeface="+mn-ea"/>
                <a:cs typeface="+mn-cs"/>
              </a:rPr>
              <a:t>Phase 3</a:t>
            </a:r>
            <a:r>
              <a:rPr kumimoji="0" lang="en-US" sz="1800" b="0" i="0" u="none" strike="noStrike" kern="1200" cap="none" spc="0" normalizeH="0" baseline="0" noProof="0" dirty="0">
                <a:ln>
                  <a:noFill/>
                </a:ln>
                <a:solidFill>
                  <a:srgbClr val="221F20"/>
                </a:solidFill>
                <a:effectLst/>
                <a:uLnTx/>
                <a:uFillTx/>
                <a:latin typeface="Arial"/>
                <a:ea typeface="+mn-ea"/>
                <a:cs typeface="+mn-cs"/>
              </a:rPr>
              <a:t> </a:t>
            </a:r>
            <a:r>
              <a:rPr kumimoji="0" lang="en-US" sz="1800" b="1" i="0" u="none" strike="noStrike" kern="1200" cap="none" spc="0" normalizeH="0" baseline="0" noProof="0" dirty="0">
                <a:ln>
                  <a:noFill/>
                </a:ln>
                <a:solidFill>
                  <a:srgbClr val="18D6D2"/>
                </a:solidFill>
                <a:effectLst/>
                <a:uLnTx/>
                <a:uFillTx/>
                <a:latin typeface="Arial"/>
                <a:ea typeface="+mn-ea"/>
                <a:cs typeface="+mn-cs"/>
              </a:rPr>
              <a:t>–</a:t>
            </a:r>
            <a:r>
              <a:rPr kumimoji="0" lang="en-US" sz="1800" b="0" i="0" u="none" strike="noStrike" kern="1200" cap="none" spc="0" normalizeH="0" baseline="0" noProof="0" dirty="0">
                <a:ln>
                  <a:noFill/>
                </a:ln>
                <a:solidFill>
                  <a:srgbClr val="221F20"/>
                </a:solidFill>
                <a:effectLst/>
                <a:uLnTx/>
                <a:uFillTx/>
                <a:latin typeface="Arial"/>
                <a:ea typeface="+mn-ea"/>
                <a:cs typeface="+mn-cs"/>
              </a:rPr>
              <a:t> Assessment and Synthesis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highlight>
                  <a:srgbClr val="78A3FA"/>
                </a:highlight>
                <a:uLnTx/>
                <a:uFillTx/>
                <a:latin typeface="Arial"/>
                <a:ea typeface="+mn-ea"/>
                <a:cs typeface="+mn-cs"/>
              </a:rPr>
              <a:t>Key Engagement</a:t>
            </a:r>
            <a:r>
              <a:rPr kumimoji="0" lang="en-US" sz="1800" b="0" i="0" u="none" strike="noStrike" kern="1200" cap="none" spc="0" normalizeH="0" baseline="0" noProof="0" dirty="0">
                <a:ln>
                  <a:noFill/>
                </a:ln>
                <a:solidFill>
                  <a:srgbClr val="221F20"/>
                </a:solidFill>
                <a:effectLst/>
                <a:uLnTx/>
                <a:uFillTx/>
                <a:latin typeface="Arial"/>
                <a:ea typeface="+mn-ea"/>
                <a:cs typeface="+mn-cs"/>
              </a:rPr>
              <a:t> </a:t>
            </a:r>
            <a:r>
              <a:rPr kumimoji="0" lang="en-US" sz="1800" b="1" i="0" u="none" strike="noStrike" kern="1200" cap="none" spc="0" normalizeH="0" baseline="0" noProof="0" dirty="0">
                <a:ln>
                  <a:noFill/>
                </a:ln>
                <a:solidFill>
                  <a:srgbClr val="78A3FA"/>
                </a:solidFill>
                <a:effectLst/>
                <a:uLnTx/>
                <a:uFillTx/>
                <a:latin typeface="Arial"/>
                <a:ea typeface="+mn-ea"/>
                <a:cs typeface="+mn-cs"/>
              </a:rPr>
              <a:t>–</a:t>
            </a:r>
            <a:r>
              <a:rPr kumimoji="0" lang="en-US" sz="1800" b="0" i="0" u="none" strike="noStrike" kern="1200" cap="none" spc="0" normalizeH="0" baseline="0" noProof="0" dirty="0">
                <a:ln>
                  <a:noFill/>
                </a:ln>
                <a:solidFill>
                  <a:srgbClr val="221F20"/>
                </a:solidFill>
                <a:effectLst/>
                <a:uLnTx/>
                <a:uFillTx/>
                <a:latin typeface="Arial"/>
                <a:ea typeface="+mn-ea"/>
                <a:cs typeface="+mn-cs"/>
              </a:rPr>
              <a:t> Stakeholder Engagement</a:t>
            </a:r>
          </a:p>
        </p:txBody>
      </p:sp>
      <p:graphicFrame>
        <p:nvGraphicFramePr>
          <p:cNvPr id="14" name="Table 13">
            <a:extLst>
              <a:ext uri="{FF2B5EF4-FFF2-40B4-BE49-F238E27FC236}">
                <a16:creationId xmlns:a16="http://schemas.microsoft.com/office/drawing/2014/main" id="{E0EB7B61-AEBD-3C0C-6317-1E9E71CD587D}"/>
              </a:ext>
            </a:extLst>
          </p:cNvPr>
          <p:cNvGraphicFramePr>
            <a:graphicFrameLocks noGrp="1"/>
          </p:cNvGraphicFramePr>
          <p:nvPr/>
        </p:nvGraphicFramePr>
        <p:xfrm>
          <a:off x="651447" y="2311728"/>
          <a:ext cx="10980652" cy="3833352"/>
        </p:xfrm>
        <a:graphic>
          <a:graphicData uri="http://schemas.openxmlformats.org/drawingml/2006/table">
            <a:tbl>
              <a:tblPr firstRow="1" bandRow="1">
                <a:tableStyleId>{5C22544A-7EE6-4342-B048-85BDC9FD1C3A}</a:tableStyleId>
              </a:tblPr>
              <a:tblGrid>
                <a:gridCol w="4895735">
                  <a:extLst>
                    <a:ext uri="{9D8B030D-6E8A-4147-A177-3AD203B41FA5}">
                      <a16:colId xmlns:a16="http://schemas.microsoft.com/office/drawing/2014/main" val="3389186884"/>
                    </a:ext>
                  </a:extLst>
                </a:gridCol>
                <a:gridCol w="1658390">
                  <a:extLst>
                    <a:ext uri="{9D8B030D-6E8A-4147-A177-3AD203B41FA5}">
                      <a16:colId xmlns:a16="http://schemas.microsoft.com/office/drawing/2014/main" val="2261375817"/>
                    </a:ext>
                  </a:extLst>
                </a:gridCol>
                <a:gridCol w="1433945">
                  <a:extLst>
                    <a:ext uri="{9D8B030D-6E8A-4147-A177-3AD203B41FA5}">
                      <a16:colId xmlns:a16="http://schemas.microsoft.com/office/drawing/2014/main" val="3496009501"/>
                    </a:ext>
                  </a:extLst>
                </a:gridCol>
                <a:gridCol w="1626701">
                  <a:extLst>
                    <a:ext uri="{9D8B030D-6E8A-4147-A177-3AD203B41FA5}">
                      <a16:colId xmlns:a16="http://schemas.microsoft.com/office/drawing/2014/main" val="2234312688"/>
                    </a:ext>
                  </a:extLst>
                </a:gridCol>
                <a:gridCol w="1365881">
                  <a:extLst>
                    <a:ext uri="{9D8B030D-6E8A-4147-A177-3AD203B41FA5}">
                      <a16:colId xmlns:a16="http://schemas.microsoft.com/office/drawing/2014/main" val="2612483745"/>
                    </a:ext>
                  </a:extLst>
                </a:gridCol>
              </a:tblGrid>
              <a:tr h="310709">
                <a:tc>
                  <a:txBody>
                    <a:bodyPr/>
                    <a:lstStyle/>
                    <a:p>
                      <a:r>
                        <a:rPr lang="en-US" sz="1400" dirty="0">
                          <a:solidFill>
                            <a:schemeClr val="tx1"/>
                          </a:solidFill>
                        </a:rPr>
                        <a:t>Phase and Activities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0F0"/>
                    </a:solidFill>
                  </a:tcPr>
                </a:tc>
                <a:tc>
                  <a:txBody>
                    <a:bodyPr/>
                    <a:lstStyle/>
                    <a:p>
                      <a:r>
                        <a:rPr lang="en-US" sz="1400" dirty="0">
                          <a:solidFill>
                            <a:schemeClr val="tx1"/>
                          </a:solidFill>
                        </a:rPr>
                        <a:t>September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0F0"/>
                    </a:solidFill>
                  </a:tcPr>
                </a:tc>
                <a:tc>
                  <a:txBody>
                    <a:bodyPr/>
                    <a:lstStyle/>
                    <a:p>
                      <a:r>
                        <a:rPr lang="en-US" sz="1400" dirty="0">
                          <a:solidFill>
                            <a:schemeClr val="tx1"/>
                          </a:solidFill>
                        </a:rPr>
                        <a:t>October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0F0"/>
                    </a:solidFill>
                  </a:tcPr>
                </a:tc>
                <a:tc>
                  <a:txBody>
                    <a:bodyPr/>
                    <a:lstStyle/>
                    <a:p>
                      <a:r>
                        <a:rPr lang="en-US" sz="1400" dirty="0">
                          <a:solidFill>
                            <a:schemeClr val="tx1"/>
                          </a:solidFill>
                        </a:rPr>
                        <a:t>November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0F0"/>
                    </a:solidFill>
                  </a:tcPr>
                </a:tc>
                <a:tc>
                  <a:txBody>
                    <a:bodyPr/>
                    <a:lstStyle/>
                    <a:p>
                      <a:r>
                        <a:rPr lang="en-US" sz="1400" dirty="0">
                          <a:solidFill>
                            <a:schemeClr val="tx1"/>
                          </a:solidFill>
                        </a:rPr>
                        <a:t>December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81519999"/>
                  </a:ext>
                </a:extLst>
              </a:tr>
              <a:tr h="467083">
                <a:tc>
                  <a:txBody>
                    <a:bodyPr/>
                    <a:lstStyle/>
                    <a:p>
                      <a:r>
                        <a:rPr lang="en-US" sz="1200" dirty="0"/>
                        <a:t>Phase 1 Data Preparation – Gather data, conduct data quality assessment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12706994"/>
                  </a:ext>
                </a:extLst>
              </a:tr>
              <a:tr h="465739">
                <a:tc>
                  <a:txBody>
                    <a:bodyPr/>
                    <a:lstStyle/>
                    <a:p>
                      <a:r>
                        <a:rPr lang="en-US" sz="1200" dirty="0"/>
                        <a:t>Phase 1 Exploratory Data Analysis – Feature selection through PCA and </a:t>
                      </a:r>
                      <a:r>
                        <a:rPr lang="en-US" sz="1200" dirty="0" err="1"/>
                        <a:t>xGBoost</a:t>
                      </a:r>
                      <a:endParaRPr lang="en-US"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63105175"/>
                  </a:ext>
                </a:extLst>
              </a:tr>
              <a:tr h="468429">
                <a:tc>
                  <a:txBody>
                    <a:bodyPr/>
                    <a:lstStyle/>
                    <a:p>
                      <a:r>
                        <a:rPr lang="en-US" sz="1200" dirty="0"/>
                        <a:t>Phase 2 LSTM Development – Build model and format data for LSTM Modeling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47547889"/>
                  </a:ext>
                </a:extLst>
              </a:tr>
              <a:tr h="454978">
                <a:tc>
                  <a:txBody>
                    <a:bodyPr/>
                    <a:lstStyle/>
                    <a:p>
                      <a:r>
                        <a:rPr lang="en-US" sz="1200" dirty="0"/>
                        <a:t>Phase 2 CNN Development – Build model and format data for CNN Modeling</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63412453"/>
                  </a:ext>
                </a:extLst>
              </a:tr>
              <a:tr h="292592">
                <a:tc>
                  <a:txBody>
                    <a:bodyPr/>
                    <a:lstStyle/>
                    <a:p>
                      <a:r>
                        <a:rPr lang="en-US" sz="1200" dirty="0"/>
                        <a:t>Mid-Project Stakeholder Presentation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65623246"/>
                  </a:ext>
                </a:extLst>
              </a:tr>
              <a:tr h="455609">
                <a:tc>
                  <a:txBody>
                    <a:bodyPr/>
                    <a:lstStyle/>
                    <a:p>
                      <a:r>
                        <a:rPr lang="en-US" sz="1200" dirty="0"/>
                        <a:t>Phase 2 Model Training and Validation - Train and Validate LSTM and CNN Models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8732820"/>
                  </a:ext>
                </a:extLst>
              </a:tr>
              <a:tr h="443871">
                <a:tc>
                  <a:txBody>
                    <a:bodyPr/>
                    <a:lstStyle/>
                    <a:p>
                      <a:r>
                        <a:rPr lang="en-US" sz="1200" dirty="0"/>
                        <a:t>Phase 3 Assess model performance - Compare LSTM and CNN model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99634781"/>
                  </a:ext>
                </a:extLst>
              </a:tr>
              <a:tr h="443871">
                <a:tc>
                  <a:txBody>
                    <a:bodyPr/>
                    <a:lstStyle/>
                    <a:p>
                      <a:r>
                        <a:rPr lang="en-US" sz="1200" dirty="0"/>
                        <a:t>Phase 3 Complete Capstone - Develop final deliverables and create visualizations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698077"/>
                  </a:ext>
                </a:extLst>
              </a:tr>
            </a:tbl>
          </a:graphicData>
        </a:graphic>
      </p:graphicFrame>
      <p:sp>
        <p:nvSpPr>
          <p:cNvPr id="19" name="Arrow: Pentagon 18">
            <a:extLst>
              <a:ext uri="{FF2B5EF4-FFF2-40B4-BE49-F238E27FC236}">
                <a16:creationId xmlns:a16="http://schemas.microsoft.com/office/drawing/2014/main" id="{33AB30D9-8ECA-5EE1-CDC7-EE7497D5F41E}"/>
              </a:ext>
            </a:extLst>
          </p:cNvPr>
          <p:cNvSpPr/>
          <p:nvPr/>
        </p:nvSpPr>
        <p:spPr>
          <a:xfrm>
            <a:off x="6791102" y="3631227"/>
            <a:ext cx="1629294" cy="286971"/>
          </a:xfrm>
          <a:prstGeom prst="homePlate">
            <a:avLst/>
          </a:prstGeom>
          <a:solidFill>
            <a:srgbClr val="49A190">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9/30-10/20</a:t>
            </a:r>
          </a:p>
        </p:txBody>
      </p:sp>
      <p:sp>
        <p:nvSpPr>
          <p:cNvPr id="21" name="Arrow: Pentagon 20">
            <a:extLst>
              <a:ext uri="{FF2B5EF4-FFF2-40B4-BE49-F238E27FC236}">
                <a16:creationId xmlns:a16="http://schemas.microsoft.com/office/drawing/2014/main" id="{CAD812F5-271A-FCB2-2177-0CA5E4063A4F}"/>
              </a:ext>
            </a:extLst>
          </p:cNvPr>
          <p:cNvSpPr/>
          <p:nvPr/>
        </p:nvSpPr>
        <p:spPr>
          <a:xfrm>
            <a:off x="7639396" y="4108906"/>
            <a:ext cx="1629294" cy="286971"/>
          </a:xfrm>
          <a:prstGeom prst="homePlate">
            <a:avLst/>
          </a:prstGeom>
          <a:solidFill>
            <a:srgbClr val="49A190">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10/14-11/3</a:t>
            </a:r>
          </a:p>
        </p:txBody>
      </p:sp>
      <p:sp>
        <p:nvSpPr>
          <p:cNvPr id="22" name="Arrow: Pentagon 21">
            <a:extLst>
              <a:ext uri="{FF2B5EF4-FFF2-40B4-BE49-F238E27FC236}">
                <a16:creationId xmlns:a16="http://schemas.microsoft.com/office/drawing/2014/main" id="{8A42420F-C090-38DD-610B-04462C3B3868}"/>
              </a:ext>
            </a:extLst>
          </p:cNvPr>
          <p:cNvSpPr/>
          <p:nvPr/>
        </p:nvSpPr>
        <p:spPr>
          <a:xfrm>
            <a:off x="7835438" y="4874629"/>
            <a:ext cx="2152304" cy="286971"/>
          </a:xfrm>
          <a:prstGeom prst="homePlate">
            <a:avLst/>
          </a:prstGeom>
          <a:solidFill>
            <a:srgbClr val="49A190">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10/15-11/17</a:t>
            </a:r>
          </a:p>
        </p:txBody>
      </p:sp>
      <p:sp>
        <p:nvSpPr>
          <p:cNvPr id="23" name="Arrow: Pentagon 22">
            <a:extLst>
              <a:ext uri="{FF2B5EF4-FFF2-40B4-BE49-F238E27FC236}">
                <a16:creationId xmlns:a16="http://schemas.microsoft.com/office/drawing/2014/main" id="{1DC5AB56-5DAF-4AAE-C39B-C52F01505927}"/>
              </a:ext>
            </a:extLst>
          </p:cNvPr>
          <p:cNvSpPr/>
          <p:nvPr/>
        </p:nvSpPr>
        <p:spPr>
          <a:xfrm>
            <a:off x="8493874" y="5315030"/>
            <a:ext cx="1549631" cy="286971"/>
          </a:xfrm>
          <a:prstGeom prst="homePlate">
            <a:avLst/>
          </a:prstGeom>
          <a:solidFill>
            <a:srgbClr val="18D6D2">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10/27-11/17</a:t>
            </a:r>
          </a:p>
        </p:txBody>
      </p:sp>
      <p:sp>
        <p:nvSpPr>
          <p:cNvPr id="24" name="Arrow: Pentagon 23">
            <a:extLst>
              <a:ext uri="{FF2B5EF4-FFF2-40B4-BE49-F238E27FC236}">
                <a16:creationId xmlns:a16="http://schemas.microsoft.com/office/drawing/2014/main" id="{4B422239-3C8C-93C5-3CD1-C80C6884E970}"/>
              </a:ext>
            </a:extLst>
          </p:cNvPr>
          <p:cNvSpPr/>
          <p:nvPr/>
        </p:nvSpPr>
        <p:spPr>
          <a:xfrm>
            <a:off x="5965509" y="3169940"/>
            <a:ext cx="1305098" cy="286971"/>
          </a:xfrm>
          <a:prstGeom prst="homePlate">
            <a:avLst/>
          </a:prstGeom>
          <a:solidFill>
            <a:srgbClr val="7FAC3E">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9/16-9/30</a:t>
            </a:r>
          </a:p>
        </p:txBody>
      </p:sp>
      <p:sp>
        <p:nvSpPr>
          <p:cNvPr id="25" name="Arrow: Pentagon 24">
            <a:extLst>
              <a:ext uri="{FF2B5EF4-FFF2-40B4-BE49-F238E27FC236}">
                <a16:creationId xmlns:a16="http://schemas.microsoft.com/office/drawing/2014/main" id="{9916D777-2E94-0278-1812-F39B4D673260}"/>
              </a:ext>
            </a:extLst>
          </p:cNvPr>
          <p:cNvSpPr/>
          <p:nvPr/>
        </p:nvSpPr>
        <p:spPr>
          <a:xfrm>
            <a:off x="5615041" y="2688709"/>
            <a:ext cx="1655566" cy="286971"/>
          </a:xfrm>
          <a:prstGeom prst="homePlate">
            <a:avLst/>
          </a:prstGeom>
          <a:solidFill>
            <a:srgbClr val="7FAC3E">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9/2-9/22</a:t>
            </a:r>
          </a:p>
        </p:txBody>
      </p:sp>
      <p:sp>
        <p:nvSpPr>
          <p:cNvPr id="26" name="Arrow: Pentagon 25">
            <a:extLst>
              <a:ext uri="{FF2B5EF4-FFF2-40B4-BE49-F238E27FC236}">
                <a16:creationId xmlns:a16="http://schemas.microsoft.com/office/drawing/2014/main" id="{063FECDE-6505-966F-502C-727E2280A74B}"/>
              </a:ext>
            </a:extLst>
          </p:cNvPr>
          <p:cNvSpPr/>
          <p:nvPr/>
        </p:nvSpPr>
        <p:spPr>
          <a:xfrm>
            <a:off x="9607137" y="5792527"/>
            <a:ext cx="1349235" cy="286971"/>
          </a:xfrm>
          <a:prstGeom prst="homePlate">
            <a:avLst/>
          </a:prstGeom>
          <a:solidFill>
            <a:srgbClr val="18D6D2">
              <a:alpha val="8823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11/18-12/8</a:t>
            </a:r>
          </a:p>
        </p:txBody>
      </p:sp>
      <p:sp>
        <p:nvSpPr>
          <p:cNvPr id="27" name="Rectangle 26">
            <a:extLst>
              <a:ext uri="{FF2B5EF4-FFF2-40B4-BE49-F238E27FC236}">
                <a16:creationId xmlns:a16="http://schemas.microsoft.com/office/drawing/2014/main" id="{3E0D40BD-9D12-742E-A532-DE6D74BFC6F4}"/>
              </a:ext>
            </a:extLst>
          </p:cNvPr>
          <p:cNvSpPr/>
          <p:nvPr/>
        </p:nvSpPr>
        <p:spPr>
          <a:xfrm>
            <a:off x="7835438" y="4511402"/>
            <a:ext cx="818804" cy="228847"/>
          </a:xfrm>
          <a:prstGeom prst="rect">
            <a:avLst/>
          </a:prstGeom>
          <a:solidFill>
            <a:schemeClr val="accent5">
              <a:lumMod val="40000"/>
              <a:lumOff val="60000"/>
              <a:alpha val="88627"/>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1F20"/>
                </a:solidFill>
                <a:effectLst/>
                <a:uLnTx/>
                <a:uFillTx/>
                <a:latin typeface="Arial"/>
                <a:ea typeface="+mn-ea"/>
                <a:cs typeface="+mn-cs"/>
              </a:rPr>
              <a:t>10/15</a:t>
            </a:r>
          </a:p>
        </p:txBody>
      </p:sp>
      <p:pic>
        <p:nvPicPr>
          <p:cNvPr id="11" name="Audio 10">
            <a:hlinkClick r:id="" action="ppaction://media"/>
            <a:extLst>
              <a:ext uri="{FF2B5EF4-FFF2-40B4-BE49-F238E27FC236}">
                <a16:creationId xmlns:a16="http://schemas.microsoft.com/office/drawing/2014/main" id="{9EAEE443-C382-1639-A58B-BFACF3F2EE03}"/>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247148716"/>
      </p:ext>
    </p:extLst>
  </p:cSld>
  <p:clrMapOvr>
    <a:masterClrMapping/>
  </p:clrMapOvr>
  <mc:AlternateContent xmlns:mc="http://schemas.openxmlformats.org/markup-compatibility/2006" xmlns:p14="http://schemas.microsoft.com/office/powerpoint/2010/main">
    <mc:Choice Requires="p14">
      <p:transition spd="slow" p14:dur="2000" advTm="47346"/>
    </mc:Choice>
    <mc:Fallback xmlns="">
      <p:transition spd="slow" advTm="473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C0916-9210-FC9E-B4C6-94918BA7382D}"/>
              </a:ext>
            </a:extLst>
          </p:cNvPr>
          <p:cNvSpPr>
            <a:spLocks noGrp="1"/>
          </p:cNvSpPr>
          <p:nvPr>
            <p:ph type="title"/>
          </p:nvPr>
        </p:nvSpPr>
        <p:spPr>
          <a:xfrm>
            <a:off x="4298007" y="2827930"/>
            <a:ext cx="3595986" cy="737021"/>
          </a:xfrm>
        </p:spPr>
        <p:txBody>
          <a:bodyPr/>
          <a:lstStyle/>
          <a:p>
            <a:r>
              <a:rPr lang="en-US" dirty="0"/>
              <a:t>Questions?</a:t>
            </a:r>
          </a:p>
        </p:txBody>
      </p:sp>
    </p:spTree>
    <p:extLst>
      <p:ext uri="{BB962C8B-B14F-4D97-AF65-F5344CB8AC3E}">
        <p14:creationId xmlns:p14="http://schemas.microsoft.com/office/powerpoint/2010/main" val="338192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raditional templat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B838B0BDACE684E8D5CB4F9D5344C05" ma:contentTypeVersion="16" ma:contentTypeDescription="Create a new document." ma:contentTypeScope="" ma:versionID="27426b2b1be632eb8ff9dc2d6f8030fa">
  <xsd:schema xmlns:xsd="http://www.w3.org/2001/XMLSchema" xmlns:xs="http://www.w3.org/2001/XMLSchema" xmlns:p="http://schemas.microsoft.com/office/2006/metadata/properties" xmlns:ns2="dbc371e2-35bb-46ae-b0bc-32d7a96b35e6" xmlns:ns3="4baeaec8-4928-4375-bdfb-ddb7c7196353" targetNamespace="http://schemas.microsoft.com/office/2006/metadata/properties" ma:root="true" ma:fieldsID="203d11de48b6ac84434ae1b2f06c12dc" ns2:_="" ns3:_="">
    <xsd:import namespace="dbc371e2-35bb-46ae-b0bc-32d7a96b35e6"/>
    <xsd:import namespace="4baeaec8-4928-4375-bdfb-ddb7c719635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ImageMetadataListItemId" minOccurs="0"/>
                <xsd:element ref="ns2:ImageMetadataListFieldId"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c371e2-35bb-46ae-b0bc-32d7a96b35e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ImageMetadataListItemId" ma:index="16" nillable="true" ma:displayName="ImageMetadataListItemId" ma:hidden="true" ma:internalName="ImageMetadataListItemId">
      <xsd:simpleType>
        <xsd:restriction base="dms:Unknown"/>
      </xsd:simpleType>
    </xsd:element>
    <xsd:element name="ImageMetadataListFieldId" ma:index="17" nillable="true" ma:displayName="ImageMetadataListFieldId" ma:hidden="true" ma:internalName="ImageMetadataListFieldId">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aeaec8-4928-4375-bdfb-ddb7c7196353"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9dbd176f-ba37-4551-ae13-be2f7058f0d8}" ma:internalName="TaxCatchAll" ma:showField="CatchAllData" ma:web="4baeaec8-4928-4375-bdfb-ddb7c71963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baeaec8-4928-4375-bdfb-ddb7c7196353" xsi:nil="true"/>
    <lcf76f155ced4ddcb4097134ff3c332f xmlns="dbc371e2-35bb-46ae-b0bc-32d7a96b35e6">
      <Terms xmlns="http://schemas.microsoft.com/office/infopath/2007/PartnerControls"/>
    </lcf76f155ced4ddcb4097134ff3c332f>
    <ImageMetadataListItemId xmlns="dbc371e2-35bb-46ae-b0bc-32d7a96b35e6" xsi:nil="true"/>
    <ImageMetadataListFieldId xmlns="dbc371e2-35bb-46ae-b0bc-32d7a96b35e6" xsi:nil="true"/>
  </documentManagement>
</p:properties>
</file>

<file path=customXml/itemProps1.xml><?xml version="1.0" encoding="utf-8"?>
<ds:datastoreItem xmlns:ds="http://schemas.openxmlformats.org/officeDocument/2006/customXml" ds:itemID="{50BBE9A7-ECB2-4E9D-8E63-C51238B31F01}">
  <ds:schemaRefs>
    <ds:schemaRef ds:uri="http://schemas.microsoft.com/sharepoint/v3/contenttype/forms"/>
  </ds:schemaRefs>
</ds:datastoreItem>
</file>

<file path=customXml/itemProps2.xml><?xml version="1.0" encoding="utf-8"?>
<ds:datastoreItem xmlns:ds="http://schemas.openxmlformats.org/officeDocument/2006/customXml" ds:itemID="{FFACF114-CA89-4081-AA7E-1A3AA59A6F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c371e2-35bb-46ae-b0bc-32d7a96b35e6"/>
    <ds:schemaRef ds:uri="4baeaec8-4928-4375-bdfb-ddb7c71963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9ED1B4D-FF11-414C-98EA-A0BF2660B2E3}">
  <ds:schemaRefs>
    <ds:schemaRef ds:uri="dbc371e2-35bb-46ae-b0bc-32d7a96b35e6"/>
    <ds:schemaRef ds:uri="http://schemas.openxmlformats.org/package/2006/metadata/core-properties"/>
    <ds:schemaRef ds:uri="http://purl.org/dc/elements/1.1/"/>
    <ds:schemaRef ds:uri="http://www.w3.org/XML/1998/namespace"/>
    <ds:schemaRef ds:uri="http://purl.org/dc/terms/"/>
    <ds:schemaRef ds:uri="http://schemas.microsoft.com/office/infopath/2007/PartnerControls"/>
    <ds:schemaRef ds:uri="4baeaec8-4928-4375-bdfb-ddb7c7196353"/>
    <ds:schemaRef ds:uri="http://schemas.microsoft.com/office/2006/documentManagement/typ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3452</TotalTime>
  <Words>745</Words>
  <Application>Microsoft Office PowerPoint</Application>
  <PresentationFormat>Widescreen</PresentationFormat>
  <Paragraphs>134</Paragraphs>
  <Slides>16</Slides>
  <Notes>0</Notes>
  <HiddenSlides>0</HiddenSlides>
  <MMClips>1</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16</vt:i4>
      </vt:variant>
    </vt:vector>
  </HeadingPairs>
  <TitlesOfParts>
    <vt:vector size="20" baseType="lpstr">
      <vt:lpstr>Arial</vt:lpstr>
      <vt:lpstr>Calibri</vt:lpstr>
      <vt:lpstr>Office Theme</vt:lpstr>
      <vt:lpstr>traditional template NON CUI</vt:lpstr>
      <vt:lpstr>DRAFT Update </vt:lpstr>
      <vt:lpstr>Agenda</vt:lpstr>
      <vt:lpstr>Where we left off…</vt:lpstr>
      <vt:lpstr>CSAT – Corps Shoaling Analysis Tool</vt:lpstr>
      <vt:lpstr>Strategic Engagements</vt:lpstr>
      <vt:lpstr>Developing a workable channel framework</vt:lpstr>
      <vt:lpstr>518 Reaches Clipped</vt:lpstr>
      <vt:lpstr>Examples of CSAT Output</vt:lpstr>
      <vt:lpstr>Long Short-Term Memory Model (LSTM)</vt:lpstr>
      <vt:lpstr>PowerPoint Presentation</vt:lpstr>
      <vt:lpstr>Convolutional Neural Network</vt:lpstr>
      <vt:lpstr>Another way to think about it…</vt:lpstr>
      <vt:lpstr>Putting it all together</vt:lpstr>
      <vt:lpstr>Project Timeline </vt:lpstr>
      <vt:lpstr>Project Plan &amp; Timeline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Reisenbigler, Ildiko CIV USARMY CEIT (USA)</dc:creator>
  <cp:lastModifiedBy>Barrie Chileen</cp:lastModifiedBy>
  <cp:revision>24</cp:revision>
  <dcterms:created xsi:type="dcterms:W3CDTF">2025-01-14T15:11:55Z</dcterms:created>
  <dcterms:modified xsi:type="dcterms:W3CDTF">2025-10-17T04:17:39Z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0x010100CB838B0BDACE684E8D5CB4F9D5344C05</vt:lpwstr>
  </property>
  <property fmtid="{D5CDD505-2E9C-101B-9397-08002B2CF9AE}" pid="3" name="MediaServiceImageTags">
    <vt:lpwstr/>
  </property>
</Properties>
</file>